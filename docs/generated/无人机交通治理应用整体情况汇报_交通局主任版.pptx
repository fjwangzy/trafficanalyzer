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开场只说明本次汇报的工作：介绍当前产品能力、证据边界与生产成熟度，不做预算申请。</a:t>
            </a:r>
          </a:p>
          <a:p>
            <a:endParaRPr/>
          </a:p>
          <a:p>
            <a:r>
              <a:t>[Sources]</a:t>
            </a:r>
          </a:p>
          <a:p>
            <a:r>
              <a:t>- User-approved deck brief, 2026-08-09.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强调无人机不是替代现有固定监测，而是补足机动核实、取证和复测能力。</a:t>
            </a:r>
          </a:p>
          <a:p>
            <a:r>
              <a:t>画面是系统录屏中的无人机覆盖与交通态势，不据此宣称实时生产态势。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00:20.</a:t>
            </a:r>
          </a:p>
          <a:p>
            <a:r>
              <a:t>- docs/ARCHITECTURE.md — dashboard and monitoring read-model boundary.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按从左到右的业务链讲，不展开算法节点。</a:t>
            </a:r>
          </a:p>
          <a:p>
            <a:r>
              <a:t>FlightPlan 是计划，Mission 是一次执行，Pipeline 是分析进程，三者不能混用。</a:t>
            </a:r>
          </a:p>
          <a:p>
            <a:endParaRPr/>
          </a:p>
          <a:p>
            <a:r>
              <a:t>[Sources]</a:t>
            </a:r>
          </a:p>
          <a:p>
            <a:r>
              <a:t>- docs/ARCHITECTURE.md — canonical data path and S9 orchestration.</a:t>
            </a:r>
          </a:p>
          <a:p>
            <a:r>
              <a:t>- docs/API_CONTRACTS.md — canonical uav_* messages and result contracts.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先讲一次核实如何落库，再讲治理后如何按同一口径复测。</a:t>
            </a:r>
          </a:p>
          <a:p>
            <a:r>
              <a:t>系统的典型态势矩阵和固定演示样例不能称为实时无人机数据。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01:20 and 04:20.</a:t>
            </a:r>
          </a:p>
          <a:p>
            <a:r>
              <a:t>- docs/ARCHITECTURE.md — typical situation matrix and Mission replay separation.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 TCC 解释成单纯距离阈值。</a:t>
            </a:r>
          </a:p>
          <a:p>
            <a:r>
              <a:t>默认只讲 path_intersection；same_time_cpa 属于显式扩展，不进入默认业务大盘。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05:30 and 05:40.</a:t>
            </a:r>
          </a:p>
          <a:p>
            <a:r>
              <a:t>- docs/API_CONTRACTS.md — TCC path-intersection and evidence contract.</a:t>
            </a:r>
          </a:p>
          <a:p>
            <a:r>
              <a:t>- docs/BUSINESS_LOGIC.md — ConflictDetectionNode business rule.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主动说明厘米级是数值表达能力，不是已经通过权威测绘验收的精度承诺。</a:t>
            </a:r>
          </a:p>
          <a:p>
            <a:r>
              <a:t>报告目前是技术复核成果，正式误差、签章和归档标准仍需冻结。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06:10 and 06:30.</a:t>
            </a:r>
          </a:p>
          <a:p>
            <a:r>
              <a:t>- docs/API_CONTRACTS.md — survey measurement and report API.</a:t>
            </a:r>
          </a:p>
          <a:p>
            <a:r>
              <a:t>- docs/DATABASE_SCHEMA.md — uav_survey_* and evidence persistence.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这张图来自当前运行中的真实系统，而不是旧设计稿。</a:t>
            </a:r>
          </a:p>
          <a:p>
            <a:r>
              <a:t>重点讲清四层对象和飞控边界，不展开页面操作。</a:t>
            </a:r>
          </a:p>
          <a:p>
            <a:endParaRPr/>
          </a:p>
          <a:p>
            <a:r>
              <a:t>[Sources]</a:t>
            </a:r>
          </a:p>
          <a:p>
            <a:r>
              <a:t>- Current Console2 /drones page, captured 2026-08-09.</a:t>
            </a:r>
          </a:p>
          <a:p>
            <a:r>
              <a:t>- docs/ARCHITECTURE.md — S9 current implementation and flight-control boundary.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解释‘自动匹配 + 人工校核 + 版本发布’三段式流程。</a:t>
            </a:r>
          </a:p>
          <a:p>
            <a:r>
              <a:t>编辑器参数不进入检测、速度、轨迹或 TCC 门禁。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06:50 and 07:15.</a:t>
            </a:r>
          </a:p>
          <a:p>
            <a:r>
              <a:t>- docs/ARCHITECTURE.md — parameterized channelization editor and lane_verified runtime contract.</a:t>
            </a:r>
          </a:p>
          <a:p>
            <a:r>
              <a:t>- docs/API_CONTRACTS.md — channelized-map review and publish gates.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这里只解释实时层、持久化层和回放层的职责，不展开服务拓扑。</a:t>
            </a:r>
          </a:p>
          <a:p>
            <a:r>
              <a:t>历史 REST 快照不能覆盖当前 WebSocket 会话；封存 Mission 不跨任务拼接。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03:20 and 04:30.</a:t>
            </a:r>
          </a:p>
          <a:p>
            <a:r>
              <a:t>- docs/ARCHITECTURE.md — road9/TimescaleDB/Kafka/WebSocket data path.</a:t>
            </a:r>
          </a:p>
          <a:p>
            <a:r>
              <a:t>- docs/API_CONTRACTS.md — live-session and Mission replay separation.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从管理价值收束五类场景，不使用未经验证的降本比例、效率倍数或精度数字。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02:20, 05:50, 06:40 and 07:00.</a:t>
            </a:r>
          </a:p>
          <a:p>
            <a:r>
              <a:t>- Current repository contracts and recorded product evidence.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结尾不提出预算或试点审批，只给出当前结论和三类生产成熟化工作。</a:t>
            </a:r>
          </a:p>
          <a:p>
            <a:r>
              <a:t>强调本地工程闭环不等同于生产验收。</a:t>
            </a:r>
          </a:p>
          <a:p>
            <a:endParaRPr/>
          </a:p>
          <a:p>
            <a:r>
              <a:t>[Sources]</a:t>
            </a:r>
          </a:p>
          <a:p>
            <a:r>
              <a:t>- AGENTS.md and docs/TASKS.md — local-vs-production boundary.</a:t>
            </a:r>
          </a:p>
          <a:p>
            <a:r>
              <a:t>- User-approved deck brief, 2026-08-09.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824798C-A042-83C0-E4E6-5FA0E7B901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05784" y="93992"/>
            <a:ext cx="2986216" cy="48195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2EC8395-406E-A880-3862-10A7F43294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98908" y="6595213"/>
            <a:ext cx="2405449" cy="2504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8D7D1C6-AE2F-40E3-89B6-FFA1F15525C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5240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89F9AE-E921-4DB1-A4EF-15300EC2DADE}"/>
              </a:ext>
            </a:extLst>
          </p:cNvPr>
          <p:cNvSpPr>
            <a:spLocks noGrp="1"/>
          </p:cNvSpPr>
          <p:nvPr/>
        </p:nvSpPr>
        <p:spPr>
          <a:xfrm>
            <a:off x="390525" y="5524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0AD9B2-2E47-4BAE-8F15-C2B2A7F52F95}"/>
              </a:ext>
            </a:extLst>
          </p:cNvPr>
          <p:cNvSpPr>
            <a:spLocks noGrp="1"/>
          </p:cNvSpPr>
          <p:nvPr/>
        </p:nvSpPr>
        <p:spPr>
          <a:xfrm>
            <a:off x="390525" y="2217521"/>
            <a:ext cx="1066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l">
              <a:def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无人机交通治理应用整体情况</a:t>
            </a:r>
            <a:endParaRPr sz="5400" b="1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570DE-0B2A-4FA7-8625-6D1B4628B692}"/>
              </a:ext>
            </a:extLst>
          </p:cNvPr>
          <p:cNvSpPr>
            <a:spLocks noGrp="1"/>
          </p:cNvSpPr>
          <p:nvPr/>
        </p:nvSpPr>
        <p:spPr>
          <a:xfrm>
            <a:off x="390525" y="3541496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态势核实 · 冲突分析 · 道路测绘 · 任务接入 · 路口渠化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3F27CC-A2ED-42DB-875A-864994CFF466}"/>
              </a:ext>
            </a:extLst>
          </p:cNvPr>
          <p:cNvSpPr>
            <a:spLocks noGrp="1"/>
          </p:cNvSpPr>
          <p:nvPr/>
        </p:nvSpPr>
        <p:spPr>
          <a:xfrm>
            <a:off x="10287000" y="563880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907194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797E419-18BE-49F6-8A7D-9B1AB7A3A3E8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无人机补足固定感知的机动核查与治理复测空档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AF7BDD-E922-4D4B-8CF0-836CBEAFA56C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E358DCC3-0725-4A21-A50B-95C76F3F1943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B5A4C2-A46B-4AC5-9CBC-BDE11026314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74A2B0-71AE-44A4-836F-23E8E1E7A621}"/>
              </a:ext>
            </a:extLst>
          </p:cNvPr>
          <p:cNvSpPr>
            <a:spLocks noGrp="1"/>
          </p:cNvSpPr>
          <p:nvPr/>
        </p:nvSpPr>
        <p:spPr>
          <a:xfrm>
            <a:off x="390525" y="2038350"/>
            <a:ext cx="476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固定感知负责常态观察，</a:t>
            </a:r>
          </a:p>
          <a:p>
            <a:pPr algn="l"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无人机负责按需到场。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BEB4C5-18FE-4994-9803-405D39673F47}"/>
              </a:ext>
            </a:extLst>
          </p:cNvPr>
          <p:cNvSpPr>
            <a:spLocks noGrp="1"/>
          </p:cNvSpPr>
          <p:nvPr/>
        </p:nvSpPr>
        <p:spPr>
          <a:xfrm>
            <a:off x="390525" y="3371850"/>
            <a:ext cx="4857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面向问题路口、问题路段和临时交通组织，系统把一次航拍转化为可检索的轨迹、事件、量算和复盘资料。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7E800C-46D5-4C59-8C8E-6F7BCE49AA15}"/>
              </a:ext>
            </a:extLst>
          </p:cNvPr>
          <p:cNvSpPr>
            <a:spLocks noGrp="1"/>
          </p:cNvSpPr>
          <p:nvPr/>
        </p:nvSpPr>
        <p:spPr>
          <a:xfrm>
            <a:off x="390525" y="4895850"/>
            <a:ext cx="4762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按需调度</a:t>
            </a:r>
          </a:p>
          <a:p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连续取证</a:t>
            </a:r>
          </a:p>
          <a:p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同口径复测</a:t>
            </a:r>
          </a:p>
          <a:p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数据沉淀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78F4C3-51D2-4D6E-B597-C7DFAD382E2E}"/>
              </a:ext>
            </a:extLst>
          </p:cNvPr>
          <p:cNvSpPr>
            <a:spLocks noGrp="1"/>
          </p:cNvSpPr>
          <p:nvPr/>
        </p:nvSpPr>
        <p:spPr>
          <a:xfrm>
            <a:off x="6248400" y="1733550"/>
            <a:ext cx="5572125" cy="42862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l="16781" r="16781"/>
          <a:stretch>
            <a:fillRect/>
          </a:stretch>
        </p:blipFill>
        <p:spPr>
          <a:xfrm>
            <a:off x="6267450" y="1752600"/>
            <a:ext cx="5534025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F9EB78A9-E01E-402B-A7B6-B1DB1E34A838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一套平台贯通任务、感知、研判、交付与复盘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16BC9B-AB8B-4BEB-903D-20E45592AADE}"/>
              </a:ext>
            </a:extLst>
          </p:cNvPr>
          <p:cNvSpPr>
            <a:spLocks noGrp="1"/>
          </p:cNvSpPr>
          <p:nvPr/>
        </p:nvSpPr>
        <p:spPr>
          <a:xfrm>
            <a:off x="390525" y="1266825"/>
            <a:ext cx="11401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五类应用共享 Mission、Pipeline、轨迹、证据和路网数据底座。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5F9D1F-BB0F-4436-8D89-6921333655B8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4D86812D-CB3F-4A96-B152-C8D404CF3922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E0DDB4-09FC-4664-99CD-F2BF2CB79FF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8CAE8845-5B7E-46D1-B2FF-11E3D44F6B86}"/>
              </a:ext>
            </a:extLst>
          </p:cNvPr>
          <p:cNvSpPr>
            <a:spLocks noGrp="1"/>
          </p:cNvSpPr>
          <p:nvPr/>
        </p:nvSpPr>
        <p:spPr>
          <a:xfrm>
            <a:off x="2105025" y="3095625"/>
            <a:ext cx="552450" cy="1905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A45C0F51-006F-46AC-8DD7-9AD537D65A7D}"/>
              </a:ext>
            </a:extLst>
          </p:cNvPr>
          <p:cNvSpPr>
            <a:spLocks noGrp="1"/>
          </p:cNvSpPr>
          <p:nvPr/>
        </p:nvSpPr>
        <p:spPr>
          <a:xfrm>
            <a:off x="4371975" y="3095625"/>
            <a:ext cx="552450" cy="1905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FC08AA89-5D35-4059-AF68-F4DB6E8E2EA2}"/>
              </a:ext>
            </a:extLst>
          </p:cNvPr>
          <p:cNvSpPr>
            <a:spLocks noGrp="1"/>
          </p:cNvSpPr>
          <p:nvPr/>
        </p:nvSpPr>
        <p:spPr>
          <a:xfrm>
            <a:off x="6638925" y="3095625"/>
            <a:ext cx="552450" cy="1905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71F8E5A4-A2EB-47F4-BDD4-6A9E204CA7C6}"/>
              </a:ext>
            </a:extLst>
          </p:cNvPr>
          <p:cNvSpPr>
            <a:spLocks noGrp="1"/>
          </p:cNvSpPr>
          <p:nvPr/>
        </p:nvSpPr>
        <p:spPr>
          <a:xfrm>
            <a:off x="8905875" y="3095625"/>
            <a:ext cx="552450" cy="1905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273F3A-50FA-4225-A1CA-F6305B228D0A}"/>
              </a:ext>
            </a:extLst>
          </p:cNvPr>
          <p:cNvSpPr>
            <a:spLocks noGrp="1"/>
          </p:cNvSpPr>
          <p:nvPr/>
        </p:nvSpPr>
        <p:spPr>
          <a:xfrm>
            <a:off x="523875" y="2476500"/>
            <a:ext cx="169545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2F3E73-2F6A-4D4F-A49E-7A5EAD3789FF}"/>
              </a:ext>
            </a:extLst>
          </p:cNvPr>
          <p:cNvSpPr>
            <a:spLocks noGrp="1"/>
          </p:cNvSpPr>
          <p:nvPr/>
        </p:nvSpPr>
        <p:spPr>
          <a:xfrm>
            <a:off x="676275" y="2647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29C99B-DB6C-4CA2-A34A-AD6D752C1668}"/>
              </a:ext>
            </a:extLst>
          </p:cNvPr>
          <p:cNvSpPr>
            <a:spLocks noGrp="1"/>
          </p:cNvSpPr>
          <p:nvPr/>
        </p:nvSpPr>
        <p:spPr>
          <a:xfrm>
            <a:off x="676275" y="300990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任务计划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C57919-5FA8-4928-91F7-4BED85BFCE94}"/>
              </a:ext>
            </a:extLst>
          </p:cNvPr>
          <p:cNvSpPr>
            <a:spLocks noGrp="1"/>
          </p:cNvSpPr>
          <p:nvPr/>
        </p:nvSpPr>
        <p:spPr>
          <a:xfrm>
            <a:off x="676275" y="34766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按路口、路段</a:t>
            </a:r>
          </a:p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编排采集任务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9E855F-5AA4-46E4-9108-07108D2F88AF}"/>
              </a:ext>
            </a:extLst>
          </p:cNvPr>
          <p:cNvSpPr>
            <a:spLocks noGrp="1"/>
          </p:cNvSpPr>
          <p:nvPr/>
        </p:nvSpPr>
        <p:spPr>
          <a:xfrm>
            <a:off x="2790825" y="2476500"/>
            <a:ext cx="169545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1ACC4E-2E41-4E2E-8A14-C9BD41997A80}"/>
              </a:ext>
            </a:extLst>
          </p:cNvPr>
          <p:cNvSpPr>
            <a:spLocks noGrp="1"/>
          </p:cNvSpPr>
          <p:nvPr/>
        </p:nvSpPr>
        <p:spPr>
          <a:xfrm>
            <a:off x="2943225" y="2647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D16E22-692A-4FAF-8BF8-D6F60FF8A7E8}"/>
              </a:ext>
            </a:extLst>
          </p:cNvPr>
          <p:cNvSpPr>
            <a:spLocks noGrp="1"/>
          </p:cNvSpPr>
          <p:nvPr/>
        </p:nvSpPr>
        <p:spPr>
          <a:xfrm>
            <a:off x="2943225" y="300990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视频遥测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0FC090-AD90-49B5-96D3-B8D1D9F2193E}"/>
              </a:ext>
            </a:extLst>
          </p:cNvPr>
          <p:cNvSpPr>
            <a:spLocks noGrp="1"/>
          </p:cNvSpPr>
          <p:nvPr/>
        </p:nvSpPr>
        <p:spPr>
          <a:xfrm>
            <a:off x="2943225" y="34766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接入实时或</a:t>
            </a:r>
          </a:p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可控回放素材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F84D97-FCF8-47DC-A5F6-400200C4E7C2}"/>
              </a:ext>
            </a:extLst>
          </p:cNvPr>
          <p:cNvSpPr>
            <a:spLocks noGrp="1"/>
          </p:cNvSpPr>
          <p:nvPr/>
        </p:nvSpPr>
        <p:spPr>
          <a:xfrm>
            <a:off x="5057775" y="2476500"/>
            <a:ext cx="1695450" cy="1543050"/>
          </a:xfrm>
          <a:prstGeom prst="rect">
            <a:avLst/>
          </a:prstGeom>
          <a:solidFill>
            <a:srgbClr val="EAF4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0B4ACC-5DEB-479A-9CCC-5FE54F4A4DD4}"/>
              </a:ext>
            </a:extLst>
          </p:cNvPr>
          <p:cNvSpPr>
            <a:spLocks noGrp="1"/>
          </p:cNvSpPr>
          <p:nvPr/>
        </p:nvSpPr>
        <p:spPr>
          <a:xfrm>
            <a:off x="5210175" y="2647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7A8463-038A-4BFF-A06C-4DDE80A98E1C}"/>
              </a:ext>
            </a:extLst>
          </p:cNvPr>
          <p:cNvSpPr>
            <a:spLocks noGrp="1"/>
          </p:cNvSpPr>
          <p:nvPr/>
        </p:nvSpPr>
        <p:spPr>
          <a:xfrm>
            <a:off x="5210175" y="300990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识别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B0EC4F-0B22-404A-B807-80D3DF994374}"/>
              </a:ext>
            </a:extLst>
          </p:cNvPr>
          <p:cNvSpPr>
            <a:spLocks noGrp="1"/>
          </p:cNvSpPr>
          <p:nvPr/>
        </p:nvSpPr>
        <p:spPr>
          <a:xfrm>
            <a:off x="5210175" y="34766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目标、轨迹、</a:t>
            </a:r>
          </a:p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冲突与量算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13FF214-4BED-4834-AF24-355584422CED}"/>
              </a:ext>
            </a:extLst>
          </p:cNvPr>
          <p:cNvSpPr>
            <a:spLocks noGrp="1"/>
          </p:cNvSpPr>
          <p:nvPr/>
        </p:nvSpPr>
        <p:spPr>
          <a:xfrm>
            <a:off x="7324725" y="2476500"/>
            <a:ext cx="169545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4969B3-B7D0-405E-9781-98050EDAE2B1}"/>
              </a:ext>
            </a:extLst>
          </p:cNvPr>
          <p:cNvSpPr>
            <a:spLocks noGrp="1"/>
          </p:cNvSpPr>
          <p:nvPr/>
        </p:nvSpPr>
        <p:spPr>
          <a:xfrm>
            <a:off x="7477125" y="2647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14F08E9-6740-45EA-8636-47D4CF7A78FF}"/>
              </a:ext>
            </a:extLst>
          </p:cNvPr>
          <p:cNvSpPr>
            <a:spLocks noGrp="1"/>
          </p:cNvSpPr>
          <p:nvPr/>
        </p:nvSpPr>
        <p:spPr>
          <a:xfrm>
            <a:off x="7477125" y="300990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成果入库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3EAAE8C-E867-4013-9A90-EA5902474B3A}"/>
              </a:ext>
            </a:extLst>
          </p:cNvPr>
          <p:cNvSpPr>
            <a:spLocks noGrp="1"/>
          </p:cNvSpPr>
          <p:nvPr/>
        </p:nvSpPr>
        <p:spPr>
          <a:xfrm>
            <a:off x="7477125" y="34766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轨迹、事件、</a:t>
            </a:r>
          </a:p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报告与路网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B4F536-0C8C-418D-B714-B727F7516907}"/>
              </a:ext>
            </a:extLst>
          </p:cNvPr>
          <p:cNvSpPr>
            <a:spLocks noGrp="1"/>
          </p:cNvSpPr>
          <p:nvPr/>
        </p:nvSpPr>
        <p:spPr>
          <a:xfrm>
            <a:off x="9591675" y="2476500"/>
            <a:ext cx="169545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21377E3-7EF4-4239-8C65-E55CE5753603}"/>
              </a:ext>
            </a:extLst>
          </p:cNvPr>
          <p:cNvSpPr>
            <a:spLocks noGrp="1"/>
          </p:cNvSpPr>
          <p:nvPr/>
        </p:nvSpPr>
        <p:spPr>
          <a:xfrm>
            <a:off x="9744075" y="2647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2FB262-B191-4F04-BC11-F0DE53205AD5}"/>
              </a:ext>
            </a:extLst>
          </p:cNvPr>
          <p:cNvSpPr>
            <a:spLocks noGrp="1"/>
          </p:cNvSpPr>
          <p:nvPr/>
        </p:nvSpPr>
        <p:spPr>
          <a:xfrm>
            <a:off x="9744075" y="300990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历史复盘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48F1BBB-C8DA-44FE-9962-6F3B2C45AE46}"/>
              </a:ext>
            </a:extLst>
          </p:cNvPr>
          <p:cNvSpPr>
            <a:spLocks noGrp="1"/>
          </p:cNvSpPr>
          <p:nvPr/>
        </p:nvSpPr>
        <p:spPr>
          <a:xfrm>
            <a:off x="9744075" y="34766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 Mission</a:t>
            </a:r>
          </a:p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回看治理成效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9915848-8F54-48B3-80AE-7274E535EA0A}"/>
              </a:ext>
            </a:extLst>
          </p:cNvPr>
          <p:cNvSpPr>
            <a:spLocks noGrp="1"/>
          </p:cNvSpPr>
          <p:nvPr/>
        </p:nvSpPr>
        <p:spPr>
          <a:xfrm>
            <a:off x="1295400" y="4953000"/>
            <a:ext cx="960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同一</a:t>
            </a:r>
            <a:r>
              <a:rPr lang="zh-CN" altLang="en-US" sz="2250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</a:t>
            </a:r>
            <a:r>
              <a:rPr sz="2250" b="1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支撑态势治理、TCC、测绘、无人机接入和渠化</a:t>
            </a:r>
            <a:r>
              <a:rPr lang="zh-CN" altLang="en-US" sz="2250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等</a:t>
            </a:r>
            <a:r>
              <a:rPr sz="2250" b="1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</a:t>
            </a:r>
            <a:r>
              <a:rPr sz="2250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1738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81B6204-C42C-4103-BE7F-EDF2F92FBDDB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问题核实与治理复测沿用同一数据口径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B19558-735A-49B1-A470-E300EDDAB323}"/>
              </a:ext>
            </a:extLst>
          </p:cNvPr>
          <p:cNvSpPr>
            <a:spLocks noGrp="1"/>
          </p:cNvSpPr>
          <p:nvPr/>
        </p:nvSpPr>
        <p:spPr>
          <a:xfrm>
            <a:off x="390525" y="1266825"/>
            <a:ext cx="11401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态势治理不是一次看图，而是发现、核实、入库和复测的完整证据链。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25E81C-1A61-44D6-B66E-48ADF0D73F04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567B8136-FFC9-44BB-88AE-A73DC36E8E3C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8B4F82-DD48-4EC7-AE3E-F3BD1A70E61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E1F21D-A445-45D3-8522-52CAE42139F0}"/>
              </a:ext>
            </a:extLst>
          </p:cNvPr>
          <p:cNvSpPr>
            <a:spLocks noGrp="1"/>
          </p:cNvSpPr>
          <p:nvPr/>
        </p:nvSpPr>
        <p:spPr>
          <a:xfrm>
            <a:off x="371475" y="1962150"/>
            <a:ext cx="5572125" cy="2857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52" b="52"/>
          <a:stretch>
            <a:fillRect/>
          </a:stretch>
        </p:blipFill>
        <p:spPr>
          <a:xfrm>
            <a:off x="390525" y="1981200"/>
            <a:ext cx="5534025" cy="28194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C667EB7-F650-42E4-9E5A-9A5E53FB3EDE}"/>
              </a:ext>
            </a:extLst>
          </p:cNvPr>
          <p:cNvSpPr>
            <a:spLocks noGrp="1"/>
          </p:cNvSpPr>
          <p:nvPr/>
        </p:nvSpPr>
        <p:spPr>
          <a:xfrm>
            <a:off x="6238875" y="1962150"/>
            <a:ext cx="5572125" cy="2857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52" b="52"/>
          <a:stretch>
            <a:fillRect/>
          </a:stretch>
        </p:blipFill>
        <p:spPr>
          <a:xfrm>
            <a:off x="6257925" y="1981200"/>
            <a:ext cx="5534025" cy="28194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D936AE0-C1A2-4B5C-9747-A70DAA85586B}"/>
              </a:ext>
            </a:extLst>
          </p:cNvPr>
          <p:cNvSpPr>
            <a:spLocks noGrp="1"/>
          </p:cNvSpPr>
          <p:nvPr/>
        </p:nvSpPr>
        <p:spPr>
          <a:xfrm>
            <a:off x="390525" y="49720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问题路口 / 路段核实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27C713-589B-45EC-86B0-E2F7F40510C6}"/>
              </a:ext>
            </a:extLst>
          </p:cNvPr>
          <p:cNvSpPr>
            <a:spLocks noGrp="1"/>
          </p:cNvSpPr>
          <p:nvPr/>
        </p:nvSpPr>
        <p:spPr>
          <a:xfrm>
            <a:off x="390525" y="5372100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按需调度无人机，保存影像、态势和任务上下文。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ECE58C-126D-441B-A905-18FB74EC5FE7}"/>
              </a:ext>
            </a:extLst>
          </p:cNvPr>
          <p:cNvSpPr>
            <a:spLocks noGrp="1"/>
          </p:cNvSpPr>
          <p:nvPr/>
        </p:nvSpPr>
        <p:spPr>
          <a:xfrm>
            <a:off x="6257925" y="49720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治理后再次调度复测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E6D247-F081-40FE-9251-25152B90A8FB}"/>
              </a:ext>
            </a:extLst>
          </p:cNvPr>
          <p:cNvSpPr>
            <a:spLocks noGrp="1"/>
          </p:cNvSpPr>
          <p:nvPr/>
        </p:nvSpPr>
        <p:spPr>
          <a:xfrm>
            <a:off x="6257925" y="5372100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按封存 Mission 回看轨迹和事件，不把不同任务拼成伪实时。</a:t>
            </a:r>
          </a:p>
        </p:txBody>
      </p:sp>
    </p:spTree>
    <p:extLst>
      <p:ext uri="{BB962C8B-B14F-4D97-AF65-F5344CB8AC3E}">
        <p14:creationId xmlns:p14="http://schemas.microsoft.com/office/powerpoint/2010/main" val="798258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72ECCF4-20BE-4051-B117-1DBA8DEF17DA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自动发现机非冲突，并保留事件与关联轨迹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1472AC-AAD1-4B2A-B476-8B0551CA3B21}"/>
              </a:ext>
            </a:extLst>
          </p:cNvPr>
          <p:cNvSpPr>
            <a:spLocks noGrp="1"/>
          </p:cNvSpPr>
          <p:nvPr/>
        </p:nvSpPr>
        <p:spPr>
          <a:xfrm>
            <a:off x="390525" y="1266825"/>
            <a:ext cx="11401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默认业务口径：未来路径存在交点，且双方在同一时间进入共同冲突区。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0A95BB-919A-4F06-8510-DACAF6931D0D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C44784EE-0821-4B42-99F1-E6A4BFEE1FBC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6647D6-8D0C-4DF7-BAD4-6693B5FFD7C7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60F544-C6FD-450A-A8D6-60283EC40ADA}"/>
              </a:ext>
            </a:extLst>
          </p:cNvPr>
          <p:cNvSpPr>
            <a:spLocks noGrp="1"/>
          </p:cNvSpPr>
          <p:nvPr/>
        </p:nvSpPr>
        <p:spPr>
          <a:xfrm>
            <a:off x="371475" y="1943100"/>
            <a:ext cx="5572125" cy="29337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l="190" r="190"/>
          <a:stretch>
            <a:fillRect/>
          </a:stretch>
        </p:blipFill>
        <p:spPr>
          <a:xfrm>
            <a:off x="390525" y="1962150"/>
            <a:ext cx="5534025" cy="28956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6F0A025-FF95-4E2A-B900-DFDD3811C574}"/>
              </a:ext>
            </a:extLst>
          </p:cNvPr>
          <p:cNvSpPr>
            <a:spLocks noGrp="1"/>
          </p:cNvSpPr>
          <p:nvPr/>
        </p:nvSpPr>
        <p:spPr>
          <a:xfrm>
            <a:off x="6238875" y="1943100"/>
            <a:ext cx="5572125" cy="29337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1213" b="1213"/>
          <a:stretch>
            <a:fillRect/>
          </a:stretch>
        </p:blipFill>
        <p:spPr>
          <a:xfrm>
            <a:off x="6257925" y="1962150"/>
            <a:ext cx="5534025" cy="28956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3F5591F-A189-4111-806F-E112DFB6EF91}"/>
              </a:ext>
            </a:extLst>
          </p:cNvPr>
          <p:cNvSpPr>
            <a:spLocks noGrp="1"/>
          </p:cNvSpPr>
          <p:nvPr/>
        </p:nvSpPr>
        <p:spPr>
          <a:xfrm>
            <a:off x="390525" y="502920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事件自动入库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BCF5FD-65FC-47F7-BCD5-14BF8D0563B5}"/>
              </a:ext>
            </a:extLst>
          </p:cNvPr>
          <p:cNvSpPr>
            <a:spLocks noGrp="1"/>
          </p:cNvSpPr>
          <p:nvPr/>
        </p:nvSpPr>
        <p:spPr>
          <a:xfrm>
            <a:off x="390525" y="542925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记录类型、TTC/PET、任务谱系、质量和证据。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34A03B-7B0E-4C71-ADB6-07E2A7842934}"/>
              </a:ext>
            </a:extLst>
          </p:cNvPr>
          <p:cNvSpPr>
            <a:spLocks noGrp="1"/>
          </p:cNvSpPr>
          <p:nvPr/>
        </p:nvSpPr>
        <p:spPr>
          <a:xfrm>
            <a:off x="6257925" y="502920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影响轨迹可复核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410AC8-5994-4683-B71F-31AE65C62A15}"/>
              </a:ext>
            </a:extLst>
          </p:cNvPr>
          <p:cNvSpPr>
            <a:spLocks noGrp="1"/>
          </p:cNvSpPr>
          <p:nvPr/>
        </p:nvSpPr>
        <p:spPr>
          <a:xfrm>
            <a:off x="6257925" y="542925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保留事件原图、检测图和参与冲突的机动车 / 非机动车轨迹。</a:t>
            </a:r>
          </a:p>
        </p:txBody>
      </p:sp>
    </p:spTree>
    <p:extLst>
      <p:ext uri="{BB962C8B-B14F-4D97-AF65-F5344CB8AC3E}">
        <p14:creationId xmlns:p14="http://schemas.microsoft.com/office/powerpoint/2010/main" val="575071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5C8D5ADC-B71A-45C1-B5C1-D2350C5BD671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航拍关键帧可形成点线面量算和可复核成果包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B40483-57E4-4636-9F79-5896E58B2B55}"/>
              </a:ext>
            </a:extLst>
          </p:cNvPr>
          <p:cNvSpPr>
            <a:spLocks noGrp="1"/>
          </p:cNvSpPr>
          <p:nvPr/>
        </p:nvSpPr>
        <p:spPr>
          <a:xfrm>
            <a:off x="390525" y="1266825"/>
            <a:ext cx="11401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米制世界坐标量算、厘米级数值表达</a:t>
            </a:r>
            <a:r>
              <a:rPr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；</a:t>
            </a:r>
            <a:r>
              <a:rPr lang="zh-CN" altLang="en-US"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支持：施工、事故、排队等交通场景测绘场景</a:t>
            </a:r>
            <a:r>
              <a:rPr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280651-EBF2-478C-9161-9F79BCE4F8F5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9D43A7F5-FCDB-49F2-87E1-08D19E7DA562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19C06F-B3A5-430A-B8DF-AAC31636B35A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74ECE4-A5BE-466B-A635-7AF32A6A3466}"/>
              </a:ext>
            </a:extLst>
          </p:cNvPr>
          <p:cNvSpPr>
            <a:spLocks noGrp="1"/>
          </p:cNvSpPr>
          <p:nvPr/>
        </p:nvSpPr>
        <p:spPr>
          <a:xfrm>
            <a:off x="371475" y="1981200"/>
            <a:ext cx="5572125" cy="2895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470" b="470"/>
          <a:stretch>
            <a:fillRect/>
          </a:stretch>
        </p:blipFill>
        <p:spPr>
          <a:xfrm>
            <a:off x="390525" y="2000250"/>
            <a:ext cx="5534025" cy="28575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7549576-EB56-4304-A1FB-538A8F9275BF}"/>
              </a:ext>
            </a:extLst>
          </p:cNvPr>
          <p:cNvSpPr>
            <a:spLocks noGrp="1"/>
          </p:cNvSpPr>
          <p:nvPr/>
        </p:nvSpPr>
        <p:spPr>
          <a:xfrm>
            <a:off x="6238875" y="1981200"/>
            <a:ext cx="5572125" cy="2895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470" b="470"/>
          <a:stretch>
            <a:fillRect/>
          </a:stretch>
        </p:blipFill>
        <p:spPr>
          <a:xfrm>
            <a:off x="6257925" y="2000250"/>
            <a:ext cx="5534025" cy="2857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0C6EE73-0A8B-4919-A4DF-F3D2E5424D25}"/>
              </a:ext>
            </a:extLst>
          </p:cNvPr>
          <p:cNvSpPr>
            <a:spLocks noGrp="1"/>
          </p:cNvSpPr>
          <p:nvPr/>
        </p:nvSpPr>
        <p:spPr>
          <a:xfrm>
            <a:off x="390525" y="50482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点、线、折线与面积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6015D3-722C-4AB9-9BF5-066B7F322B09}"/>
              </a:ext>
            </a:extLst>
          </p:cNvPr>
          <p:cNvSpPr>
            <a:spLocks noGrp="1"/>
          </p:cNvSpPr>
          <p:nvPr/>
        </p:nvSpPr>
        <p:spPr>
          <a:xfrm>
            <a:off x="390525" y="5448300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绘制过程中实时显示边长和面积，服务端保存 ENU 米制几何。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DDDD77-7FA6-44C3-8344-DC78DA6B0D68}"/>
              </a:ext>
            </a:extLst>
          </p:cNvPr>
          <p:cNvSpPr>
            <a:spLocks noGrp="1"/>
          </p:cNvSpPr>
          <p:nvPr/>
        </p:nvSpPr>
        <p:spPr>
          <a:xfrm>
            <a:off x="6257925" y="50482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可追溯成果包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0FB0A0-A1F1-4D7A-97CE-881AE81C8F81}"/>
              </a:ext>
            </a:extLst>
          </p:cNvPr>
          <p:cNvSpPr>
            <a:spLocks noGrp="1"/>
          </p:cNvSpPr>
          <p:nvPr/>
        </p:nvSpPr>
        <p:spPr>
          <a:xfrm>
            <a:off x="6257925" y="5448300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输出标注 JPEG、PDF、JSON 和 GeoJSON，并保留内容哈希。</a:t>
            </a:r>
          </a:p>
        </p:txBody>
      </p:sp>
    </p:spTree>
    <p:extLst>
      <p:ext uri="{BB962C8B-B14F-4D97-AF65-F5344CB8AC3E}">
        <p14:creationId xmlns:p14="http://schemas.microsoft.com/office/powerpoint/2010/main" val="1781285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942A7B13-6823-495A-ADA0-E55AF535BA48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无人机接入统一管理设备、数据源、计划与执行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6936C2-01EC-4D79-86F1-D9E21DC0C0C3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9C7BAB38-BB1F-4B4D-A8D7-5B32436E4E77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2927AD-547E-4D3B-A6D3-957C8DF1DED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3946D7-1611-4D59-AC45-17858C06DA4B}"/>
              </a:ext>
            </a:extLst>
          </p:cNvPr>
          <p:cNvSpPr>
            <a:spLocks noGrp="1"/>
          </p:cNvSpPr>
          <p:nvPr/>
        </p:nvSpPr>
        <p:spPr>
          <a:xfrm>
            <a:off x="390525" y="1924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四层对象，各负其责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91EAE0-C641-4002-A42E-A3E490B86668}"/>
              </a:ext>
            </a:extLst>
          </p:cNvPr>
          <p:cNvSpPr>
            <a:spLocks noGrp="1"/>
          </p:cNvSpPr>
          <p:nvPr/>
        </p:nvSpPr>
        <p:spPr>
          <a:xfrm>
            <a:off x="390525" y="2609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Drone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187464-0202-4970-973F-09BEBBEB4A5A}"/>
              </a:ext>
            </a:extLst>
          </p:cNvPr>
          <p:cNvSpPr>
            <a:spLocks noGrp="1"/>
          </p:cNvSpPr>
          <p:nvPr/>
        </p:nvSpPr>
        <p:spPr>
          <a:xfrm>
            <a:off x="2524125" y="2628900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设备档案与遥测状态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34850CD9-F312-48F3-AE29-CD8803FE7DDD}"/>
              </a:ext>
            </a:extLst>
          </p:cNvPr>
          <p:cNvSpPr>
            <a:spLocks noGrp="1"/>
          </p:cNvSpPr>
          <p:nvPr/>
        </p:nvSpPr>
        <p:spPr>
          <a:xfrm>
            <a:off x="390525" y="3057525"/>
            <a:ext cx="49720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52F954-6FBB-4080-A23A-9559AAA184E7}"/>
              </a:ext>
            </a:extLst>
          </p:cNvPr>
          <p:cNvSpPr>
            <a:spLocks noGrp="1"/>
          </p:cNvSpPr>
          <p:nvPr/>
        </p:nvSpPr>
        <p:spPr>
          <a:xfrm>
            <a:off x="390525" y="326707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SourceProfile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002D21-5A3A-43C2-8EF5-8A282D147B72}"/>
              </a:ext>
            </a:extLst>
          </p:cNvPr>
          <p:cNvSpPr>
            <a:spLocks noGrp="1"/>
          </p:cNvSpPr>
          <p:nvPr/>
        </p:nvSpPr>
        <p:spPr>
          <a:xfrm>
            <a:off x="2524125" y="3286125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视频与遥测源配对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E0A6F96C-3700-4967-A7F9-D45F018420D0}"/>
              </a:ext>
            </a:extLst>
          </p:cNvPr>
          <p:cNvSpPr>
            <a:spLocks noGrp="1"/>
          </p:cNvSpPr>
          <p:nvPr/>
        </p:nvSpPr>
        <p:spPr>
          <a:xfrm>
            <a:off x="390525" y="3714750"/>
            <a:ext cx="49720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1A0620-A047-4F3B-B286-109DCDC72A84}"/>
              </a:ext>
            </a:extLst>
          </p:cNvPr>
          <p:cNvSpPr>
            <a:spLocks noGrp="1"/>
          </p:cNvSpPr>
          <p:nvPr/>
        </p:nvSpPr>
        <p:spPr>
          <a:xfrm>
            <a:off x="390525" y="39243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FlightPlan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C95E88-E1A1-4D1F-8434-1534A2552E1B}"/>
              </a:ext>
            </a:extLst>
          </p:cNvPr>
          <p:cNvSpPr>
            <a:spLocks noGrp="1"/>
          </p:cNvSpPr>
          <p:nvPr/>
        </p:nvSpPr>
        <p:spPr>
          <a:xfrm>
            <a:off x="2524125" y="3943350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单次 / 周期排期定义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A7693B18-4223-423E-8775-8F9085DBAE47}"/>
              </a:ext>
            </a:extLst>
          </p:cNvPr>
          <p:cNvSpPr>
            <a:spLocks noGrp="1"/>
          </p:cNvSpPr>
          <p:nvPr/>
        </p:nvSpPr>
        <p:spPr>
          <a:xfrm>
            <a:off x="390525" y="4371975"/>
            <a:ext cx="49720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137A1E-CDB6-477D-BD26-A62D6A382446}"/>
              </a:ext>
            </a:extLst>
          </p:cNvPr>
          <p:cNvSpPr>
            <a:spLocks noGrp="1"/>
          </p:cNvSpPr>
          <p:nvPr/>
        </p:nvSpPr>
        <p:spPr>
          <a:xfrm>
            <a:off x="390525" y="45815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Mission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C9B4B9-3640-4755-B10A-D7A2508801EB}"/>
              </a:ext>
            </a:extLst>
          </p:cNvPr>
          <p:cNvSpPr>
            <a:spLocks noGrp="1"/>
          </p:cNvSpPr>
          <p:nvPr/>
        </p:nvSpPr>
        <p:spPr>
          <a:xfrm>
            <a:off x="2524125" y="4600575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一次实际执行及审计记录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0E5FF663-2DB0-4980-AA5C-8573506EBED6}"/>
              </a:ext>
            </a:extLst>
          </p:cNvPr>
          <p:cNvSpPr>
            <a:spLocks noGrp="1"/>
          </p:cNvSpPr>
          <p:nvPr/>
        </p:nvSpPr>
        <p:spPr>
          <a:xfrm>
            <a:off x="390525" y="5029200"/>
            <a:ext cx="49720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83EE5C-5AA8-41C9-9657-2EC8FCA839AE}"/>
              </a:ext>
            </a:extLst>
          </p:cNvPr>
          <p:cNvSpPr>
            <a:spLocks noGrp="1"/>
          </p:cNvSpPr>
          <p:nvPr/>
        </p:nvSpPr>
        <p:spPr>
          <a:xfrm>
            <a:off x="390525" y="5505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当前边界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75A75E-F7F8-4773-9D66-7948339D4BE3}"/>
              </a:ext>
            </a:extLst>
          </p:cNvPr>
          <p:cNvSpPr>
            <a:spLocks noGrp="1"/>
          </p:cNvSpPr>
          <p:nvPr/>
        </p:nvSpPr>
        <p:spPr>
          <a:xfrm>
            <a:off x="390525" y="5867400"/>
            <a:ext cx="504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计划触发 AI 分析 Pipeline，不下发航点、起降、返航或云台飞控指令。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4C93E3-F215-4711-A581-C1F78293A75E}"/>
              </a:ext>
            </a:extLst>
          </p:cNvPr>
          <p:cNvSpPr>
            <a:spLocks noGrp="1"/>
          </p:cNvSpPr>
          <p:nvPr/>
        </p:nvSpPr>
        <p:spPr>
          <a:xfrm>
            <a:off x="5676900" y="2019300"/>
            <a:ext cx="6134100" cy="3600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rcRect l="53" r="53"/>
          <a:stretch>
            <a:fillRect/>
          </a:stretch>
        </p:blipFill>
        <p:spPr>
          <a:xfrm>
            <a:off x="5695950" y="2038350"/>
            <a:ext cx="60960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0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FECC334-7750-4F45-A491-8A677F5F0F99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正拍影像与计算路网拟合，校核后正式发布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21AF22-6483-463A-8958-0E6BEA5534EC}"/>
              </a:ext>
            </a:extLst>
          </p:cNvPr>
          <p:cNvSpPr>
            <a:spLocks noGrp="1"/>
          </p:cNvSpPr>
          <p:nvPr/>
        </p:nvSpPr>
        <p:spPr>
          <a:xfrm>
            <a:off x="390525" y="1266825"/>
            <a:ext cx="11401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路网不是视觉装饰，而是可计算、可追溯、可版本化的正式运行输入。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093000-A1F3-4BE8-8D90-5B63E3AE36D2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C583A97A-224A-4278-8748-20C1A72F00C3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CB1350-A6D3-42B8-B99D-722E9023887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0A641-326E-4364-84E1-52BA56743B2A}"/>
              </a:ext>
            </a:extLst>
          </p:cNvPr>
          <p:cNvSpPr>
            <a:spLocks noGrp="1"/>
          </p:cNvSpPr>
          <p:nvPr/>
        </p:nvSpPr>
        <p:spPr>
          <a:xfrm>
            <a:off x="371475" y="1981200"/>
            <a:ext cx="5572125" cy="2895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470" b="470"/>
          <a:stretch>
            <a:fillRect/>
          </a:stretch>
        </p:blipFill>
        <p:spPr>
          <a:xfrm>
            <a:off x="390525" y="2000250"/>
            <a:ext cx="5534025" cy="28575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565DE42-5D20-4C1F-902F-C21670B2B362}"/>
              </a:ext>
            </a:extLst>
          </p:cNvPr>
          <p:cNvSpPr>
            <a:spLocks noGrp="1"/>
          </p:cNvSpPr>
          <p:nvPr/>
        </p:nvSpPr>
        <p:spPr>
          <a:xfrm>
            <a:off x="6238875" y="1981200"/>
            <a:ext cx="5572125" cy="2895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470" b="470"/>
          <a:stretch>
            <a:fillRect/>
          </a:stretch>
        </p:blipFill>
        <p:spPr>
          <a:xfrm>
            <a:off x="6257925" y="2000250"/>
            <a:ext cx="5534025" cy="2857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662C3FD-0370-4766-94AA-FA71BC8A98DD}"/>
              </a:ext>
            </a:extLst>
          </p:cNvPr>
          <p:cNvSpPr>
            <a:spLocks noGrp="1"/>
          </p:cNvSpPr>
          <p:nvPr/>
        </p:nvSpPr>
        <p:spPr>
          <a:xfrm>
            <a:off x="390525" y="50482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可计算路网版本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1DBD74-F758-4C8D-BF91-B329B6A09BEC}"/>
              </a:ext>
            </a:extLst>
          </p:cNvPr>
          <p:cNvSpPr>
            <a:spLocks noGrp="1"/>
          </p:cNvSpPr>
          <p:nvPr/>
        </p:nvSpPr>
        <p:spPr>
          <a:xfrm>
            <a:off x="390525" y="5448300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Lane、Link 和渠化要素进入统一坐标链，并按版本发布。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F9E1EF-1C82-4DCA-A3DA-B3F2C87DB5AB}"/>
              </a:ext>
            </a:extLst>
          </p:cNvPr>
          <p:cNvSpPr>
            <a:spLocks noGrp="1"/>
          </p:cNvSpPr>
          <p:nvPr/>
        </p:nvSpPr>
        <p:spPr>
          <a:xfrm>
            <a:off x="6257925" y="50482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影像复核与微调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9C4F736-504C-49D1-BFD7-18EBE26D48F5}"/>
              </a:ext>
            </a:extLst>
          </p:cNvPr>
          <p:cNvSpPr>
            <a:spLocks noGrp="1"/>
          </p:cNvSpPr>
          <p:nvPr/>
        </p:nvSpPr>
        <p:spPr>
          <a:xfrm>
            <a:off x="6257925" y="5448300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车道、停止线、人行横道、待转区和渠化岛均可校核。</a:t>
            </a:r>
          </a:p>
        </p:txBody>
      </p:sp>
    </p:spTree>
    <p:extLst>
      <p:ext uri="{BB962C8B-B14F-4D97-AF65-F5344CB8AC3E}">
        <p14:creationId xmlns:p14="http://schemas.microsoft.com/office/powerpoint/2010/main" val="102695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3B4F203-ED93-46DA-A213-10E75A2C45CC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实时监测与封存回放分层，共享同一事实链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0BE1BB-182A-4629-B98F-7311167DF2F4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8FF2E3E2-B981-4EE2-BD85-2C906CADE0F7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AF300D-843F-43FA-84CA-B4E03492F42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7D44AC-4ACE-4078-9B0A-2CFA318388C0}"/>
              </a:ext>
            </a:extLst>
          </p:cNvPr>
          <p:cNvSpPr>
            <a:spLocks noGrp="1"/>
          </p:cNvSpPr>
          <p:nvPr/>
        </p:nvSpPr>
        <p:spPr>
          <a:xfrm>
            <a:off x="371475" y="1771650"/>
            <a:ext cx="6896100" cy="38671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l="3321" r="3321"/>
          <a:stretch>
            <a:fillRect/>
          </a:stretch>
        </p:blipFill>
        <p:spPr>
          <a:xfrm>
            <a:off x="390525" y="1790700"/>
            <a:ext cx="6858000" cy="3829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348342C-DA94-4171-BA78-36E6894A2A8C}"/>
              </a:ext>
            </a:extLst>
          </p:cNvPr>
          <p:cNvSpPr>
            <a:spLocks noGrp="1"/>
          </p:cNvSpPr>
          <p:nvPr/>
        </p:nvSpPr>
        <p:spPr>
          <a:xfrm>
            <a:off x="7448550" y="1771650"/>
            <a:ext cx="4362450" cy="2076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rcRect t="4785" b="4785"/>
          <a:stretch>
            <a:fillRect/>
          </a:stretch>
        </p:blipFill>
        <p:spPr>
          <a:xfrm>
            <a:off x="7467600" y="1790700"/>
            <a:ext cx="4324350" cy="20383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8501717-6354-474A-883D-A9C761990730}"/>
              </a:ext>
            </a:extLst>
          </p:cNvPr>
          <p:cNvSpPr>
            <a:spLocks noGrp="1"/>
          </p:cNvSpPr>
          <p:nvPr/>
        </p:nvSpPr>
        <p:spPr>
          <a:xfrm>
            <a:off x="7467600" y="40957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实时监测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614B2B-EB76-46E2-AE66-01824EBF03CA}"/>
              </a:ext>
            </a:extLst>
          </p:cNvPr>
          <p:cNvSpPr>
            <a:spLocks noGrp="1"/>
          </p:cNvSpPr>
          <p:nvPr/>
        </p:nvSpPr>
        <p:spPr>
          <a:xfrm>
            <a:off x="9001125" y="4095750"/>
            <a:ext cx="2790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当前 Pipeline 的 WebSocket 会话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E4C2D7-D95A-4D61-9C81-BC019BA99A9F}"/>
              </a:ext>
            </a:extLst>
          </p:cNvPr>
          <p:cNvSpPr>
            <a:spLocks noGrp="1"/>
          </p:cNvSpPr>
          <p:nvPr/>
        </p:nvSpPr>
        <p:spPr>
          <a:xfrm>
            <a:off x="7467600" y="45910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轨迹入库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DCFF2B-158C-4443-98D4-2AD057AD9D2E}"/>
              </a:ext>
            </a:extLst>
          </p:cNvPr>
          <p:cNvSpPr>
            <a:spLocks noGrp="1"/>
          </p:cNvSpPr>
          <p:nvPr/>
        </p:nvSpPr>
        <p:spPr>
          <a:xfrm>
            <a:off x="9001125" y="4591050"/>
            <a:ext cx="2790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像素点与可空世界坐标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DA4BF3F-AD40-4C02-A9A1-8B429158AD26}"/>
              </a:ext>
            </a:extLst>
          </p:cNvPr>
          <p:cNvSpPr>
            <a:spLocks noGrp="1"/>
          </p:cNvSpPr>
          <p:nvPr/>
        </p:nvSpPr>
        <p:spPr>
          <a:xfrm>
            <a:off x="7467600" y="50863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事件证据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B9502D-1270-407D-9CA2-EFC74409CFBB}"/>
              </a:ext>
            </a:extLst>
          </p:cNvPr>
          <p:cNvSpPr>
            <a:spLocks noGrp="1"/>
          </p:cNvSpPr>
          <p:nvPr/>
        </p:nvSpPr>
        <p:spPr>
          <a:xfrm>
            <a:off x="9001125" y="5086350"/>
            <a:ext cx="2790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原图、检测图与任务谱系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6A7F72-C787-498A-9321-1857BD9864AB}"/>
              </a:ext>
            </a:extLst>
          </p:cNvPr>
          <p:cNvSpPr>
            <a:spLocks noGrp="1"/>
          </p:cNvSpPr>
          <p:nvPr/>
        </p:nvSpPr>
        <p:spPr>
          <a:xfrm>
            <a:off x="7467600" y="55816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Mission 回放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05ED81-4A28-4776-8139-D66B05F85B84}"/>
              </a:ext>
            </a:extLst>
          </p:cNvPr>
          <p:cNvSpPr>
            <a:spLocks noGrp="1"/>
          </p:cNvSpPr>
          <p:nvPr/>
        </p:nvSpPr>
        <p:spPr>
          <a:xfrm>
            <a:off x="9001125" y="5581650"/>
            <a:ext cx="2790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按统一 T+ 时钟回放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39335E-38F2-465B-94F5-956C82C9B41C}"/>
              </a:ext>
            </a:extLst>
          </p:cNvPr>
          <p:cNvSpPr>
            <a:spLocks noGrp="1"/>
          </p:cNvSpPr>
          <p:nvPr/>
        </p:nvSpPr>
        <p:spPr>
          <a:xfrm>
            <a:off x="390525" y="58293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PostgreSQL + </a:t>
            </a:r>
            <a:r>
              <a:rPr sz="1650" b="0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TimescaleDB</a:t>
            </a:r>
            <a:r>
              <a:rPr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 · Kafka </a:t>
            </a:r>
            <a:r>
              <a:rPr sz="1650" b="0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uav</a:t>
            </a:r>
            <a:r>
              <a:rPr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_* · WebSocket</a:t>
            </a:r>
          </a:p>
        </p:txBody>
      </p:sp>
    </p:spTree>
    <p:extLst>
      <p:ext uri="{BB962C8B-B14F-4D97-AF65-F5344CB8AC3E}">
        <p14:creationId xmlns:p14="http://schemas.microsoft.com/office/powerpoint/2010/main" val="1715484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0B183AD-7FEA-4E5D-8E1A-8DB64DD5C38D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无人机把一次航拍转化为可持续使用的治理资产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2BFBEF-BDDE-470C-AA93-BDB9017F8D02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72004D3F-1FCF-47CE-81AF-9DEE387D77B0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6C6B82-4D64-476F-9A5E-59F44B9E71F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05F73D-2788-4615-818D-B56BBDA64A85}"/>
              </a:ext>
            </a:extLst>
          </p:cNvPr>
          <p:cNvSpPr>
            <a:spLocks noGrp="1"/>
          </p:cNvSpPr>
          <p:nvPr/>
        </p:nvSpPr>
        <p:spPr>
          <a:xfrm>
            <a:off x="371475" y="1790700"/>
            <a:ext cx="2667000" cy="1657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l="8600" r="8600"/>
          <a:stretch>
            <a:fillRect/>
          </a:stretch>
        </p:blipFill>
        <p:spPr>
          <a:xfrm>
            <a:off x="390525" y="1809750"/>
            <a:ext cx="2628900" cy="16192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3495CA0-5DF6-4A6D-9681-4C2CDBEEFDDD}"/>
              </a:ext>
            </a:extLst>
          </p:cNvPr>
          <p:cNvSpPr>
            <a:spLocks noGrp="1"/>
          </p:cNvSpPr>
          <p:nvPr/>
        </p:nvSpPr>
        <p:spPr>
          <a:xfrm>
            <a:off x="390525" y="373380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问题核实更快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397796-9650-4C10-9A31-01EB684B6C64}"/>
              </a:ext>
            </a:extLst>
          </p:cNvPr>
          <p:cNvSpPr>
            <a:spLocks noGrp="1"/>
          </p:cNvSpPr>
          <p:nvPr/>
        </p:nvSpPr>
        <p:spPr>
          <a:xfrm>
            <a:off x="390525" y="4276725"/>
            <a:ext cx="2628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按需覆盖问题点位，减少多轮现场往返。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AD534D5D-7C33-4281-9DF2-246894D63C03}"/>
              </a:ext>
            </a:extLst>
          </p:cNvPr>
          <p:cNvSpPr>
            <a:spLocks noGrp="1"/>
          </p:cNvSpPr>
          <p:nvPr/>
        </p:nvSpPr>
        <p:spPr>
          <a:xfrm>
            <a:off x="3152775" y="3733800"/>
            <a:ext cx="95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8268CD-960E-43F9-A1CA-9B1B0F58CC58}"/>
              </a:ext>
            </a:extLst>
          </p:cNvPr>
          <p:cNvSpPr>
            <a:spLocks noGrp="1"/>
          </p:cNvSpPr>
          <p:nvPr/>
        </p:nvSpPr>
        <p:spPr>
          <a:xfrm>
            <a:off x="3295650" y="1790700"/>
            <a:ext cx="2667000" cy="1657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rcRect l="6469" r="6469"/>
          <a:stretch>
            <a:fillRect/>
          </a:stretch>
        </p:blipFill>
        <p:spPr>
          <a:xfrm>
            <a:off x="3314700" y="1809750"/>
            <a:ext cx="2628900" cy="16192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A6BCEFB-4F2E-4EE5-A9E2-A4C3B70BA5B4}"/>
              </a:ext>
            </a:extLst>
          </p:cNvPr>
          <p:cNvSpPr>
            <a:spLocks noGrp="1"/>
          </p:cNvSpPr>
          <p:nvPr/>
        </p:nvSpPr>
        <p:spPr>
          <a:xfrm>
            <a:off x="3314700" y="373380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风险证据更全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91F3BC-9ED9-46CA-A937-3B90F078C3F7}"/>
              </a:ext>
            </a:extLst>
          </p:cNvPr>
          <p:cNvSpPr>
            <a:spLocks noGrp="1"/>
          </p:cNvSpPr>
          <p:nvPr/>
        </p:nvSpPr>
        <p:spPr>
          <a:xfrm>
            <a:off x="3314700" y="4276725"/>
            <a:ext cx="2628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影像、轨迹、事件和任务谱系共同留档。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FD1A1189-82AB-4D6B-91ED-1FD948CAAE69}"/>
              </a:ext>
            </a:extLst>
          </p:cNvPr>
          <p:cNvSpPr>
            <a:spLocks noGrp="1"/>
          </p:cNvSpPr>
          <p:nvPr/>
        </p:nvSpPr>
        <p:spPr>
          <a:xfrm>
            <a:off x="6076950" y="3733800"/>
            <a:ext cx="95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A0384C-B951-4B58-B283-B6E84CEEEBF5}"/>
              </a:ext>
            </a:extLst>
          </p:cNvPr>
          <p:cNvSpPr>
            <a:spLocks noGrp="1"/>
          </p:cNvSpPr>
          <p:nvPr/>
        </p:nvSpPr>
        <p:spPr>
          <a:xfrm>
            <a:off x="6219825" y="1790700"/>
            <a:ext cx="2667000" cy="1657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5"/>
          <a:srcRect l="7687" r="7687"/>
          <a:stretch>
            <a:fillRect/>
          </a:stretch>
        </p:blipFill>
        <p:spPr>
          <a:xfrm>
            <a:off x="6238875" y="1809750"/>
            <a:ext cx="2628900" cy="161925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3D7DD244-38D2-46EB-8735-130D3AD063D2}"/>
              </a:ext>
            </a:extLst>
          </p:cNvPr>
          <p:cNvSpPr>
            <a:spLocks noGrp="1"/>
          </p:cNvSpPr>
          <p:nvPr/>
        </p:nvSpPr>
        <p:spPr>
          <a:xfrm>
            <a:off x="6238875" y="373380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治理前后可复盘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54BB61-99C1-4CF0-89C2-8B750D366042}"/>
              </a:ext>
            </a:extLst>
          </p:cNvPr>
          <p:cNvSpPr>
            <a:spLocks noGrp="1"/>
          </p:cNvSpPr>
          <p:nvPr/>
        </p:nvSpPr>
        <p:spPr>
          <a:xfrm>
            <a:off x="6238875" y="4276725"/>
            <a:ext cx="2628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再次调度后按同一口径查看变化。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2DD526D7-4234-4319-BD55-5D0CE2B30F4E}"/>
              </a:ext>
            </a:extLst>
          </p:cNvPr>
          <p:cNvSpPr>
            <a:spLocks noGrp="1"/>
          </p:cNvSpPr>
          <p:nvPr/>
        </p:nvSpPr>
        <p:spPr>
          <a:xfrm>
            <a:off x="9001125" y="3733800"/>
            <a:ext cx="95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88A633-7EA9-43FC-9F4F-647437C9B082}"/>
              </a:ext>
            </a:extLst>
          </p:cNvPr>
          <p:cNvSpPr>
            <a:spLocks noGrp="1"/>
          </p:cNvSpPr>
          <p:nvPr/>
        </p:nvSpPr>
        <p:spPr>
          <a:xfrm>
            <a:off x="9144000" y="1790700"/>
            <a:ext cx="2667000" cy="1657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6"/>
          <a:srcRect l="7687" r="7687"/>
          <a:stretch>
            <a:fillRect/>
          </a:stretch>
        </p:blipFill>
        <p:spPr>
          <a:xfrm>
            <a:off x="9163050" y="1809750"/>
            <a:ext cx="2628900" cy="161925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6CC99DC-8914-495E-A9E2-CD724B9CB9AD}"/>
              </a:ext>
            </a:extLst>
          </p:cNvPr>
          <p:cNvSpPr>
            <a:spLocks noGrp="1"/>
          </p:cNvSpPr>
          <p:nvPr/>
        </p:nvSpPr>
        <p:spPr>
          <a:xfrm>
            <a:off x="9163050" y="373380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数据资产可沉淀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AF5E7BF-8353-4C83-B12A-F549E641BA9E}"/>
              </a:ext>
            </a:extLst>
          </p:cNvPr>
          <p:cNvSpPr>
            <a:spLocks noGrp="1"/>
          </p:cNvSpPr>
          <p:nvPr/>
        </p:nvSpPr>
        <p:spPr>
          <a:xfrm>
            <a:off x="9163050" y="4276725"/>
            <a:ext cx="2628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轨迹、测绘成果和路网版本持续积累。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AAAC110-FDE1-4726-BE8F-F53F8511A637}"/>
              </a:ext>
            </a:extLst>
          </p:cNvPr>
          <p:cNvSpPr>
            <a:spLocks noGrp="1"/>
          </p:cNvSpPr>
          <p:nvPr/>
        </p:nvSpPr>
        <p:spPr>
          <a:xfrm>
            <a:off x="1666875" y="56388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价值来自可核实、可复核、可追溯，不来自未经验证的成本或效率倍数</a:t>
            </a:r>
            <a:r>
              <a:rPr sz="1800" b="1" dirty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14947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8531CCF-82EE-413C-9975-9FCC1A611391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5240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E0FF99-A6CF-4354-AF6D-663217AB4703}"/>
              </a:ext>
            </a:extLst>
          </p:cNvPr>
          <p:cNvSpPr>
            <a:spLocks noGrp="1"/>
          </p:cNvSpPr>
          <p:nvPr/>
        </p:nvSpPr>
        <p:spPr>
          <a:xfrm>
            <a:off x="267472" y="1905000"/>
            <a:ext cx="952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 dirty="0" err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下一阶段重点是生产</a:t>
            </a:r>
            <a:r>
              <a:rPr lang="zh-CN" altLang="en-US" sz="4050" b="1" dirty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对接</a:t>
            </a:r>
            <a:endParaRPr sz="4050" b="1" dirty="0">
              <a:solidFill>
                <a:srgbClr val="3D8D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9D5A6D4B-A0A3-4BFE-A1D1-F600E3FD2B68}"/>
              </a:ext>
            </a:extLst>
          </p:cNvPr>
          <p:cNvSpPr>
            <a:spLocks noGrp="1"/>
          </p:cNvSpPr>
          <p:nvPr/>
        </p:nvSpPr>
        <p:spPr>
          <a:xfrm>
            <a:off x="390525" y="4286250"/>
            <a:ext cx="342900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0A24E5-4EA4-4357-BFDF-26EB53152D9D}"/>
              </a:ext>
            </a:extLst>
          </p:cNvPr>
          <p:cNvSpPr>
            <a:spLocks noGrp="1"/>
          </p:cNvSpPr>
          <p:nvPr/>
        </p:nvSpPr>
        <p:spPr>
          <a:xfrm>
            <a:off x="390525" y="44767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025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交通无人机平台对接</a:t>
            </a:r>
            <a:endParaRPr sz="2025" b="1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5197D5-BFC6-4DA2-973F-D62F20282362}"/>
              </a:ext>
            </a:extLst>
          </p:cNvPr>
          <p:cNvSpPr>
            <a:spLocks noGrp="1"/>
          </p:cNvSpPr>
          <p:nvPr/>
        </p:nvSpPr>
        <p:spPr>
          <a:xfrm>
            <a:off x="390525" y="4953000"/>
            <a:ext cx="342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飞控平台与主平台的正式数据、鉴权和回执合同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B68BA64A-8A7C-435C-A18C-CC419FC62547}"/>
              </a:ext>
            </a:extLst>
          </p:cNvPr>
          <p:cNvSpPr>
            <a:spLocks noGrp="1"/>
          </p:cNvSpPr>
          <p:nvPr/>
        </p:nvSpPr>
        <p:spPr>
          <a:xfrm>
            <a:off x="4191000" y="4286250"/>
            <a:ext cx="342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968DE1-5DB8-423C-8D69-B9F513C415B4}"/>
              </a:ext>
            </a:extLst>
          </p:cNvPr>
          <p:cNvSpPr>
            <a:spLocks noGrp="1"/>
          </p:cNvSpPr>
          <p:nvPr/>
        </p:nvSpPr>
        <p:spPr>
          <a:xfrm>
            <a:off x="7991475" y="44767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025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场景验证</a:t>
            </a:r>
            <a:endParaRPr sz="2025" b="1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F8F499-0E4B-422F-AA8E-3D9A57685B63}"/>
              </a:ext>
            </a:extLst>
          </p:cNvPr>
          <p:cNvSpPr>
            <a:spLocks noGrp="1"/>
          </p:cNvSpPr>
          <p:nvPr/>
        </p:nvSpPr>
        <p:spPr>
          <a:xfrm>
            <a:off x="7991475" y="4953000"/>
            <a:ext cx="342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575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覆盖更多路口，道路和实际无人机场景验证，提升模型和算法精度</a:t>
            </a:r>
            <a:endParaRPr sz="1575" b="0" dirty="0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21E17C54-ABE5-490F-9A39-264256119380}"/>
              </a:ext>
            </a:extLst>
          </p:cNvPr>
          <p:cNvSpPr>
            <a:spLocks noGrp="1"/>
          </p:cNvSpPr>
          <p:nvPr/>
        </p:nvSpPr>
        <p:spPr>
          <a:xfrm>
            <a:off x="7991475" y="4286250"/>
            <a:ext cx="342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70D11F-5088-41B3-BB04-CD7DB287EE73}"/>
              </a:ext>
            </a:extLst>
          </p:cNvPr>
          <p:cNvSpPr>
            <a:spLocks noGrp="1"/>
          </p:cNvSpPr>
          <p:nvPr/>
        </p:nvSpPr>
        <p:spPr>
          <a:xfrm>
            <a:off x="4097295" y="44767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025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数仓和智能体对接</a:t>
            </a:r>
            <a:endParaRPr sz="2025" b="1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EB1D3D-80C6-4591-8057-738526F35688}"/>
              </a:ext>
            </a:extLst>
          </p:cNvPr>
          <p:cNvSpPr>
            <a:spLocks noGrp="1"/>
          </p:cNvSpPr>
          <p:nvPr/>
        </p:nvSpPr>
        <p:spPr>
          <a:xfrm>
            <a:off x="4097295" y="4953000"/>
            <a:ext cx="342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575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无人机数据接入统一数仓，智能体应用场景共创</a:t>
            </a:r>
            <a:endParaRPr sz="1575" b="0" dirty="0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78401E-48FD-469A-909B-D49021C05AB6}"/>
              </a:ext>
            </a:extLst>
          </p:cNvPr>
          <p:cNvSpPr>
            <a:spLocks noGrp="1"/>
          </p:cNvSpPr>
          <p:nvPr/>
        </p:nvSpPr>
        <p:spPr>
          <a:xfrm>
            <a:off x="390525" y="6362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无人机交通治理应用整体情况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67C879-3DFF-4DC7-ACFC-1BC55BD2CDBC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9604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878</Words>
  <Application>Microsoft Macintosh PowerPoint</Application>
  <DocSecurity>0</DocSecurity>
  <PresentationFormat>宽屏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2</cp:revision>
  <dcterms:created xsi:type="dcterms:W3CDTF">2026-08-09T07:32:30Z</dcterms:created>
  <dcterms:modified xsi:type="dcterms:W3CDTF">2026-08-09T08:04:14Z</dcterms:modified>
</cp:coreProperties>
</file>