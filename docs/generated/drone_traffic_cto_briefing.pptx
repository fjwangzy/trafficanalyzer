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D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"/>
            <a:ext cx="12191695" cy="365760"/>
          </a:xfrm>
          <a:prstGeom prst="rect">
            <a:avLst/>
          </a:prstGeom>
          <a:solidFill>
            <a:srgbClr val="0F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0"/>
          </a:xfrm>
          <a:prstGeom prst="rect">
            <a:avLst/>
          </a:prstGeom>
          <a:solidFill>
            <a:srgbClr val="112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28700"/>
            <a:ext cx="12191695" cy="365760"/>
          </a:xfrm>
          <a:prstGeom prst="rect">
            <a:avLst/>
          </a:prstGeom>
          <a:solidFill>
            <a:srgbClr val="13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371600"/>
            <a:ext cx="12191695" cy="365760"/>
          </a:xfrm>
          <a:prstGeom prst="rect">
            <a:avLst/>
          </a:prstGeom>
          <a:solidFill>
            <a:srgbClr val="15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714500"/>
            <a:ext cx="12191695" cy="365760"/>
          </a:xfrm>
          <a:prstGeom prst="rect">
            <a:avLst/>
          </a:prstGeom>
          <a:solidFill>
            <a:srgbClr val="172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057400"/>
            <a:ext cx="12191695" cy="365760"/>
          </a:xfrm>
          <a:prstGeom prst="rect">
            <a:avLst/>
          </a:prstGeom>
          <a:solidFill>
            <a:srgbClr val="192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400300"/>
            <a:ext cx="12191695" cy="365760"/>
          </a:xfrm>
          <a:prstGeom prst="rect">
            <a:avLst/>
          </a:prstGeom>
          <a:solidFill>
            <a:srgbClr val="1B2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743200"/>
            <a:ext cx="12191695" cy="365760"/>
          </a:xfrm>
          <a:prstGeom prst="rect">
            <a:avLst/>
          </a:prstGeom>
          <a:solidFill>
            <a:srgbClr val="1D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86100"/>
            <a:ext cx="12191695" cy="365760"/>
          </a:xfrm>
          <a:prstGeom prst="rect">
            <a:avLst/>
          </a:prstGeom>
          <a:solidFill>
            <a:srgbClr val="1F2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3429000"/>
            <a:ext cx="12191695" cy="365760"/>
          </a:xfrm>
          <a:prstGeom prst="rect">
            <a:avLst/>
          </a:prstGeom>
          <a:solidFill>
            <a:srgbClr val="203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771900"/>
            <a:ext cx="12191695" cy="365760"/>
          </a:xfrm>
          <a:prstGeom prst="rect">
            <a:avLst/>
          </a:prstGeom>
          <a:solidFill>
            <a:srgbClr val="203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4114800"/>
            <a:ext cx="12191695" cy="365760"/>
          </a:xfrm>
          <a:prstGeom prst="rect">
            <a:avLst/>
          </a:prstGeom>
          <a:solidFill>
            <a:srgbClr val="20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457700"/>
            <a:ext cx="12191695" cy="365760"/>
          </a:xfrm>
          <a:prstGeom prst="rect">
            <a:avLst/>
          </a:prstGeom>
          <a:solidFill>
            <a:srgbClr val="203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800600"/>
            <a:ext cx="12191695" cy="365760"/>
          </a:xfrm>
          <a:prstGeom prst="rect">
            <a:avLst/>
          </a:prstGeom>
          <a:solidFill>
            <a:srgbClr val="203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5143500"/>
            <a:ext cx="12191695" cy="365760"/>
          </a:xfrm>
          <a:prstGeom prst="rect">
            <a:avLst/>
          </a:prstGeom>
          <a:solidFill>
            <a:srgbClr val="20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5486400"/>
            <a:ext cx="12191695" cy="365760"/>
          </a:xfrm>
          <a:prstGeom prst="rect">
            <a:avLst/>
          </a:prstGeom>
          <a:solidFill>
            <a:srgbClr val="20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829300"/>
            <a:ext cx="12191695" cy="365760"/>
          </a:xfrm>
          <a:prstGeom prst="rect">
            <a:avLst/>
          </a:prstGeom>
          <a:solidFill>
            <a:srgbClr val="20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172200"/>
            <a:ext cx="12191695" cy="365760"/>
          </a:xfrm>
          <a:prstGeom prst="rect">
            <a:avLst/>
          </a:prstGeom>
          <a:solidFill>
            <a:srgbClr val="2035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515100"/>
            <a:ext cx="12191695" cy="365760"/>
          </a:xfrm>
          <a:prstGeom prst="rect">
            <a:avLst/>
          </a:prstGeom>
          <a:solidFill>
            <a:srgbClr val="203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1371600"/>
            <a:ext cx="76200" cy="3200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无人机AI交通态势感知系统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2377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D4AA"/>
                </a:solidFill>
                <a:latin typeface="Arial"/>
              </a:defRPr>
            </a:pPr>
            <a:r>
              <a:t>巡飞巡检 · 路口悬停 · 全维态势 · 实时感知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97280" y="3200400"/>
            <a:ext cx="36576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3474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CE"/>
                </a:solidFill>
                <a:latin typeface="Arial"/>
              </a:defRPr>
            </a:pPr>
            <a:r>
              <a:t>面向智慧交通管理的全栈解决方案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BB5"/>
                </a:solidFill>
                <a:latin typeface="Arial"/>
              </a:defRPr>
            </a:pPr>
            <a:r>
              <a:t>技术汇报 · 2026年5月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0" y="4846320"/>
            <a:ext cx="2560320" cy="457200"/>
          </a:xfrm>
          <a:prstGeom prst="roundRect">
            <a:avLst/>
          </a:prstGeom>
          <a:solidFill>
            <a:srgbClr val="152B45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D4AA"/>
                </a:solidFill>
              </a:defRPr>
            </a:pPr>
            <a:r>
              <a:t>Phase 1 验证通过  49/49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75120"/>
            <a:ext cx="12191695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汇报提纲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2860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12700"/>
          </a:xfrm>
          <a:prstGeom prst="rect">
            <a:avLst/>
          </a:prstGeom>
          <a:solidFill>
            <a:srgbClr val="2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828800"/>
            <a:ext cx="548640" cy="54864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783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行业痛点与机遇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1488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BB5"/>
                </a:solidFill>
                <a:latin typeface="Arial"/>
              </a:defRPr>
            </a:pPr>
            <a:r>
              <a:t>传统交通监控的瓶颈与无人机方案的突破</a:t>
            </a:r>
          </a:p>
        </p:txBody>
      </p:sp>
      <p:sp>
        <p:nvSpPr>
          <p:cNvPr id="9" name="Rectangle 8"/>
          <p:cNvSpPr/>
          <p:nvPr/>
        </p:nvSpPr>
        <p:spPr>
          <a:xfrm>
            <a:off x="1344168" y="2377440"/>
            <a:ext cx="25400" cy="365760"/>
          </a:xfrm>
          <a:prstGeom prst="rect">
            <a:avLst/>
          </a:prstGeom>
          <a:solidFill>
            <a:srgbClr val="25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2743200"/>
            <a:ext cx="548640" cy="54864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697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系统方案总览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063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BB5"/>
                </a:solidFill>
                <a:latin typeface="Arial"/>
              </a:defRPr>
            </a:pPr>
            <a:r>
              <a:t>双场景覆盖 · 五大检测维度 · 端到端架构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44168" y="3291840"/>
            <a:ext cx="25400" cy="365760"/>
          </a:xfrm>
          <a:prstGeom prst="rect">
            <a:avLst/>
          </a:prstGeom>
          <a:solidFill>
            <a:srgbClr val="25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7280" y="3657600"/>
            <a:ext cx="548640" cy="54864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611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核心技术引擎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9776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BB5"/>
                </a:solidFill>
                <a:latin typeface="Arial"/>
              </a:defRPr>
            </a:pPr>
            <a:r>
              <a:t>AI视觉 · 运动补偿 · 零标注感知 · 冲突检测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44168" y="4206240"/>
            <a:ext cx="25400" cy="365760"/>
          </a:xfrm>
          <a:prstGeom prst="rect">
            <a:avLst/>
          </a:prstGeom>
          <a:solidFill>
            <a:srgbClr val="25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97280" y="4572000"/>
            <a:ext cx="548640" cy="54864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8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526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平台与数据闭环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892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BB5"/>
                </a:solidFill>
                <a:latin typeface="Arial"/>
              </a:defRPr>
            </a:pPr>
            <a:r>
              <a:t>实时管道 · Web管控 · WebSocket推送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44168" y="5120640"/>
            <a:ext cx="25400" cy="365760"/>
          </a:xfrm>
          <a:prstGeom prst="rect">
            <a:avLst/>
          </a:prstGeom>
          <a:solidFill>
            <a:srgbClr val="25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97280" y="5486400"/>
            <a:ext cx="548640" cy="54864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8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5440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验证与交付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58064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BB5"/>
                </a:solidFill>
                <a:latin typeface="Arial"/>
              </a:defRPr>
            </a:pPr>
            <a:r>
              <a:t>E2E测试 · 竞品对比 · 部署方案 · 路线图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行业痛点与机遇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2860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CCE"/>
                </a:solidFill>
                <a:latin typeface="Arial"/>
              </a:defRPr>
            </a:pPr>
            <a:r>
              <a:t>传统交通监控面临的三大核心瓶颈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12700"/>
          </a:xfrm>
          <a:prstGeom prst="rect">
            <a:avLst/>
          </a:prstGeom>
          <a:solidFill>
            <a:srgbClr val="2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291840" cy="384048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47088"/>
            <a:ext cx="3255264" cy="63500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4D4D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视角受限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108960"/>
            <a:ext cx="1371600" cy="25400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38328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CE"/>
                </a:solidFill>
                <a:latin typeface="Arial"/>
              </a:defRPr>
            </a:pPr>
            <a:r>
              <a:t>固定摄像头覆盖死角多</a:t>
            </a:r>
            <a:br/>
            <a:r>
              <a:t>路口中心区域无法有效观测</a:t>
            </a:r>
            <a:br/>
            <a:r>
              <a:t>无人机巡飞成本高昂、难以常态化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828800"/>
            <a:ext cx="3291840" cy="384048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7408" y="1847088"/>
            <a:ext cx="3255264" cy="6350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103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A726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指标粗放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3108960"/>
            <a:ext cx="1371600" cy="2540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338328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CE"/>
                </a:solidFill>
                <a:latin typeface="Arial"/>
              </a:defRPr>
            </a:pPr>
            <a:r>
              <a:t>仅有车流量计数，缺乏车道级分析</a:t>
            </a:r>
            <a:br/>
            <a:r>
              <a:t>无车速、排队长度、车头时距</a:t>
            </a:r>
            <a:br/>
            <a:r>
              <a:t>无转向分类，无法支撑精细化管控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828800"/>
            <a:ext cx="3291840" cy="384048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65008" y="1847088"/>
            <a:ext cx="3255264" cy="63500"/>
          </a:xfrm>
          <a:prstGeom prst="rect">
            <a:avLst/>
          </a:prstGeom>
          <a:solidFill>
            <a:srgbClr val="C06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103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060E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安全盲区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3108960"/>
            <a:ext cx="1371600" cy="25400"/>
          </a:xfrm>
          <a:prstGeom prst="rect">
            <a:avLst/>
          </a:prstGeom>
          <a:solidFill>
            <a:srgbClr val="C06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338328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CE"/>
                </a:solidFill>
                <a:latin typeface="Arial"/>
              </a:defRPr>
            </a:pPr>
            <a:r>
              <a:t>机非冲突无法自动检测</a:t>
            </a:r>
            <a:br/>
            <a:r>
              <a:t>事故风险依赖人工巡查发现</a:t>
            </a:r>
            <a:br/>
            <a:r>
              <a:t>缺乏实时告警与事后回溯能力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4AA"/>
                </a:solidFill>
                <a:latin typeface="Arial"/>
              </a:defRPr>
            </a:pPr>
            <a:r>
              <a:t>市场刚需: 公安部交管局2025年明确要求"推进无人机交通巡查常态化应用"，智慧路口改造需求持续增长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解决方案总览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2860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CCE"/>
                </a:solidFill>
                <a:latin typeface="Arial"/>
              </a:defRPr>
            </a:pPr>
            <a:r>
              <a:t>一站式无人机AI交通态势感知平台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12700"/>
          </a:xfrm>
          <a:prstGeom prst="rect">
            <a:avLst/>
          </a:prstGeom>
          <a:solidFill>
            <a:srgbClr val="2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2743200" cy="365760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D6"/>
                </a:solidFill>
                <a:latin typeface="Arial"/>
              </a:defRPr>
            </a:pPr>
            <a:r>
              <a:t>数据输入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606040"/>
            <a:ext cx="1097280" cy="25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34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  4K无人机视频流 (RTSP)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  飞行遥测 (MQTT/SRT)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57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  GPS · 云台角度 · 高度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69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  车道标注 (可选)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474720" y="3474720"/>
            <a:ext cx="731520" cy="457200"/>
          </a:xfrm>
          <a:prstGeom prst="rightArrow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89120" y="1645920"/>
            <a:ext cx="3657600" cy="4389120"/>
          </a:xfrm>
          <a:prstGeom prst="roundRect">
            <a:avLst/>
          </a:prstGeom>
          <a:solidFill>
            <a:srgbClr val="122540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AA"/>
                </a:solidFill>
                <a:latin typeface="Arial"/>
              </a:defRPr>
            </a:pPr>
            <a:r>
              <a:t>AI 感知引擎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2286000"/>
            <a:ext cx="1371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63440" y="2615184"/>
            <a:ext cx="137160" cy="13716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2560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YOLOv8 目标检测</a:t>
            </a:r>
          </a:p>
        </p:txBody>
      </p:sp>
      <p:sp>
        <p:nvSpPr>
          <p:cNvPr id="20" name="Oval 19"/>
          <p:cNvSpPr/>
          <p:nvPr/>
        </p:nvSpPr>
        <p:spPr>
          <a:xfrm>
            <a:off x="4663440" y="2999232"/>
            <a:ext cx="137160" cy="13716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294436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ByteTrack 多目标跟踪</a:t>
            </a:r>
          </a:p>
        </p:txBody>
      </p:sp>
      <p:sp>
        <p:nvSpPr>
          <p:cNvPr id="22" name="Oval 21"/>
          <p:cNvSpPr/>
          <p:nvPr/>
        </p:nvSpPr>
        <p:spPr>
          <a:xfrm>
            <a:off x="4663440" y="3383279"/>
            <a:ext cx="137160" cy="13716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0" y="3328415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遥测驱动单应性标定</a:t>
            </a:r>
          </a:p>
        </p:txBody>
      </p:sp>
      <p:sp>
        <p:nvSpPr>
          <p:cNvPr id="24" name="Oval 23"/>
          <p:cNvSpPr/>
          <p:nvPr/>
        </p:nvSpPr>
        <p:spPr>
          <a:xfrm>
            <a:off x="4663440" y="3767327"/>
            <a:ext cx="137160" cy="13716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0" y="3712463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无人机运动补偿</a:t>
            </a:r>
          </a:p>
        </p:txBody>
      </p:sp>
      <p:sp>
        <p:nvSpPr>
          <p:cNvPr id="26" name="Oval 25"/>
          <p:cNvSpPr/>
          <p:nvPr/>
        </p:nvSpPr>
        <p:spPr>
          <a:xfrm>
            <a:off x="4663440" y="4151375"/>
            <a:ext cx="137160" cy="13716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0" y="4096511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方向流量自动分类</a:t>
            </a:r>
          </a:p>
        </p:txBody>
      </p:sp>
      <p:sp>
        <p:nvSpPr>
          <p:cNvPr id="28" name="Oval 27"/>
          <p:cNvSpPr/>
          <p:nvPr/>
        </p:nvSpPr>
        <p:spPr>
          <a:xfrm>
            <a:off x="4663440" y="4535424"/>
            <a:ext cx="137160" cy="13716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0" y="4480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车道级态势分析</a:t>
            </a:r>
          </a:p>
        </p:txBody>
      </p:sp>
      <p:sp>
        <p:nvSpPr>
          <p:cNvPr id="30" name="Oval 29"/>
          <p:cNvSpPr/>
          <p:nvPr/>
        </p:nvSpPr>
        <p:spPr>
          <a:xfrm>
            <a:off x="4663440" y="4919472"/>
            <a:ext cx="137160" cy="13716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0" y="486460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TTC冲突检测</a:t>
            </a:r>
          </a:p>
        </p:txBody>
      </p:sp>
      <p:sp>
        <p:nvSpPr>
          <p:cNvPr id="32" name="Oval 31"/>
          <p:cNvSpPr/>
          <p:nvPr/>
        </p:nvSpPr>
        <p:spPr>
          <a:xfrm>
            <a:off x="4663440" y="5303520"/>
            <a:ext cx="137160" cy="13716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37760" y="524865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世界坐标轨迹还原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8229600" y="3474720"/>
            <a:ext cx="731520" cy="457200"/>
          </a:xfrm>
          <a:prstGeom prst="rightArrow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144000" y="2011680"/>
            <a:ext cx="2560320" cy="365760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0" y="2194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7E"/>
                </a:solidFill>
                <a:latin typeface="Arial"/>
              </a:defRPr>
            </a:pPr>
            <a:r>
              <a:t>输出与消费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18320" y="2606040"/>
            <a:ext cx="1097280" cy="25400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18320" y="2834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  Kafka 多主题推送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3246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  WebSocket 实时推送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3657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  Grafana 可视化看板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0" y="4069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  Web管理平台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0" y="4480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  P1-P3 告警通知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双场景覆盖能力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2860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CCE"/>
                </a:solidFill>
                <a:latin typeface="Arial"/>
              </a:defRPr>
            </a:pPr>
            <a:r>
              <a:t>一套系统适配无人机两种典型作业模式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12700"/>
          </a:xfrm>
          <a:prstGeom prst="rect">
            <a:avLst/>
          </a:prstGeom>
          <a:solidFill>
            <a:srgbClr val="2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5303520" cy="438912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755648"/>
            <a:ext cx="5266944" cy="548640"/>
          </a:xfrm>
          <a:prstGeom prst="rect">
            <a:avLst/>
          </a:prstGeom>
          <a:solidFill>
            <a:srgbClr val="10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D6"/>
                </a:solidFill>
                <a:latin typeface="Arial"/>
              </a:defRPr>
            </a:pPr>
            <a:r>
              <a:t>场景一：巡飞巡检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847088"/>
            <a:ext cx="1097280" cy="32004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零标注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  <a:latin typeface="Arial"/>
              </a:defRPr>
            </a:pPr>
            <a:r>
              <a:t>覆盖范围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沿路线动态巡查，单架次覆盖多个路口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832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  <a:latin typeface="Arial"/>
              </a:defRPr>
            </a:pPr>
            <a:r>
              <a:t>运动补偿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GPS锚定世界坐标系，消除无人机运动对测速的影响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06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  <a:latin typeface="Arial"/>
              </a:defRPr>
            </a:pPr>
            <a:r>
              <a:t>自动感知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基于轨迹运动方向自动分类左转/直行/右转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  <a:latin typeface="Arial"/>
              </a:defRPr>
            </a:pPr>
            <a:r>
              <a:t>适用指标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03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转向车流 · 车速 · 排队检测 · 冲突事件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737360"/>
            <a:ext cx="5303520" cy="438912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27648" y="1755648"/>
            <a:ext cx="5266944" cy="548640"/>
          </a:xfrm>
          <a:prstGeom prst="rect">
            <a:avLst/>
          </a:prstGeom>
          <a:solidFill>
            <a:srgbClr val="10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AA"/>
                </a:solidFill>
                <a:latin typeface="Arial"/>
              </a:defRPr>
            </a:pPr>
            <a:r>
              <a:t>场景二：路口悬停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32720" y="1847088"/>
            <a:ext cx="1097280" cy="32004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D1B2A"/>
                </a:solidFill>
              </a:defRPr>
            </a:pPr>
            <a:r>
              <a:t>全指标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5603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Arial"/>
              </a:defRPr>
            </a:pPr>
            <a:r>
              <a:t>深度分析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834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悬停于路口上方，持续监测全部进口道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3832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Arial"/>
              </a:defRPr>
            </a:pPr>
            <a:r>
              <a:t>车道级精度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启用预标注车道多边形，输出车道级流量/排队/时距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206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Arial"/>
              </a:defRPr>
            </a:pPr>
            <a:r>
              <a:t>静态基准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480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无人机近静止，标定精度最高，车速/距离测量误差&lt;5%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50292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Arial"/>
              </a:defRPr>
            </a:pPr>
            <a:r>
              <a:t>适用指标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303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巡飞全部指标 + 车道级流量 · 排队长度 · 车头时距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核心检测指标体系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2860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CCE"/>
                </a:solidFill>
                <a:latin typeface="Arial"/>
              </a:defRPr>
            </a:pPr>
            <a:r>
              <a:t>五大维度 · 覆盖交通态势全量要素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12700"/>
          </a:xfrm>
          <a:prstGeom prst="rect">
            <a:avLst/>
          </a:prstGeom>
          <a:solidFill>
            <a:srgbClr val="2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2103120" cy="457200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64208"/>
            <a:ext cx="2066544" cy="635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74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Arial"/>
              </a:defRPr>
            </a:pPr>
            <a:r>
              <a:t>转向车流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286000"/>
            <a:ext cx="914400" cy="1905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5800" y="2523744"/>
            <a:ext cx="91440" cy="9144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46888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Arial"/>
              </a:defRPr>
            </a:pPr>
            <a:r>
              <a:t>左转 / 直行 / 右转 / 掉头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392424"/>
            <a:ext cx="91440" cy="9144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3756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Arial"/>
              </a:defRPr>
            </a:pPr>
            <a:r>
              <a:t>基于世界坐标系航向自动分类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4261104"/>
            <a:ext cx="91440" cy="9144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0624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Arial"/>
              </a:defRPr>
            </a:pPr>
            <a:r>
              <a:t>巡飞+悬停均可输出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5129783"/>
            <a:ext cx="91440" cy="9144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074919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Arial"/>
              </a:defRPr>
            </a:pPr>
            <a:r>
              <a:t>零标注，即开即用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88920" y="1645920"/>
            <a:ext cx="2103120" cy="457200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07208" y="1664208"/>
            <a:ext cx="2066544" cy="635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0" y="1874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Arial"/>
              </a:defRPr>
            </a:pPr>
            <a:r>
              <a:t>车道级分析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2286000"/>
            <a:ext cx="914400" cy="1905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6080" y="2523744"/>
            <a:ext cx="91440" cy="914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60" y="246888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Arial"/>
              </a:defRPr>
            </a:pPr>
            <a:r>
              <a:t>车道级流量统计</a:t>
            </a:r>
          </a:p>
        </p:txBody>
      </p:sp>
      <p:sp>
        <p:nvSpPr>
          <p:cNvPr id="25" name="Oval 24"/>
          <p:cNvSpPr/>
          <p:nvPr/>
        </p:nvSpPr>
        <p:spPr>
          <a:xfrm>
            <a:off x="2926080" y="3392424"/>
            <a:ext cx="91440" cy="914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0" y="333756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Arial"/>
              </a:defRPr>
            </a:pPr>
            <a:r>
              <a:t>车道级平均车速</a:t>
            </a:r>
          </a:p>
        </p:txBody>
      </p:sp>
      <p:sp>
        <p:nvSpPr>
          <p:cNvPr id="27" name="Oval 26"/>
          <p:cNvSpPr/>
          <p:nvPr/>
        </p:nvSpPr>
        <p:spPr>
          <a:xfrm>
            <a:off x="2926080" y="4261104"/>
            <a:ext cx="91440" cy="914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08960" y="420624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Arial"/>
              </a:defRPr>
            </a:pPr>
            <a:r>
              <a:t>排队长度（米）精确量化</a:t>
            </a:r>
          </a:p>
        </p:txBody>
      </p:sp>
      <p:sp>
        <p:nvSpPr>
          <p:cNvPr id="29" name="Oval 28"/>
          <p:cNvSpPr/>
          <p:nvPr/>
        </p:nvSpPr>
        <p:spPr>
          <a:xfrm>
            <a:off x="2926080" y="5129783"/>
            <a:ext cx="91440" cy="914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08960" y="5074919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Arial"/>
              </a:defRPr>
            </a:pPr>
            <a:r>
              <a:t>车头时距（秒）实时计算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0" y="1645920"/>
            <a:ext cx="2103120" cy="457200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47488" y="1664208"/>
            <a:ext cx="2066544" cy="63500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66360" y="1874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7E"/>
                </a:solidFill>
                <a:latin typeface="Arial"/>
              </a:defRPr>
            </a:pPr>
            <a:r>
              <a:t>车速估计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66360" y="2286000"/>
            <a:ext cx="914400" cy="19050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166360" y="2523744"/>
            <a:ext cx="91440" cy="91440"/>
          </a:xfrm>
          <a:prstGeom prst="ellipse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49240" y="246888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Arial"/>
              </a:defRPr>
            </a:pPr>
            <a:r>
              <a:t>透视变换+帧间位移→km/h</a:t>
            </a:r>
          </a:p>
        </p:txBody>
      </p:sp>
      <p:sp>
        <p:nvSpPr>
          <p:cNvPr id="37" name="Oval 36"/>
          <p:cNvSpPr/>
          <p:nvPr/>
        </p:nvSpPr>
        <p:spPr>
          <a:xfrm>
            <a:off x="5166360" y="3392424"/>
            <a:ext cx="91440" cy="91440"/>
          </a:xfrm>
          <a:prstGeom prst="ellipse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49240" y="333756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Arial"/>
              </a:defRPr>
            </a:pPr>
            <a:r>
              <a:t>减去无人机速度矢量→真实地面车速</a:t>
            </a:r>
          </a:p>
        </p:txBody>
      </p:sp>
      <p:sp>
        <p:nvSpPr>
          <p:cNvPr id="39" name="Oval 38"/>
          <p:cNvSpPr/>
          <p:nvPr/>
        </p:nvSpPr>
        <p:spPr>
          <a:xfrm>
            <a:off x="5166360" y="4261104"/>
            <a:ext cx="91440" cy="91440"/>
          </a:xfrm>
          <a:prstGeom prst="ellipse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49240" y="420624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Arial"/>
              </a:defRPr>
            </a:pPr>
            <a:r>
              <a:t>EMA平滑，消除bbox抖动</a:t>
            </a:r>
          </a:p>
        </p:txBody>
      </p:sp>
      <p:sp>
        <p:nvSpPr>
          <p:cNvPr id="41" name="Oval 40"/>
          <p:cNvSpPr/>
          <p:nvPr/>
        </p:nvSpPr>
        <p:spPr>
          <a:xfrm>
            <a:off x="5166360" y="5129783"/>
            <a:ext cx="91440" cy="91440"/>
          </a:xfrm>
          <a:prstGeom prst="ellipse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49240" y="5074919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Arial"/>
              </a:defRPr>
            </a:pPr>
            <a:r>
              <a:t>遥测驱动动态标定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269480" y="1645920"/>
            <a:ext cx="2103120" cy="457200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287768" y="1664208"/>
            <a:ext cx="2066544" cy="6350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06640" y="1874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726"/>
                </a:solidFill>
                <a:latin typeface="Arial"/>
              </a:defRPr>
            </a:pPr>
            <a:r>
              <a:t>排队检测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06640" y="2286000"/>
            <a:ext cx="914400" cy="1905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406640" y="2523744"/>
            <a:ext cx="91440" cy="91440"/>
          </a:xfrm>
          <a:prstGeom prst="ellipse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89520" y="246888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Arial"/>
              </a:defRPr>
            </a:pPr>
            <a:r>
              <a:t>速度阈值识别排队车辆(&lt;5km/h)</a:t>
            </a:r>
          </a:p>
        </p:txBody>
      </p:sp>
      <p:sp>
        <p:nvSpPr>
          <p:cNvPr id="49" name="Oval 48"/>
          <p:cNvSpPr/>
          <p:nvPr/>
        </p:nvSpPr>
        <p:spPr>
          <a:xfrm>
            <a:off x="7406640" y="3392424"/>
            <a:ext cx="91440" cy="91440"/>
          </a:xfrm>
          <a:prstGeom prst="ellipse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89520" y="333756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Arial"/>
              </a:defRPr>
            </a:pPr>
            <a:r>
              <a:t>队列间隙分段（&gt;8m断开）</a:t>
            </a:r>
          </a:p>
        </p:txBody>
      </p:sp>
      <p:sp>
        <p:nvSpPr>
          <p:cNvPr id="51" name="Oval 50"/>
          <p:cNvSpPr/>
          <p:nvPr/>
        </p:nvSpPr>
        <p:spPr>
          <a:xfrm>
            <a:off x="7406640" y="4261104"/>
            <a:ext cx="91440" cy="91440"/>
          </a:xfrm>
          <a:prstGeom prst="ellipse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89520" y="420624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Arial"/>
              </a:defRPr>
            </a:pPr>
            <a:r>
              <a:t>排队长度世界坐标精确测量</a:t>
            </a:r>
          </a:p>
        </p:txBody>
      </p:sp>
      <p:sp>
        <p:nvSpPr>
          <p:cNvPr id="53" name="Oval 52"/>
          <p:cNvSpPr/>
          <p:nvPr/>
        </p:nvSpPr>
        <p:spPr>
          <a:xfrm>
            <a:off x="7406640" y="5129783"/>
            <a:ext cx="91440" cy="91440"/>
          </a:xfrm>
          <a:prstGeom prst="ellipse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89520" y="5074919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Arial"/>
              </a:defRPr>
            </a:pPr>
            <a:r>
              <a:t>方向级+车道级双维度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509760" y="1645920"/>
            <a:ext cx="2103120" cy="457200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528048" y="1664208"/>
            <a:ext cx="2066544" cy="63500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46920" y="1874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4D4D"/>
                </a:solidFill>
                <a:latin typeface="Arial"/>
              </a:defRPr>
            </a:pPr>
            <a:r>
              <a:t>机非冲突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46920" y="2286000"/>
            <a:ext cx="914400" cy="19050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646920" y="2523744"/>
            <a:ext cx="91440" cy="91440"/>
          </a:xfrm>
          <a:prstGeom prst="ellipse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29800" y="246888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Arial"/>
              </a:defRPr>
            </a:pPr>
            <a:r>
              <a:t>TTC（碰撞时间）+ 距离双因子</a:t>
            </a:r>
          </a:p>
        </p:txBody>
      </p:sp>
      <p:sp>
        <p:nvSpPr>
          <p:cNvPr id="61" name="Oval 60"/>
          <p:cNvSpPr/>
          <p:nvPr/>
        </p:nvSpPr>
        <p:spPr>
          <a:xfrm>
            <a:off x="9646920" y="3392424"/>
            <a:ext cx="91440" cy="91440"/>
          </a:xfrm>
          <a:prstGeom prst="ellipse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829800" y="333756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Arial"/>
              </a:defRPr>
            </a:pPr>
            <a:r>
              <a:t>Critical/Warning/Info三级告警</a:t>
            </a:r>
          </a:p>
        </p:txBody>
      </p:sp>
      <p:sp>
        <p:nvSpPr>
          <p:cNvPr id="63" name="Oval 62"/>
          <p:cNvSpPr/>
          <p:nvPr/>
        </p:nvSpPr>
        <p:spPr>
          <a:xfrm>
            <a:off x="9646920" y="4261104"/>
            <a:ext cx="91440" cy="91440"/>
          </a:xfrm>
          <a:prstGeom prst="ellipse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829800" y="420624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Arial"/>
              </a:defRPr>
            </a:pPr>
            <a:r>
              <a:t>世界坐标距离，消除透视误差</a:t>
            </a:r>
          </a:p>
        </p:txBody>
      </p:sp>
      <p:sp>
        <p:nvSpPr>
          <p:cNvPr id="65" name="Oval 64"/>
          <p:cNvSpPr/>
          <p:nvPr/>
        </p:nvSpPr>
        <p:spPr>
          <a:xfrm>
            <a:off x="9646920" y="5129783"/>
            <a:ext cx="91440" cy="91440"/>
          </a:xfrm>
          <a:prstGeom prst="ellipse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829800" y="5074919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Arial"/>
              </a:defRPr>
            </a:pPr>
            <a:r>
              <a:t>P1-P3自动告警推送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系统架构总览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2860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CCE"/>
                </a:solidFill>
                <a:latin typeface="Arial"/>
              </a:defRPr>
            </a:pPr>
            <a:r>
              <a:t>Node-based Pipeline · 三进程并行 · 端到端实时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12700"/>
          </a:xfrm>
          <a:prstGeom prst="rect">
            <a:avLst/>
          </a:prstGeom>
          <a:solidFill>
            <a:srgbClr val="2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1920240" cy="1188720"/>
          </a:xfrm>
          <a:prstGeom prst="roundRect">
            <a:avLst/>
          </a:prstGeom>
          <a:solidFill>
            <a:srgbClr val="1A2B42"/>
          </a:solidFill>
          <a:ln w="254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D6"/>
                </a:solidFill>
                <a:latin typeface="Arial"/>
              </a:defRPr>
            </a:pPr>
            <a:r>
              <a:t>视频采集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E"/>
                </a:solidFill>
                <a:latin typeface="Arial"/>
              </a:defRPr>
            </a:pPr>
            <a:r>
              <a:t>VideoReader</a:t>
            </a:r>
            <a:br/>
            <a:r>
              <a:t>+ 遥测注入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487168" y="2423160"/>
            <a:ext cx="228600" cy="320040"/>
          </a:xfrm>
          <a:prstGeom prst="rightArrow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43200" y="2011680"/>
            <a:ext cx="1920240" cy="1188720"/>
          </a:xfrm>
          <a:prstGeom prst="roundRect">
            <a:avLst/>
          </a:prstGeom>
          <a:solidFill>
            <a:srgbClr val="1A2B42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21031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AA"/>
                </a:solidFill>
                <a:latin typeface="Arial"/>
              </a:defRPr>
            </a:pPr>
            <a:r>
              <a:t>AI检测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4688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E"/>
                </a:solidFill>
                <a:latin typeface="Arial"/>
              </a:defRPr>
            </a:pPr>
            <a:r>
              <a:t>YOLOv8</a:t>
            </a:r>
            <a:br/>
            <a:r>
              <a:t>+ ByteTrack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681728" y="2423160"/>
            <a:ext cx="228600" cy="32004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937760" y="2011680"/>
            <a:ext cx="1920240" cy="1188720"/>
          </a:xfrm>
          <a:prstGeom prst="roundRect">
            <a:avLst/>
          </a:prstGeom>
          <a:solidFill>
            <a:srgbClr val="1A2B42"/>
          </a:solidFill>
          <a:ln w="25400">
            <a:solidFill>
              <a:srgbClr val="00D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21031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7E"/>
                </a:solidFill>
                <a:latin typeface="Arial"/>
              </a:defRPr>
            </a:pPr>
            <a:r>
              <a:t>标定补偿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4688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E"/>
                </a:solidFill>
                <a:latin typeface="Arial"/>
              </a:defRPr>
            </a:pPr>
            <a:r>
              <a:t>单应性标定</a:t>
            </a:r>
            <a:br/>
            <a:r>
              <a:t>+ 运动补偿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876288" y="2423160"/>
            <a:ext cx="228600" cy="320040"/>
          </a:xfrm>
          <a:prstGeom prst="rightArrow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0" y="2011680"/>
            <a:ext cx="1920240" cy="1188720"/>
          </a:xfrm>
          <a:prstGeom prst="roundRect">
            <a:avLst/>
          </a:prstGeom>
          <a:solidFill>
            <a:srgbClr val="1A2B42"/>
          </a:solidFill>
          <a:ln w="2540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21031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726"/>
                </a:solidFill>
                <a:latin typeface="Arial"/>
              </a:defRPr>
            </a:pPr>
            <a:r>
              <a:t>态势分析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24688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E"/>
                </a:solidFill>
                <a:latin typeface="Arial"/>
              </a:defRPr>
            </a:pPr>
            <a:r>
              <a:t>方向·车道·速度</a:t>
            </a:r>
            <a:br/>
            <a:r>
              <a:t>排队·轨迹·冲突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070848" y="2423160"/>
            <a:ext cx="228600" cy="320040"/>
          </a:xfrm>
          <a:prstGeom prst="rightArrow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326880" y="2011680"/>
            <a:ext cx="1920240" cy="1188720"/>
          </a:xfrm>
          <a:prstGeom prst="roundRect">
            <a:avLst/>
          </a:prstGeom>
          <a:solidFill>
            <a:srgbClr val="1A2B42"/>
          </a:solidFill>
          <a:ln w="25400">
            <a:solidFill>
              <a:srgbClr val="C06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21031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060E0"/>
                </a:solidFill>
                <a:latin typeface="Arial"/>
              </a:defRPr>
            </a:pPr>
            <a:r>
              <a:t>数据输出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24688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E"/>
                </a:solidFill>
                <a:latin typeface="Arial"/>
              </a:defRPr>
            </a:pPr>
            <a:r>
              <a:t>Kafka 3主题</a:t>
            </a:r>
            <a:br/>
            <a:r>
              <a:t>+ 渲染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三进程并行模型 (main_optimized.py)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657600"/>
            <a:ext cx="3474720" cy="118872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3675888"/>
            <a:ext cx="63500" cy="115214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7490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  <a:latin typeface="Arial"/>
              </a:defRPr>
            </a:pPr>
            <a:r>
              <a:t>Process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3749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视频读取 + GPU推理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1148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5"/>
                </a:solidFill>
                <a:latin typeface="Arial"/>
              </a:defRPr>
            </a:pPr>
            <a:r>
              <a:t>I/O + CUDA</a:t>
            </a:r>
            <a:br/>
            <a:r>
              <a:t>CPU/GPU并行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3657600"/>
            <a:ext cx="3474720" cy="118872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15968" y="3675888"/>
            <a:ext cx="63500" cy="115214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60" y="37490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Arial"/>
              </a:defRPr>
            </a:pPr>
            <a:r>
              <a:t>Process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0" y="3749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标定 + 分析 + 统计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41148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5"/>
                </a:solidFill>
                <a:latin typeface="Arial"/>
              </a:defRPr>
            </a:pPr>
            <a:r>
              <a:t>CPU密集计算</a:t>
            </a:r>
            <a:br/>
            <a:r>
              <a:t>全部业务逻辑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0" y="3657600"/>
            <a:ext cx="3474720" cy="118872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65008" y="3675888"/>
            <a:ext cx="63500" cy="1152144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0" y="37490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7E"/>
                </a:solidFill>
                <a:latin typeface="Arial"/>
              </a:defRPr>
            </a:pPr>
            <a:r>
              <a:t>Process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3749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渲染 + 推流 + 存储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41148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5"/>
                </a:solidFill>
                <a:latin typeface="Arial"/>
              </a:defRPr>
            </a:pPr>
            <a:r>
              <a:t>OpenCV渲染</a:t>
            </a:r>
            <a:br/>
            <a:r>
              <a:t>Flask MJPEG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B5"/>
                </a:solidFill>
                <a:latin typeface="Arial"/>
              </a:defRPr>
            </a:pPr>
            <a:r>
              <a:t>Queue(maxsize=50) 连接各进程 | 健康检查: is_alive() + get(timeout=10s) | 支持GPU加速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486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Kafka 多主题输出: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0" y="5486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AA"/>
                </a:solidFill>
                <a:latin typeface="Arial"/>
              </a:defRPr>
            </a:pPr>
            <a:r>
              <a:t>statistics_{n}  统计指标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5486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AA"/>
                </a:solidFill>
                <a:latin typeface="Arial"/>
              </a:defRPr>
            </a:pPr>
            <a:r>
              <a:t>track_complete_{n}  完整轨迹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5486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AA"/>
                </a:solidFill>
                <a:latin typeface="Arial"/>
              </a:defRPr>
            </a:pPr>
            <a:r>
              <a:t>conflicts_{n}  冲突事件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核心技术: AI视觉引擎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2860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CCE"/>
                </a:solidFill>
                <a:latin typeface="Arial"/>
              </a:defRPr>
            </a:pPr>
            <a:r>
              <a:t>YOLOv8目标检测 + ByteTrack多目标跟踪 · 无人机视角定制训练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12700"/>
          </a:xfrm>
          <a:prstGeom prst="rect">
            <a:avLst/>
          </a:prstGeom>
          <a:solidFill>
            <a:srgbClr val="2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5303520" cy="457200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D6"/>
                </a:solidFill>
                <a:latin typeface="Arial"/>
              </a:defRPr>
            </a:pPr>
            <a:r>
              <a:t>YOLOv8 无人机视角检测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240280"/>
            <a:ext cx="1371600" cy="25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  <a:latin typeface="Arial"/>
              </a:defRPr>
            </a:pPr>
            <a:r>
              <a:t>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468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uav_best.pt — 无人机视角定制训练权重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358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  <a:latin typeface="Arial"/>
              </a:defRPr>
            </a:pPr>
            <a:r>
              <a:t>类别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03580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COCO 2-9 (car, bus, truck, motorcycle 等)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0273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  <a:latin typeface="Arial"/>
              </a:defRPr>
            </a:pPr>
            <a:r>
              <a:t>分辨率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60273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4K 输入 (3840×2160)，imgsz=640 推理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696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  <a:latin typeface="Arial"/>
              </a:defRPr>
            </a:pPr>
            <a:r>
              <a:t>阈值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16966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conf=0.10 (低阈值保留更多候选供跟踪)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365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  <a:latin typeface="Arial"/>
              </a:defRPr>
            </a:pPr>
            <a:r>
              <a:t>NMS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473659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IOU=0.7 (允许密集场景重叠框通过)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03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  <a:latin typeface="Arial"/>
              </a:defRPr>
            </a:pPr>
            <a:r>
              <a:t>性能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53035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CPU: 2fps@4K | GPU: ~25fps@4K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1645920"/>
            <a:ext cx="5303520" cy="457200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Arial"/>
              </a:defRPr>
            </a:pPr>
            <a:r>
              <a:t>ByteTrack 多目标跟踪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2240280"/>
            <a:ext cx="137160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2468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Arial"/>
              </a:defRPr>
            </a:pPr>
            <a:r>
              <a:t>两轮关联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2468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高分框(&gt;0.5)匹配 → 低分框(&gt;0.1)恢复被遮挡目标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0358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Arial"/>
              </a:defRPr>
            </a:pPr>
            <a:r>
              <a:t>卡尔曼滤波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303580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8维状态空间，恒速运动模型，共享滤波器实例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6027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Arial"/>
              </a:defRPr>
            </a:pPr>
            <a:r>
              <a:t>密集跟踪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360273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环形路口密集车流场景下，IOU匹配优于DeepSORT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1696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Arial"/>
              </a:defRPr>
            </a:pPr>
            <a:r>
              <a:t>ID连续性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4169664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track_buffer=30帧内可恢复，支持长轨迹构建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7365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Arial"/>
              </a:defRPr>
            </a:pPr>
            <a:r>
              <a:t>类别保留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473659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跟踪基于IOU，不影响YOLO原始类别分类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5303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Arial"/>
              </a:defRPr>
            </a:pPr>
            <a:r>
              <a:t>实测验证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53035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100帧累计检测 8,051 目标，跟踪率100%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核心技术: 无人机运动补偿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2860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CCE"/>
                </a:solidFill>
                <a:latin typeface="Arial"/>
              </a:defRPr>
            </a:pPr>
            <a:r>
              <a:t>GPS锚定世界坐标系 + 帧间遥测速度积分 · 消除无人机运动对测速的干扰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12700"/>
          </a:xfrm>
          <a:prstGeom prst="rect">
            <a:avLst/>
          </a:prstGeom>
          <a:solidFill>
            <a:srgbClr val="2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11064240" cy="1097280"/>
          </a:xfrm>
          <a:prstGeom prst="roundRect">
            <a:avLst/>
          </a:prstGeom>
          <a:solidFill>
            <a:srgbClr val="251515"/>
          </a:solidFill>
          <a:ln w="12700">
            <a:solidFill>
              <a:srgbClr val="E8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4D4D"/>
                </a:solidFill>
                <a:latin typeface="Arial"/>
              </a:defRPr>
            </a:pPr>
            <a:r>
              <a:t>核心问题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CE"/>
                </a:solidFill>
                <a:latin typeface="Arial"/>
              </a:defRPr>
            </a:pPr>
            <a:r>
              <a:t>无人机巡飞速度可达 12 m/s (43 km/h)，不减去无人机速度会导致车速估计误差 ±43 km/h；云台偏航旋转会污染像素空间方向分类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17520"/>
            <a:ext cx="3474720" cy="274320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35808"/>
            <a:ext cx="3438144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Arial"/>
              </a:defRPr>
            </a:pPr>
            <a:r>
              <a:t>GPS锚定世界坐标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611880"/>
            <a:ext cx="1097280" cy="1905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94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Arial"/>
              </a:defRPr>
            </a:pPr>
            <a:r>
              <a:t>  首10帧GPS均值建立世界锚点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06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Arial"/>
              </a:defRPr>
            </a:pPr>
            <a:r>
              <a:t>  每帧GPS增量计算位移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617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Arial"/>
              </a:defRPr>
            </a:pPr>
            <a:r>
              <a:t>  东北偏移(米)坐标系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29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Arial"/>
              </a:defRPr>
            </a:pPr>
            <a:r>
              <a:t>  GPS丢失保持上次位移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017520"/>
            <a:ext cx="3474720" cy="274320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3035808"/>
            <a:ext cx="3438144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3200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Arial"/>
              </a:defRPr>
            </a:pPr>
            <a:r>
              <a:t>遥测速度矢量补偿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3611880"/>
            <a:ext cx="1097280" cy="1905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3794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Arial"/>
              </a:defRPr>
            </a:pPr>
            <a:r>
              <a:t>  遥测水平速度分解为vx/vy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206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Arial"/>
              </a:defRPr>
            </a:pPr>
            <a:r>
              <a:t>  减去无人机速度矢量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617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Arial"/>
              </a:defRPr>
            </a:pPr>
            <a:r>
              <a:t>  得到真实地面车速(km/h)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5029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Arial"/>
              </a:defRPr>
            </a:pPr>
            <a:r>
              <a:t>  EMA平滑消除噪声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017520"/>
            <a:ext cx="3474720" cy="274320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65008" y="3035808"/>
            <a:ext cx="3438144" cy="50800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200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7E"/>
                </a:solidFill>
                <a:latin typeface="Arial"/>
              </a:defRPr>
            </a:pPr>
            <a:r>
              <a:t>动态标定模式切换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3611880"/>
            <a:ext cx="1097280" cy="19050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3794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Arial"/>
              </a:defRPr>
            </a:pPr>
            <a:r>
              <a:t>  Nadir模式: |pitch|&gt;80°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206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Arial"/>
              </a:defRPr>
            </a:pPr>
            <a:r>
              <a:t>  简化2D相似变换(GSD)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617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Arial"/>
              </a:defRPr>
            </a:pPr>
            <a:r>
              <a:t>  Oblique模式: 斜视角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5029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Arial"/>
              </a:defRPr>
            </a:pPr>
            <a:r>
              <a:t>  完整透视变换(K*R*t)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AA"/>
                </a:solidFill>
                <a:latin typeface="Arial"/>
              </a:defRPr>
            </a:pPr>
            <a:r>
              <a:t>验证结果: 悬停场景下运动补偿有效 90/100 (前10帧为锚点初始化期) | 巡飞场景下自动降级为像素空间heading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核心技术: 零标注态势感知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2860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CCE"/>
                </a:solidFill>
                <a:latin typeface="Arial"/>
              </a:defRPr>
            </a:pPr>
            <a:r>
              <a:t>数据驱动设计 · 无需人工标注即可输出完整交通态势 · 有标注自动叠加车道级指标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12700"/>
          </a:xfrm>
          <a:prstGeom prst="rect">
            <a:avLst/>
          </a:prstGeom>
          <a:solidFill>
            <a:srgbClr val="2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11064240" cy="91440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CE"/>
                </a:solidFill>
                <a:latin typeface="Arial"/>
              </a:defRPr>
            </a:pPr>
            <a:r>
              <a:t>设计哲学: 不做像素级分割标注、不需要地面标定参考点、不需要车道多边形标注（默认模式）——利用无人机飞行遥测 + 相机内参自动计算像素↔世界坐标映射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34640"/>
            <a:ext cx="5486400" cy="347472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Arial"/>
              </a:defRPr>
            </a:pPr>
            <a:r>
              <a:t>DirectionFlowNode — 始终运行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2999232"/>
            <a:ext cx="1097280" cy="2743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零标注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832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基于轨迹运动方向自动分类，无需任何空间标注: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40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Arial"/>
              </a:defRPr>
            </a:pPr>
            <a:r>
              <a:t>  入口heading = 轨迹前半段运动方向向量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519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Arial"/>
              </a:defRPr>
            </a:pPr>
            <a:r>
              <a:t>  出口heading = 轨迹后半段运动方向向量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634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Arial"/>
              </a:defRPr>
            </a:pPr>
            <a:r>
              <a:t>  方向变化角 = |出口 - 入口| (归一化至 ±180°)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74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Arial"/>
              </a:defRPr>
            </a:pPr>
            <a:r>
              <a:t>  |Δ| ≤ 25° → 直行  |  25°&lt;|Δ|&lt;120° → 左转/右转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864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Arial"/>
              </a:defRPr>
            </a:pPr>
            <a:r>
              <a:t>  |Δ| ≥ 120° → 掉头  |  轨迹&lt;2s → unknown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834640"/>
            <a:ext cx="5303520" cy="347472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971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Arial"/>
              </a:defRPr>
            </a:pPr>
            <a:r>
              <a:t>LaneAnalysisNode — 数据驱动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32720" y="2999232"/>
            <a:ext cx="1097280" cy="27432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D1B2A"/>
                </a:solidFill>
              </a:defRPr>
            </a:pPr>
            <a:r>
              <a:t>自动叠加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383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有标注 + 点位命中时自动输出车道级指标: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Arial"/>
              </a:defRPr>
            </a:pPr>
            <a:r>
              <a:t>  车道多边形 point-in-polygon 分配车辆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251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Arial"/>
              </a:defRPr>
            </a:pPr>
            <a:r>
              <a:t>  车道级流量: 多边形内车辆实时计数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Arial"/>
              </a:defRPr>
            </a:pPr>
            <a:r>
              <a:t>  排队长度: 停止车辆到停车线距离(米)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5074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Arial"/>
              </a:defRPr>
            </a:pPr>
            <a:r>
              <a:t>  车头时距: 同车道连续车辆通过时间差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5486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Arial"/>
              </a:defRPr>
            </a:pPr>
            <a:r>
              <a:t>  无标注数据时自动跳过，无需手动切换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核心技术: 机非冲突检测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2860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CCE"/>
                </a:solidFill>
                <a:latin typeface="Arial"/>
              </a:defRPr>
            </a:pPr>
            <a:r>
              <a:t>TTC碰撞时间 + 空间距离双因子 · 三级告警 · 世界坐标精确定位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12700"/>
          </a:xfrm>
          <a:prstGeom prst="rect">
            <a:avLst/>
          </a:prstGeom>
          <a:solidFill>
            <a:srgbClr val="2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检测算法流程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1371600" cy="25400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4D4D"/>
                </a:solidFill>
                <a:latin typeface="Arial"/>
              </a:defRPr>
            </a:pPr>
            <a: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194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车辆分类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motor: car/bus/truck  |  non_motor: person/bicycle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80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4D4D"/>
                </a:solidFill>
                <a:latin typeface="Arial"/>
              </a:defRPr>
            </a:pPr>
            <a: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880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坐标变换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880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bbox中心 → 单应性矩阵 → 世界坐标(米)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66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4D4D"/>
                </a:solidFill>
                <a:latin typeface="Arial"/>
              </a:defRPr>
            </a:pPr>
            <a: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566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距离计算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566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机动车×非机动车 两两配对，计算世界坐标距离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51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4D4D"/>
                </a:solidFill>
                <a:latin typeface="Arial"/>
              </a:defRPr>
            </a:pPr>
            <a:r>
              <a:t>Step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TTC计算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251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TTC = 距离(m) / 机动车速度(m/s)，速度&gt;0.5m/s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9377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4D4D"/>
                </a:solidFill>
                <a:latin typeface="Arial"/>
              </a:defRPr>
            </a:pPr>
            <a:r>
              <a:t>Step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937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告警分级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937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距离+TTC双因子判定严重级别 (Critical/Warning/Info)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三级告警体系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754880"/>
            <a:ext cx="1371600" cy="25400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937760"/>
            <a:ext cx="63500" cy="365760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9377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4D4D"/>
                </a:solidFill>
                <a:latin typeface="Arial"/>
              </a:defRPr>
            </a:pPr>
            <a:r>
              <a:t>Critical (P1)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4937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TTC &lt; 1.0s  |  距离 &lt; 1.5m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937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BB5"/>
                </a:solidFill>
                <a:latin typeface="Arial"/>
              </a:defRPr>
            </a:pPr>
            <a:r>
              <a:t>极高碰撞风险，需立即干预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440680"/>
            <a:ext cx="63500" cy="36576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4406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726"/>
                </a:solidFill>
                <a:latin typeface="Arial"/>
              </a:defRPr>
            </a:pPr>
            <a:r>
              <a:t>Warning (P2)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40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TTC &lt; 2.0s  |  距离 &lt; 3.0m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4406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BB5"/>
                </a:solidFill>
                <a:latin typeface="Arial"/>
              </a:defRPr>
            </a:pPr>
            <a:r>
              <a:t>显著风险，推送告警通知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943600"/>
            <a:ext cx="63500" cy="365760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943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7E"/>
                </a:solidFill>
                <a:latin typeface="Arial"/>
              </a:defRPr>
            </a:pPr>
            <a:r>
              <a:t>Info (P3)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5943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TTC &lt; 3.0s  |  距离 &lt; 5.0m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943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BB5"/>
                </a:solidFill>
                <a:latin typeface="Arial"/>
              </a:defRPr>
            </a:pPr>
            <a:r>
              <a:t>潜在风险，记录分析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B5"/>
                </a:solidFill>
                <a:latin typeface="Arial"/>
              </a:defRPr>
            </a:pPr>
            <a:r>
              <a:t>去重机制: 同一机动车-非机动车配对 5秒冷却期 | 无标定时自动跳过（避免像素空间误报）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平台与数据闭环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2860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CCE"/>
                </a:solidFill>
                <a:latin typeface="Arial"/>
              </a:defRPr>
            </a:pPr>
            <a:r>
              <a:t>FastAPI单体架构 · 43条API路由 · Kafka实时消费 · WebSocket推送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12700"/>
          </a:xfrm>
          <a:prstGeom prst="rect">
            <a:avLst/>
          </a:prstGeom>
          <a:solidFill>
            <a:srgbClr val="2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3200400" cy="228600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Arial"/>
              </a:defRPr>
            </a:pPr>
            <a:r>
              <a:t>检测管道层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103120"/>
            <a:ext cx="1097280" cy="25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Arial"/>
              </a:defRPr>
            </a:pPr>
            <a:r>
              <a:t>  main_optimized.py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334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Arial"/>
              </a:defRPr>
            </a:pPr>
            <a:r>
              <a:t>  3进程并行处理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8094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Arial"/>
              </a:defRPr>
            </a:pPr>
            <a:r>
              <a:t>  Kafka Producer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2841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Arial"/>
              </a:defRPr>
            </a:pPr>
            <a:r>
              <a:t>  每1秒推送统计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931920" y="2468880"/>
            <a:ext cx="548640" cy="320040"/>
          </a:xfrm>
          <a:prstGeom prst="rightArrow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63440" y="1645920"/>
            <a:ext cx="2926080" cy="228600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1783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Arial"/>
              </a:defRPr>
            </a:pPr>
            <a:r>
              <a:t>Kafka 消息总线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0" y="2103120"/>
            <a:ext cx="109728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2286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Arial"/>
              </a:defRPr>
            </a:pPr>
            <a:r>
              <a:t>statistics_*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2860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5"/>
                </a:solidFill>
                <a:latin typeface="Arial"/>
              </a:defRPr>
            </a:pPr>
            <a:r>
              <a:t>统计指标 (1Hz)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26334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Arial"/>
              </a:defRPr>
            </a:pPr>
            <a:r>
              <a:t>track_complete_*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63347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5"/>
                </a:solidFill>
                <a:latin typeface="Arial"/>
              </a:defRPr>
            </a:pPr>
            <a:r>
              <a:t>完整轨迹 (事件)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29809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Arial"/>
              </a:defRPr>
            </a:pPr>
            <a:r>
              <a:t>conflicts_*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98094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5"/>
                </a:solidFill>
                <a:latin typeface="Arial"/>
              </a:defRPr>
            </a:pPr>
            <a:r>
              <a:t>冲突事件 (事件)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332841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Arial"/>
              </a:defRPr>
            </a:pPr>
            <a:r>
              <a:t>telemetry_*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32841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5"/>
                </a:solidFill>
                <a:latin typeface="Arial"/>
              </a:defRPr>
            </a:pPr>
            <a:r>
              <a:t>无人机遥测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772400" y="2468880"/>
            <a:ext cx="548640" cy="32004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503920" y="1645920"/>
            <a:ext cx="3200400" cy="228600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0" y="1783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7E"/>
                </a:solidFill>
                <a:latin typeface="Arial"/>
              </a:defRPr>
            </a:pPr>
            <a:r>
              <a:t>Web管理平台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78240" y="2103120"/>
            <a:ext cx="1097280" cy="25400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0" y="2286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Arial"/>
              </a:defRPr>
            </a:pPr>
            <a:r>
              <a:t>  FastAPI + Uvicorn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26334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Arial"/>
              </a:defRPr>
            </a:pPr>
            <a:r>
              <a:t>  43 条 REST 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298094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Arial"/>
              </a:defRPr>
            </a:pPr>
            <a:r>
              <a:t>  Kafka Consumer (aiokafka)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332841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Arial"/>
              </a:defRPr>
            </a:pPr>
            <a:r>
              <a:t>  WebSocket Manager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WebSocket 实时推送频道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663440"/>
            <a:ext cx="2651760" cy="82296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6928" y="4681728"/>
            <a:ext cx="50800" cy="78638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7091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Arial"/>
              </a:defRPr>
            </a:pPr>
            <a:r>
              <a:t>intersection:{id}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49834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5"/>
                </a:solidFill>
                <a:latin typeface="Arial"/>
              </a:defRPr>
            </a:pPr>
            <a:r>
              <a:t>实时统计 + 轨迹 + 冲突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83280" y="4663440"/>
            <a:ext cx="2651760" cy="82296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401568" y="4681728"/>
            <a:ext cx="50800" cy="786384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20440" y="47091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4D4D"/>
                </a:solidFill>
                <a:latin typeface="Arial"/>
              </a:defRPr>
            </a:pPr>
            <a:r>
              <a:t>alerts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20440" y="49834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5"/>
                </a:solidFill>
                <a:latin typeface="Arial"/>
              </a:defRPr>
            </a:pPr>
            <a:r>
              <a:t>P1-P3 告警通知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4663440"/>
            <a:ext cx="2651760" cy="82296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36208" y="4681728"/>
            <a:ext cx="50800" cy="786384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47091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7E"/>
                </a:solidFill>
                <a:latin typeface="Arial"/>
              </a:defRPr>
            </a:pPr>
            <a:r>
              <a:t>system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49834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5"/>
                </a:solidFill>
                <a:latin typeface="Arial"/>
              </a:defRPr>
            </a:pPr>
            <a:r>
              <a:t>系统指标 + 管道状态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052560" y="4663440"/>
            <a:ext cx="2651760" cy="82296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070848" y="4681728"/>
            <a:ext cx="50800" cy="78638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89720" y="47091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AA"/>
                </a:solidFill>
                <a:latin typeface="Arial"/>
              </a:defRPr>
            </a:pPr>
            <a:r>
              <a:t>telemetry:{drone_id}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89720" y="49834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5"/>
                </a:solidFill>
                <a:latin typeface="Arial"/>
              </a:defRPr>
            </a:pPr>
            <a:r>
              <a:t>无人机实时遥测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48640" y="5669280"/>
            <a:ext cx="2560320" cy="64008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5800" y="5715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  <a:latin typeface="Arial"/>
              </a:defRPr>
            </a:pPr>
            <a:r>
              <a:t>PostgreSQL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5989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5"/>
                </a:solidFill>
                <a:latin typeface="Arial"/>
              </a:defRPr>
            </a:pPr>
            <a:r>
              <a:t>用户·任务·配置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383280" y="5669280"/>
            <a:ext cx="2560320" cy="64008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520440" y="5715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  <a:latin typeface="Arial"/>
              </a:defRPr>
            </a:pPr>
            <a:r>
              <a:t>InfluxDB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20440" y="5989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5"/>
                </a:solidFill>
                <a:latin typeface="Arial"/>
              </a:defRPr>
            </a:pPr>
            <a:r>
              <a:t>时序指标·轨迹事件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17920" y="5669280"/>
            <a:ext cx="2560320" cy="64008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55080" y="5715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  <a:latin typeface="Arial"/>
              </a:defRPr>
            </a:pPr>
            <a:r>
              <a:t>Kafka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55080" y="5989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5"/>
                </a:solidFill>
                <a:latin typeface="Arial"/>
              </a:defRPr>
            </a:pPr>
            <a:r>
              <a:t>消息队列·解耦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052560" y="5669280"/>
            <a:ext cx="2560320" cy="64008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89720" y="5715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  <a:latin typeface="Arial"/>
              </a:defRPr>
            </a:pPr>
            <a:r>
              <a:t>Grafana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9720" y="5989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5"/>
                </a:solidFill>
                <a:latin typeface="Arial"/>
              </a:defRPr>
            </a:pPr>
            <a:r>
              <a:t>可视化看板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验证成果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2860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CCE"/>
                </a:solidFill>
                <a:latin typeface="Arial"/>
              </a:defRPr>
            </a:pPr>
            <a:r>
              <a:t>端到端测试 · DJI M300 4K实拍视频 · 16.5分钟路口数据 · 49项检查全部通过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12700"/>
          </a:xfrm>
          <a:prstGeom prst="rect">
            <a:avLst/>
          </a:prstGeom>
          <a:solidFill>
            <a:srgbClr val="2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2926080" cy="228600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47E"/>
                </a:solidFill>
                <a:latin typeface="Arial"/>
              </a:defRPr>
            </a:pPr>
            <a:r>
              <a:t>49 / 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PASS  |  0 FAIL  |  0 WARN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063240"/>
            <a:ext cx="1097280" cy="25400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A9BB5"/>
                </a:solidFill>
                <a:latin typeface="Arial"/>
              </a:defRPr>
            </a:pPr>
            <a:r>
              <a:t>端到端测试通过率 100%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1645920"/>
            <a:ext cx="3931920" cy="228600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0" y="17830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Arial"/>
              </a:defRPr>
            </a:pPr>
            <a:r>
              <a:t>测试资产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2103120"/>
            <a:ext cx="914400" cy="25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0" y="22860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Arial"/>
              </a:defRPr>
            </a:pPr>
            <a:r>
              <a:t>视频源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2860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Arial"/>
              </a:defRPr>
            </a:pPr>
            <a:r>
              <a:t>DJI M300 4K@30fps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25877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Arial"/>
              </a:defRPr>
            </a:pPr>
            <a:r>
              <a:t>时长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5877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Arial"/>
              </a:defRPr>
            </a:pPr>
            <a:r>
              <a:t>16.5分钟 (29,700帧)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288950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Arial"/>
              </a:defRPr>
            </a:pPr>
            <a:r>
              <a:t>遥测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88950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Arial"/>
              </a:defRPr>
            </a:pPr>
            <a:r>
              <a:t>SRT字幕 29,741条记录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319125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Arial"/>
              </a:defRPr>
            </a:pPr>
            <a:r>
              <a:t>路口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319125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Arial"/>
              </a:defRPr>
            </a:pPr>
            <a:r>
              <a:t>小清河北路与水屯路路口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349300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Arial"/>
              </a:defRPr>
            </a:pPr>
            <a:r>
              <a:t>分辨率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349300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Arial"/>
              </a:defRPr>
            </a:pPr>
            <a:r>
              <a:t>3840 × 2160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79" y="1645920"/>
            <a:ext cx="3657600" cy="228600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1783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Arial"/>
              </a:defRPr>
            </a:pPr>
            <a:r>
              <a:t>核心指标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2103120"/>
            <a:ext cx="91440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2286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AA"/>
                </a:solidFill>
                <a:latin typeface="Arial"/>
              </a:defRPr>
            </a:pPr>
            <a:r>
              <a:t>检测率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2286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Arial"/>
              </a:defRPr>
            </a:pPr>
            <a:r>
              <a:t>100% (100/100帧)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5877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AA"/>
                </a:solidFill>
                <a:latin typeface="Arial"/>
              </a:defRPr>
            </a:pPr>
            <a:r>
              <a:t>遥测注入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25877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Arial"/>
              </a:defRPr>
            </a:pPr>
            <a:r>
              <a:t>100% (100/100帧)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8895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AA"/>
                </a:solidFill>
                <a:latin typeface="Arial"/>
              </a:defRPr>
            </a:pPr>
            <a:r>
              <a:t>H矩阵有效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28895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Arial"/>
              </a:defRPr>
            </a:pPr>
            <a:r>
              <a:t>100% (100/100)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19125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AA"/>
                </a:solidFill>
                <a:latin typeface="Arial"/>
              </a:defRPr>
            </a:pPr>
            <a:r>
              <a:t>累计检测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31912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Arial"/>
              </a:defRPr>
            </a:pPr>
            <a:r>
              <a:t>8,051 目标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34930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AA"/>
                </a:solidFill>
                <a:latin typeface="Arial"/>
              </a:defRPr>
            </a:pPr>
            <a:r>
              <a:t>活跃轨迹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34930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Arial"/>
              </a:defRPr>
            </a:pPr>
            <a:r>
              <a:t>86 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206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测试阶段明细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4663440"/>
            <a:ext cx="1737360" cy="146304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7548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A9BB5"/>
                </a:solidFill>
                <a:latin typeface="Arial"/>
              </a:defRPr>
            </a:pPr>
            <a:r>
              <a:t>Phase 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0292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SRT遥测解析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3949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47E"/>
                </a:solidFill>
                <a:latin typeface="Arial"/>
              </a:defRPr>
            </a:pPr>
            <a:r>
              <a:t>7/7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423160" y="4663440"/>
            <a:ext cx="1737360" cy="146304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14600" y="47548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A9BB5"/>
                </a:solidFill>
                <a:latin typeface="Arial"/>
              </a:defRPr>
            </a:pPr>
            <a:r>
              <a:t>Phase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14600" y="50292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视频读取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14600" y="53949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47E"/>
                </a:solidFill>
                <a:latin typeface="Arial"/>
              </a:defRPr>
            </a:pPr>
            <a:r>
              <a:t>6/6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97680" y="4663440"/>
            <a:ext cx="1737360" cy="146304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89120" y="47548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A9BB5"/>
                </a:solidFill>
                <a:latin typeface="Arial"/>
              </a:defRPr>
            </a:pPr>
            <a:r>
              <a:t>Phase 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9120" y="50292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节点实例化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89120" y="53949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47E"/>
                </a:solidFill>
                <a:latin typeface="Arial"/>
              </a:defRPr>
            </a:pPr>
            <a:r>
              <a:t>8/8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72200" y="4663440"/>
            <a:ext cx="1737360" cy="146304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63640" y="47548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A9BB5"/>
                </a:solidFill>
                <a:latin typeface="Arial"/>
              </a:defRPr>
            </a:pPr>
            <a:r>
              <a:t>Phase 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50292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H矩阵+运动补偿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53949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47E"/>
                </a:solidFill>
                <a:latin typeface="Arial"/>
              </a:defRPr>
            </a:pPr>
            <a:r>
              <a:t>14/14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46720" y="4663440"/>
            <a:ext cx="1737360" cy="146304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38160" y="47548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A9BB5"/>
                </a:solidFill>
                <a:latin typeface="Arial"/>
              </a:defRPr>
            </a:pPr>
            <a:r>
              <a:t>Phase 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50292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VideoReader集成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38160" y="53949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47E"/>
                </a:solidFill>
                <a:latin typeface="Arial"/>
              </a:defRPr>
            </a:pPr>
            <a:r>
              <a:t>6/6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921240" y="4663440"/>
            <a:ext cx="1737360" cy="146304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12680" y="47548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A9BB5"/>
                </a:solidFill>
                <a:latin typeface="Arial"/>
              </a:defRPr>
            </a:pPr>
            <a:r>
              <a:t>Phase 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12680" y="50292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完整管道(100帧)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12680" y="53949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47E"/>
                </a:solidFill>
                <a:latin typeface="Arial"/>
              </a:defRPr>
            </a:pPr>
            <a:r>
              <a:t>8/8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6309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B5"/>
                </a:solidFill>
                <a:latin typeface="Arial"/>
              </a:defRPr>
            </a:pPr>
            <a:r>
              <a:t>处理速度: CPU 2fps@4K  |  GPU ~25fps@4K (预计)  |  方向统计: 5类 (straight/left/right/u-turn/unknown)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竞品对比与差异化优势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2860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CCE"/>
                </a:solidFill>
                <a:latin typeface="Arial"/>
              </a:defRPr>
            </a:pPr>
            <a:r>
              <a:t>与传统固定摄像头方案及同类产品的核心差异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12700"/>
          </a:xfrm>
          <a:prstGeom prst="rect">
            <a:avLst/>
          </a:prstGeom>
          <a:solidFill>
            <a:srgbClr val="2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2011680" cy="457200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对比维度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1645920"/>
            <a:ext cx="3200400" cy="457200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691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AA"/>
                </a:solidFill>
                <a:latin typeface="Arial"/>
              </a:defRPr>
            </a:pPr>
            <a:r>
              <a:t>本方案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1645920"/>
            <a:ext cx="2743200" cy="457200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1691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传统固定摄像头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1645920"/>
            <a:ext cx="2743200" cy="457200"/>
          </a:xfrm>
          <a:prstGeom prst="rect">
            <a:avLst/>
          </a:prstGeom>
          <a:solidFill>
            <a:srgbClr val="10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1691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同类无人机方案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148840"/>
            <a:ext cx="2011680" cy="475488"/>
          </a:xfrm>
          <a:prstGeom prst="rect">
            <a:avLst/>
          </a:prstGeom>
          <a:solidFill>
            <a:srgbClr val="12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2219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覆盖范围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0" y="2148840"/>
            <a:ext cx="3200400" cy="475488"/>
          </a:xfrm>
          <a:prstGeom prst="rect">
            <a:avLst/>
          </a:prstGeom>
          <a:solidFill>
            <a:srgbClr val="12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0" y="222199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7E"/>
                </a:solidFill>
                <a:latin typeface="Arial"/>
              </a:defRPr>
            </a:pPr>
            <a:r>
              <a:t>动态巡飞，单架次多路口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2148840"/>
            <a:ext cx="2743200" cy="475488"/>
          </a:xfrm>
          <a:prstGeom prst="rect">
            <a:avLst/>
          </a:prstGeom>
          <a:solidFill>
            <a:srgbClr val="12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22219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9BB5"/>
                </a:solidFill>
                <a:latin typeface="Arial"/>
              </a:defRPr>
            </a:pPr>
            <a:r>
              <a:t>固定视角，死角多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2148840"/>
            <a:ext cx="2743200" cy="475488"/>
          </a:xfrm>
          <a:prstGeom prst="rect">
            <a:avLst/>
          </a:prstGeom>
          <a:solidFill>
            <a:srgbClr val="12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0" y="22219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9BB5"/>
                </a:solidFill>
                <a:latin typeface="Arial"/>
              </a:defRPr>
            </a:pPr>
            <a:r>
              <a:t>需人工遥控切换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651760"/>
            <a:ext cx="2011680" cy="475488"/>
          </a:xfrm>
          <a:prstGeom prst="rect">
            <a:avLst/>
          </a:prstGeom>
          <a:solidFill>
            <a:srgbClr val="0F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7249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指标维度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0" y="2651760"/>
            <a:ext cx="3200400" cy="475488"/>
          </a:xfrm>
          <a:prstGeom prst="rect">
            <a:avLst/>
          </a:prstGeom>
          <a:solidFill>
            <a:srgbClr val="0F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272491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7E"/>
                </a:solidFill>
                <a:latin typeface="Arial"/>
              </a:defRPr>
            </a:pPr>
            <a:r>
              <a:t>5大维度全量态势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0" y="2651760"/>
            <a:ext cx="2743200" cy="475488"/>
          </a:xfrm>
          <a:prstGeom prst="rect">
            <a:avLst/>
          </a:prstGeom>
          <a:solidFill>
            <a:srgbClr val="0F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160" y="27249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9BB5"/>
                </a:solidFill>
                <a:latin typeface="Arial"/>
              </a:defRPr>
            </a:pPr>
            <a:r>
              <a:t>仅车辆计数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03920" y="2651760"/>
            <a:ext cx="2743200" cy="475488"/>
          </a:xfrm>
          <a:prstGeom prst="rect">
            <a:avLst/>
          </a:prstGeom>
          <a:solidFill>
            <a:srgbClr val="0F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0" y="27249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9BB5"/>
                </a:solidFill>
                <a:latin typeface="Arial"/>
              </a:defRPr>
            </a:pPr>
            <a:r>
              <a:t>基础检测，无态势分析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154680"/>
            <a:ext cx="2011680" cy="475488"/>
          </a:xfrm>
          <a:prstGeom prst="rect">
            <a:avLst/>
          </a:prstGeom>
          <a:solidFill>
            <a:srgbClr val="12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2278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车道级精度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60320" y="3154680"/>
            <a:ext cx="3200400" cy="475488"/>
          </a:xfrm>
          <a:prstGeom prst="rect">
            <a:avLst/>
          </a:prstGeom>
          <a:solidFill>
            <a:srgbClr val="12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0" y="322783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7E"/>
                </a:solidFill>
                <a:latin typeface="Arial"/>
              </a:defRPr>
            </a:pPr>
            <a:r>
              <a:t>悬停模式车道级分析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720" y="3154680"/>
            <a:ext cx="2743200" cy="475488"/>
          </a:xfrm>
          <a:prstGeom prst="rect">
            <a:avLst/>
          </a:prstGeom>
          <a:solidFill>
            <a:srgbClr val="12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52160" y="322783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9BB5"/>
                </a:solidFill>
                <a:latin typeface="Arial"/>
              </a:defRPr>
            </a:pPr>
            <a:r>
              <a:t>需逐车道布摄像头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03920" y="3154680"/>
            <a:ext cx="2743200" cy="475488"/>
          </a:xfrm>
          <a:prstGeom prst="rect">
            <a:avLst/>
          </a:prstGeom>
          <a:solidFill>
            <a:srgbClr val="12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95360" y="322783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9BB5"/>
                </a:solidFill>
                <a:latin typeface="Arial"/>
              </a:defRPr>
            </a:pPr>
            <a:r>
              <a:t>无车道级能力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657600"/>
            <a:ext cx="2011680" cy="475488"/>
          </a:xfrm>
          <a:prstGeom prst="rect">
            <a:avLst/>
          </a:prstGeom>
          <a:solidFill>
            <a:srgbClr val="0F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37307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运动补偿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60320" y="3657600"/>
            <a:ext cx="3200400" cy="475488"/>
          </a:xfrm>
          <a:prstGeom prst="rect">
            <a:avLst/>
          </a:prstGeom>
          <a:solidFill>
            <a:srgbClr val="0F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51760" y="373075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7E"/>
                </a:solidFill>
                <a:latin typeface="Arial"/>
              </a:defRPr>
            </a:pPr>
            <a:r>
              <a:t>GPS锚定+遥测速度补偿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60720" y="3657600"/>
            <a:ext cx="2743200" cy="475488"/>
          </a:xfrm>
          <a:prstGeom prst="rect">
            <a:avLst/>
          </a:prstGeom>
          <a:solidFill>
            <a:srgbClr val="0F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52160" y="37307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9BB5"/>
                </a:solidFill>
                <a:latin typeface="Arial"/>
              </a:defRPr>
            </a:pPr>
            <a:r>
              <a:t>无需（静态）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03920" y="3657600"/>
            <a:ext cx="2743200" cy="475488"/>
          </a:xfrm>
          <a:prstGeom prst="rect">
            <a:avLst/>
          </a:prstGeom>
          <a:solidFill>
            <a:srgbClr val="0F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95360" y="37307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9BB5"/>
                </a:solidFill>
                <a:latin typeface="Arial"/>
              </a:defRPr>
            </a:pPr>
            <a:r>
              <a:t>多数无补偿，测速失真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160520"/>
            <a:ext cx="2011680" cy="475488"/>
          </a:xfrm>
          <a:prstGeom prst="rect">
            <a:avLst/>
          </a:prstGeom>
          <a:solidFill>
            <a:srgbClr val="12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42336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标注需求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60320" y="4160520"/>
            <a:ext cx="3200400" cy="475488"/>
          </a:xfrm>
          <a:prstGeom prst="rect">
            <a:avLst/>
          </a:prstGeom>
          <a:solidFill>
            <a:srgbClr val="12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51760" y="423367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7E"/>
                </a:solidFill>
                <a:latin typeface="Arial"/>
              </a:defRPr>
            </a:pPr>
            <a:r>
              <a:t>零标注(巡飞)/可选标注(悬停)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760720" y="4160520"/>
            <a:ext cx="2743200" cy="475488"/>
          </a:xfrm>
          <a:prstGeom prst="rect">
            <a:avLst/>
          </a:prstGeom>
          <a:solidFill>
            <a:srgbClr val="12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52160" y="42336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9BB5"/>
                </a:solidFill>
                <a:latin typeface="Arial"/>
              </a:defRPr>
            </a:pPr>
            <a:r>
              <a:t>需预标定区域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03920" y="4160520"/>
            <a:ext cx="2743200" cy="475488"/>
          </a:xfrm>
          <a:prstGeom prst="rect">
            <a:avLst/>
          </a:prstGeom>
          <a:solidFill>
            <a:srgbClr val="12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95360" y="42336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9BB5"/>
                </a:solidFill>
                <a:latin typeface="Arial"/>
              </a:defRPr>
            </a:pPr>
            <a:r>
              <a:t>需地面参考点标定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4663440"/>
            <a:ext cx="2011680" cy="475488"/>
          </a:xfrm>
          <a:prstGeom prst="rect">
            <a:avLst/>
          </a:prstGeom>
          <a:solidFill>
            <a:srgbClr val="0F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" y="47365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冲突检测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560320" y="4663440"/>
            <a:ext cx="3200400" cy="475488"/>
          </a:xfrm>
          <a:prstGeom prst="rect">
            <a:avLst/>
          </a:prstGeom>
          <a:solidFill>
            <a:srgbClr val="0F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51760" y="473659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7E"/>
                </a:solidFill>
                <a:latin typeface="Arial"/>
              </a:defRPr>
            </a:pPr>
            <a:r>
              <a:t>TTC+距离 三级告警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760720" y="4663440"/>
            <a:ext cx="2743200" cy="475488"/>
          </a:xfrm>
          <a:prstGeom prst="rect">
            <a:avLst/>
          </a:prstGeom>
          <a:solidFill>
            <a:srgbClr val="0F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852160" y="47365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9BB5"/>
                </a:solidFill>
                <a:latin typeface="Arial"/>
              </a:defRPr>
            </a:pPr>
            <a:r>
              <a:t>无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503920" y="4663440"/>
            <a:ext cx="2743200" cy="475488"/>
          </a:xfrm>
          <a:prstGeom prst="rect">
            <a:avLst/>
          </a:prstGeom>
          <a:solidFill>
            <a:srgbClr val="0F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95360" y="47365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9BB5"/>
                </a:solidFill>
                <a:latin typeface="Arial"/>
              </a:defRPr>
            </a:pPr>
            <a:r>
              <a:t>少数有，多为像素级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640" y="5166360"/>
            <a:ext cx="2011680" cy="475488"/>
          </a:xfrm>
          <a:prstGeom prst="rect">
            <a:avLst/>
          </a:prstGeom>
          <a:solidFill>
            <a:srgbClr val="12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080" y="52395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部署成本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560320" y="5166360"/>
            <a:ext cx="3200400" cy="475488"/>
          </a:xfrm>
          <a:prstGeom prst="rect">
            <a:avLst/>
          </a:prstGeom>
          <a:solidFill>
            <a:srgbClr val="12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651760" y="523951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7E"/>
                </a:solidFill>
                <a:latin typeface="Arial"/>
              </a:defRPr>
            </a:pPr>
            <a:r>
              <a:t>单架次覆盖多路口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760720" y="5166360"/>
            <a:ext cx="2743200" cy="475488"/>
          </a:xfrm>
          <a:prstGeom prst="rect">
            <a:avLst/>
          </a:prstGeom>
          <a:solidFill>
            <a:srgbClr val="12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852160" y="52395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9BB5"/>
                </a:solidFill>
                <a:latin typeface="Arial"/>
              </a:defRPr>
            </a:pPr>
            <a:r>
              <a:t>逐路口逐车道部署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503920" y="5166360"/>
            <a:ext cx="2743200" cy="475488"/>
          </a:xfrm>
          <a:prstGeom prst="rect">
            <a:avLst/>
          </a:prstGeom>
          <a:solidFill>
            <a:srgbClr val="12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595360" y="52395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9BB5"/>
                </a:solidFill>
                <a:latin typeface="Arial"/>
              </a:defRPr>
            </a:pPr>
            <a:r>
              <a:t>需频繁人工操控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8640" y="5669280"/>
            <a:ext cx="2011680" cy="475488"/>
          </a:xfrm>
          <a:prstGeom prst="rect">
            <a:avLst/>
          </a:prstGeom>
          <a:solidFill>
            <a:srgbClr val="0F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0080" y="57424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数据链路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560320" y="5669280"/>
            <a:ext cx="3200400" cy="475488"/>
          </a:xfrm>
          <a:prstGeom prst="rect">
            <a:avLst/>
          </a:prstGeom>
          <a:solidFill>
            <a:srgbClr val="0F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651760" y="574243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7E"/>
                </a:solidFill>
                <a:latin typeface="Arial"/>
              </a:defRPr>
            </a:pPr>
            <a:r>
              <a:t>Kafka→InfluxDB→Grafana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760720" y="5669280"/>
            <a:ext cx="2743200" cy="475488"/>
          </a:xfrm>
          <a:prstGeom prst="rect">
            <a:avLst/>
          </a:prstGeom>
          <a:solidFill>
            <a:srgbClr val="0F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852160" y="574243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9BB5"/>
                </a:solidFill>
                <a:latin typeface="Arial"/>
              </a:defRPr>
            </a:pPr>
            <a:r>
              <a:t>厂商封闭协议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503920" y="5669280"/>
            <a:ext cx="2743200" cy="475488"/>
          </a:xfrm>
          <a:prstGeom prst="rect">
            <a:avLst/>
          </a:prstGeom>
          <a:solidFill>
            <a:srgbClr val="0F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595360" y="574243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9BB5"/>
                </a:solidFill>
                <a:latin typeface="Arial"/>
              </a:defRPr>
            </a:pPr>
            <a:r>
              <a:t>部分支持开放接口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部署方案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2860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CCE"/>
                </a:solidFill>
                <a:latin typeface="Arial"/>
              </a:defRPr>
            </a:pPr>
            <a:r>
              <a:t>Docker Compose 一键部署 · 支持 GPU/CPU 自适应 · 灵活扩展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12700"/>
          </a:xfrm>
          <a:prstGeom prst="rect">
            <a:avLst/>
          </a:prstGeom>
          <a:solidFill>
            <a:srgbClr val="2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3474720" cy="292608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64208"/>
            <a:ext cx="3438144" cy="635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Arial"/>
              </a:defRPr>
            </a:pPr>
            <a:r>
              <a:t>单机开发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B5"/>
                </a:solidFill>
                <a:latin typeface="Arial"/>
              </a:defRPr>
            </a:pPr>
            <a:r>
              <a:t>本地Python环境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514600"/>
            <a:ext cx="1097280" cy="1905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  pip install 依赖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81527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  python scripts/run_local.py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465575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  访问 localhost:8000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4962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  适合开发调试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645920"/>
            <a:ext cx="3474720" cy="292608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15968" y="1664208"/>
            <a:ext cx="3438144" cy="635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Arial"/>
              </a:defRPr>
            </a:pPr>
            <a:r>
              <a:t>Docker Compose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194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B5"/>
                </a:solidFill>
                <a:latin typeface="Arial"/>
              </a:defRPr>
            </a:pPr>
            <a:r>
              <a:t>全栈容器化（推荐）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0" y="2514600"/>
            <a:ext cx="1097280" cy="1905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2697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  docker compose up -d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081527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  Kafka + InfluxDB + Grafana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465575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  Platform + PostgreSQL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84962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  Nginx 反向代理聚合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1645920"/>
            <a:ext cx="3474720" cy="292608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65008" y="1664208"/>
            <a:ext cx="3438144" cy="63500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7E"/>
                </a:solidFill>
                <a:latin typeface="Arial"/>
              </a:defRPr>
            </a:pPr>
            <a:r>
              <a:t>生产扩展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194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B5"/>
                </a:solidFill>
                <a:latin typeface="Arial"/>
              </a:defRPr>
            </a:pPr>
            <a:r>
              <a:t>多摄像头 + 多无人机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2514600"/>
            <a:ext cx="1097280" cy="19050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2697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  每摄像头独立容器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081527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  Kafka topic自动路由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465575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  Telegraf多消费者采集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84962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Arial"/>
              </a:defRPr>
            </a:pPr>
            <a:r>
              <a:t>  Grafana独立看板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846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Docker Compose 服务清单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212080"/>
            <a:ext cx="1051560" cy="82296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5230368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6D6"/>
                </a:solidFill>
                <a:latin typeface="Arial"/>
              </a:defRPr>
            </a:pPr>
            <a:r>
              <a:t>Zookeeper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5504688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A9BB5"/>
                </a:solidFill>
                <a:latin typeface="Arial"/>
              </a:defRPr>
            </a:pPr>
            <a:r>
              <a:t>:2181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673352" y="5212080"/>
            <a:ext cx="1051560" cy="82296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719072" y="5230368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6D6"/>
                </a:solidFill>
                <a:latin typeface="Arial"/>
              </a:defRPr>
            </a:pPr>
            <a:r>
              <a:t>Kafka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19072" y="5504688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A9BB5"/>
                </a:solidFill>
                <a:latin typeface="Arial"/>
              </a:defRPr>
            </a:pPr>
            <a:r>
              <a:t>:9092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98064" y="5212080"/>
            <a:ext cx="1051560" cy="82296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43784" y="5230368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6D6"/>
                </a:solidFill>
                <a:latin typeface="Arial"/>
              </a:defRPr>
            </a:pPr>
            <a:r>
              <a:t>Kafka-UI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43784" y="5504688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A9BB5"/>
                </a:solidFill>
                <a:latin typeface="Arial"/>
              </a:defRPr>
            </a:pPr>
            <a:r>
              <a:t>管理界面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922776" y="5212080"/>
            <a:ext cx="1051560" cy="82296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68496" y="5230368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6D6"/>
                </a:solidFill>
                <a:latin typeface="Arial"/>
              </a:defRPr>
            </a:pPr>
            <a:r>
              <a:t>InfluxDB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68496" y="5504688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A9BB5"/>
                </a:solidFill>
                <a:latin typeface="Arial"/>
              </a:defRPr>
            </a:pPr>
            <a:r>
              <a:t>:8087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47488" y="5212080"/>
            <a:ext cx="1051560" cy="82296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93208" y="5230368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6D6"/>
                </a:solidFill>
                <a:latin typeface="Arial"/>
              </a:defRPr>
            </a:pPr>
            <a:r>
              <a:t>Telegraf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93208" y="5504688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A9BB5"/>
                </a:solidFill>
                <a:latin typeface="Arial"/>
              </a:defRPr>
            </a:pPr>
            <a:r>
              <a:t>数据采集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72200" y="5212080"/>
            <a:ext cx="1051560" cy="82296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17920" y="5230368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6D6"/>
                </a:solidFill>
                <a:latin typeface="Arial"/>
              </a:defRPr>
            </a:pPr>
            <a:r>
              <a:t>Grafana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0" y="5504688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A9BB5"/>
                </a:solidFill>
                <a:latin typeface="Arial"/>
              </a:defRPr>
            </a:pPr>
            <a:r>
              <a:t>:3111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296912" y="5212080"/>
            <a:ext cx="1051560" cy="82296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42632" y="5230368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6D6"/>
                </a:solidFill>
                <a:latin typeface="Arial"/>
              </a:defRPr>
            </a:pPr>
            <a:r>
              <a:t>Nginx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42632" y="5504688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A9BB5"/>
                </a:solidFill>
                <a:latin typeface="Arial"/>
              </a:defRPr>
            </a:pPr>
            <a:r>
              <a:t>:8009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421624" y="5212080"/>
            <a:ext cx="1051560" cy="82296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67344" y="5230368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6D6"/>
                </a:solidFill>
                <a:latin typeface="Arial"/>
              </a:defRPr>
            </a:pPr>
            <a:r>
              <a:t>Platform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67344" y="5504688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A9BB5"/>
                </a:solidFill>
                <a:latin typeface="Arial"/>
              </a:defRPr>
            </a:pPr>
            <a:r>
              <a:t>:8000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546336" y="5212080"/>
            <a:ext cx="1051560" cy="82296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592056" y="5230368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6D6"/>
                </a:solidFill>
                <a:latin typeface="Arial"/>
              </a:defRPr>
            </a:pPr>
            <a:r>
              <a:t>PostgreSQL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92056" y="5504688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A9BB5"/>
                </a:solidFill>
                <a:latin typeface="Arial"/>
              </a:defRPr>
            </a:pPr>
            <a:r>
              <a:t>:5432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671048" y="5212080"/>
            <a:ext cx="1051560" cy="82296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716768" y="5230368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6D6"/>
                </a:solidFill>
                <a:latin typeface="Arial"/>
              </a:defRPr>
            </a:pPr>
            <a:r>
              <a:t>Camera_N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716768" y="5504688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A9BB5"/>
                </a:solidFill>
                <a:latin typeface="Arial"/>
              </a:defRPr>
            </a:pPr>
            <a:r>
              <a:t>检测管道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实施路线图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2860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CCE"/>
                </a:solidFill>
                <a:latin typeface="Arial"/>
              </a:defRPr>
            </a:pPr>
            <a:r>
              <a:t>分阶段交付 · 12周完成全量能力 · Phase 1 已验证通过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12700"/>
          </a:xfrm>
          <a:prstGeom prst="rect">
            <a:avLst/>
          </a:prstGeom>
          <a:solidFill>
            <a:srgbClr val="2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1737360" cy="411480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64208"/>
            <a:ext cx="1700784" cy="63500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80160" y="1783080"/>
            <a:ext cx="822960" cy="228600"/>
          </a:xfrm>
          <a:prstGeom prst="round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已完成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7E"/>
                </a:solidFill>
                <a:latin typeface="Arial"/>
              </a:defRPr>
            </a:pPr>
            <a:r>
              <a:t>Phase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基础架构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231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5"/>
                </a:solidFill>
                <a:latin typeface="Arial"/>
              </a:defRPr>
            </a:pPr>
            <a:r>
              <a:t>Week 1-2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43200"/>
            <a:ext cx="1188720" cy="19050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9260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Arial"/>
              </a:defRPr>
            </a:pPr>
            <a:r>
              <a:t>  数据模型扩展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4747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Arial"/>
              </a:defRPr>
            </a:pPr>
            <a:r>
              <a:t>  单应性标定模块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23359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Arial"/>
              </a:defRPr>
            </a:pPr>
            <a:r>
              <a:t>  遥测数据接入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571999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Arial"/>
              </a:defRPr>
            </a:pPr>
            <a:r>
              <a:t>  配置系统就绪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95728" y="1645920"/>
            <a:ext cx="1737360" cy="411480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14016" y="1664208"/>
            <a:ext cx="1700784" cy="63500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127248" y="1783080"/>
            <a:ext cx="822960" cy="228600"/>
          </a:xfrm>
          <a:prstGeom prst="round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已完成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87168" y="1737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7E"/>
                </a:solidFill>
                <a:latin typeface="Arial"/>
              </a:defRPr>
            </a:pPr>
            <a:r>
              <a:t>Phase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87168" y="21031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车速估计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87168" y="24231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5"/>
                </a:solidFill>
                <a:latin typeface="Arial"/>
              </a:defRPr>
            </a:pPr>
            <a:r>
              <a:t>Week 3-4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7168" y="2743200"/>
            <a:ext cx="1188720" cy="19050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87168" y="29260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Arial"/>
              </a:defRPr>
            </a:pPr>
            <a:r>
              <a:t>  透视变换测速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87168" y="34747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Arial"/>
              </a:defRPr>
            </a:pPr>
            <a:r>
              <a:t>  无人机运动补偿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87168" y="4023359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Arial"/>
              </a:defRPr>
            </a:pPr>
            <a:r>
              <a:t>  EMA平滑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87168" y="4571999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Arial"/>
              </a:defRPr>
            </a:pPr>
            <a:r>
              <a:t>  Kafka车速字段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42816" y="1645920"/>
            <a:ext cx="1737360" cy="411480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61104" y="1664208"/>
            <a:ext cx="1700784" cy="635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974336" y="1783080"/>
            <a:ext cx="822960" cy="22860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进行中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34256" y="1737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Arial"/>
              </a:defRPr>
            </a:pPr>
            <a:r>
              <a:t>Phase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34256" y="21031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态势分析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34256" y="24231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5"/>
                </a:solidFill>
                <a:latin typeface="Arial"/>
              </a:defRPr>
            </a:pPr>
            <a:r>
              <a:t>Week 5-6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34256" y="2743200"/>
            <a:ext cx="1188720" cy="1905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34256" y="29260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Arial"/>
              </a:defRPr>
            </a:pPr>
            <a:r>
              <a:t>  方向流量分类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34256" y="34747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Arial"/>
              </a:defRPr>
            </a:pPr>
            <a:r>
              <a:t>  车道级增强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34256" y="4023359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Arial"/>
              </a:defRPr>
            </a:pPr>
            <a:r>
              <a:t>  排队检测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34256" y="4571999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Arial"/>
              </a:defRPr>
            </a:pPr>
            <a:r>
              <a:t>  车头时距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89904" y="1645920"/>
            <a:ext cx="1737360" cy="411480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08192" y="1664208"/>
            <a:ext cx="1700784" cy="635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821424" y="1783080"/>
            <a:ext cx="822960" cy="228600"/>
          </a:xfrm>
          <a:prstGeom prst="roundRect">
            <a:avLst/>
          </a:prstGeom>
          <a:solidFill>
            <a:srgbClr val="8A9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待实施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81344" y="1737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Arial"/>
              </a:defRPr>
            </a:pPr>
            <a:r>
              <a:t>Phase 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81344" y="21031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轨迹还原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81344" y="24231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5"/>
                </a:solidFill>
                <a:latin typeface="Arial"/>
              </a:defRPr>
            </a:pPr>
            <a:r>
              <a:t>Week 7-8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81344" y="2743200"/>
            <a:ext cx="1188720" cy="1905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81344" y="29260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Arial"/>
              </a:defRPr>
            </a:pPr>
            <a:r>
              <a:t>  世界坐标轨迹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81344" y="34747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Arial"/>
              </a:defRPr>
            </a:pPr>
            <a:r>
              <a:t>  转向行为分类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81344" y="4023359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Arial"/>
              </a:defRPr>
            </a:pPr>
            <a:r>
              <a:t>  轨迹可视化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81344" y="4571999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Arial"/>
              </a:defRPr>
            </a:pPr>
            <a:r>
              <a:t>  InfluxDB存储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936992" y="1645920"/>
            <a:ext cx="1737360" cy="411480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955280" y="1664208"/>
            <a:ext cx="1700784" cy="63500"/>
          </a:xfrm>
          <a:prstGeom prst="rect">
            <a:avLst/>
          </a:prstGeom>
          <a:solidFill>
            <a:srgbClr val="8A9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668512" y="1783080"/>
            <a:ext cx="822960" cy="228600"/>
          </a:xfrm>
          <a:prstGeom prst="roundRect">
            <a:avLst/>
          </a:prstGeom>
          <a:solidFill>
            <a:srgbClr val="8A9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待实施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28432" y="1737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9BB5"/>
                </a:solidFill>
                <a:latin typeface="Arial"/>
              </a:defRPr>
            </a:pPr>
            <a:r>
              <a:t>Phase 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28432" y="21031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RTSP+MQTT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28432" y="24231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5"/>
                </a:solidFill>
                <a:latin typeface="Arial"/>
              </a:defRPr>
            </a:pPr>
            <a:r>
              <a:t>Week 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28432" y="2743200"/>
            <a:ext cx="1188720" cy="19050"/>
          </a:xfrm>
          <a:prstGeom prst="rect">
            <a:avLst/>
          </a:prstGeom>
          <a:solidFill>
            <a:srgbClr val="8A9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28432" y="29260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Arial"/>
              </a:defRPr>
            </a:pPr>
            <a:r>
              <a:t>  RTSP拉流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28432" y="34747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Arial"/>
              </a:defRPr>
            </a:pPr>
            <a:r>
              <a:t>  MQTT遥测订阅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28432" y="4023359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Arial"/>
              </a:defRPr>
            </a:pPr>
            <a:r>
              <a:t>  帧级同步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28432" y="4571999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Arial"/>
              </a:defRPr>
            </a:pPr>
            <a:r>
              <a:t>  遥测回放验证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784080" y="1645920"/>
            <a:ext cx="1737360" cy="411480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802368" y="1664208"/>
            <a:ext cx="1700784" cy="63500"/>
          </a:xfrm>
          <a:prstGeom prst="rect">
            <a:avLst/>
          </a:prstGeom>
          <a:solidFill>
            <a:srgbClr val="8A9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10515600" y="1783080"/>
            <a:ext cx="822960" cy="228600"/>
          </a:xfrm>
          <a:prstGeom prst="roundRect">
            <a:avLst/>
          </a:prstGeom>
          <a:solidFill>
            <a:srgbClr val="8A9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待实施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75520" y="1737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9BB5"/>
                </a:solidFill>
                <a:latin typeface="Arial"/>
              </a:defRPr>
            </a:pPr>
            <a:r>
              <a:t>Phase 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75520" y="21031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冲突检测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75520" y="24231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5"/>
                </a:solidFill>
                <a:latin typeface="Arial"/>
              </a:defRPr>
            </a:pPr>
            <a:r>
              <a:t>Week 10-11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875520" y="2743200"/>
            <a:ext cx="1188720" cy="19050"/>
          </a:xfrm>
          <a:prstGeom prst="rect">
            <a:avLst/>
          </a:prstGeom>
          <a:solidFill>
            <a:srgbClr val="8A9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875520" y="29260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Arial"/>
              </a:defRPr>
            </a:pPr>
            <a:r>
              <a:t>  模型微调(person/bike)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875520" y="34747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Arial"/>
              </a:defRPr>
            </a:pPr>
            <a:r>
              <a:t>  TTC冲突检测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875520" y="4023359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Arial"/>
              </a:defRPr>
            </a:pPr>
            <a:r>
              <a:t>  三级告警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875520" y="4571999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Arial"/>
              </a:defRPr>
            </a:pPr>
            <a:r>
              <a:t>  REST API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B5"/>
                </a:solidFill>
                <a:latin typeface="Arial"/>
              </a:defRPr>
            </a:pPr>
            <a:r>
              <a:t>依赖关系: Phase 1→2→3→4 (车速→方向→轨迹)  |  Phase 5 独立可并行  |  Phase 6 依赖模型微调(前置条件: uav_best.pt 新增 person/bicycle 类别)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价值预期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2860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CCE"/>
                </a:solidFill>
                <a:latin typeface="Arial"/>
              </a:defRPr>
            </a:pPr>
            <a:r>
              <a:t>从"看得见"到"看得懂"到"管得住"的三级跃迁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12700"/>
          </a:xfrm>
          <a:prstGeom prst="rect">
            <a:avLst/>
          </a:prstGeom>
          <a:solidFill>
            <a:srgbClr val="2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3474720" cy="347472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64208"/>
            <a:ext cx="3438144" cy="635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D6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看得见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94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BB5"/>
                </a:solidFill>
                <a:latin typeface="Arial"/>
              </a:defRPr>
            </a:pPr>
            <a:r>
              <a:t>全域覆盖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560320"/>
            <a:ext cx="1371600" cy="25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743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Arial"/>
              </a:defRPr>
            </a:pPr>
            <a:r>
              <a:t>  单架无人机覆盖传统10+摄像头范围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46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Arial"/>
              </a:defRPr>
            </a:pPr>
            <a:r>
              <a:t>  消除路口中心区域监控死角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49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Arial"/>
              </a:defRPr>
            </a:pPr>
            <a:r>
              <a:t>  4K分辨率确保200m范围内目标可识别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51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Arial"/>
              </a:defRPr>
            </a:pPr>
            <a:r>
              <a:t>  RTSP实时流，延迟&lt;500ms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645920"/>
            <a:ext cx="3474720" cy="347472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664208"/>
            <a:ext cx="3438144" cy="635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AA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看得懂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194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BB5"/>
                </a:solidFill>
                <a:latin typeface="Arial"/>
              </a:defRPr>
            </a:pPr>
            <a:r>
              <a:t>智能分析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2560320"/>
            <a:ext cx="137160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2743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Arial"/>
              </a:defRPr>
            </a:pPr>
            <a:r>
              <a:t>  5大维度全量态势自动输出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246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Arial"/>
              </a:defRPr>
            </a:pPr>
            <a:r>
              <a:t>  零标注即可获取转向车流分析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749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Arial"/>
              </a:defRPr>
            </a:pPr>
            <a:r>
              <a:t>  车道级精确到每条车道流量/排队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251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Arial"/>
              </a:defRPr>
            </a:pPr>
            <a:r>
              <a:t>  世界坐标轨迹还原事故过程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1645920"/>
            <a:ext cx="3474720" cy="3474720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25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65008" y="1664208"/>
            <a:ext cx="3438144" cy="63500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7E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管得住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2194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BB5"/>
                </a:solidFill>
                <a:latin typeface="Arial"/>
              </a:defRPr>
            </a:pPr>
            <a:r>
              <a:t>主动管控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2560320"/>
            <a:ext cx="1371600" cy="25400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2743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Arial"/>
              </a:defRPr>
            </a:pPr>
            <a:r>
              <a:t>  TTC冲突实时告警（P1级&lt;1秒）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246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Arial"/>
              </a:defRPr>
            </a:pPr>
            <a:r>
              <a:t>  超速/排队溢出自动预警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3749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Arial"/>
              </a:defRPr>
            </a:pPr>
            <a:r>
              <a:t>  WebSocket实时推送至指挥中心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4251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Arial"/>
              </a:defRPr>
            </a:pPr>
            <a:r>
              <a:t>  巡检报告自动生成，支撑决策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394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投入产出预期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760720"/>
            <a:ext cx="1097280" cy="25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943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  <a:latin typeface="Arial"/>
              </a:defRPr>
            </a:pPr>
            <a:r>
              <a:t>部署成本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11680" y="59436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7E"/>
                </a:solidFill>
                <a:latin typeface="Arial"/>
              </a:defRPr>
            </a:pPr>
            <a:r>
              <a:t>降低 60-70%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263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B5"/>
                </a:solidFill>
                <a:latin typeface="Arial"/>
              </a:defRPr>
            </a:pPr>
            <a:r>
              <a:t>单架次无人机替代10+固定摄像头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79" y="5943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  <a:latin typeface="Arial"/>
              </a:defRPr>
            </a:pPr>
            <a:r>
              <a:t>覆盖效率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719" y="59436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7E"/>
                </a:solidFill>
                <a:latin typeface="Arial"/>
              </a:defRPr>
            </a:pPr>
            <a:r>
              <a:t>提升 5-10x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79" y="6263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B5"/>
                </a:solidFill>
                <a:latin typeface="Arial"/>
              </a:defRPr>
            </a:pPr>
            <a:r>
              <a:t>动态巡飞覆盖多路口，按需调配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18" y="5943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  <a:latin typeface="Arial"/>
              </a:defRPr>
            </a:pPr>
            <a:r>
              <a:t>分析深度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09758" y="59436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7E"/>
                </a:solidFill>
                <a:latin typeface="Arial"/>
              </a:defRPr>
            </a:pPr>
            <a:r>
              <a:t>从1维到5维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18" y="6263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B5"/>
                </a:solidFill>
                <a:latin typeface="Arial"/>
              </a:defRPr>
            </a:pPr>
            <a:r>
              <a:t>车辆计数→全量态势+冲突预警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D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"/>
            <a:ext cx="12191695" cy="365760"/>
          </a:xfrm>
          <a:prstGeom prst="rect">
            <a:avLst/>
          </a:prstGeom>
          <a:solidFill>
            <a:srgbClr val="0F1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0"/>
          </a:xfrm>
          <a:prstGeom prst="rect">
            <a:avLst/>
          </a:prstGeom>
          <a:solidFill>
            <a:srgbClr val="11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28700"/>
            <a:ext cx="12191695" cy="365760"/>
          </a:xfrm>
          <a:prstGeom prst="rect">
            <a:avLst/>
          </a:prstGeom>
          <a:solidFill>
            <a:srgbClr val="132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371600"/>
            <a:ext cx="12191695" cy="365760"/>
          </a:xfrm>
          <a:prstGeom prst="rect">
            <a:avLst/>
          </a:prstGeom>
          <a:solidFill>
            <a:srgbClr val="152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714500"/>
            <a:ext cx="12191695" cy="365760"/>
          </a:xfrm>
          <a:prstGeom prst="rect">
            <a:avLst/>
          </a:prstGeom>
          <a:solidFill>
            <a:srgbClr val="172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057400"/>
            <a:ext cx="12191695" cy="365760"/>
          </a:xfrm>
          <a:prstGeom prst="rect">
            <a:avLst/>
          </a:prstGeom>
          <a:solidFill>
            <a:srgbClr val="19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400300"/>
            <a:ext cx="12191695" cy="365760"/>
          </a:xfrm>
          <a:prstGeom prst="rect">
            <a:avLst/>
          </a:prstGeom>
          <a:solidFill>
            <a:srgbClr val="1A2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743200"/>
            <a:ext cx="12191695" cy="365760"/>
          </a:xfrm>
          <a:prstGeom prst="rect">
            <a:avLst/>
          </a:prstGeom>
          <a:solidFill>
            <a:srgbClr val="1A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86100"/>
            <a:ext cx="12191695" cy="365760"/>
          </a:xfrm>
          <a:prstGeom prst="rect">
            <a:avLst/>
          </a:prstGeom>
          <a:solidFill>
            <a:srgbClr val="1A2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3429000"/>
            <a:ext cx="12191695" cy="365760"/>
          </a:xfrm>
          <a:prstGeom prst="rect">
            <a:avLst/>
          </a:prstGeom>
          <a:solidFill>
            <a:srgbClr val="1A2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771900"/>
            <a:ext cx="12191695" cy="365760"/>
          </a:xfrm>
          <a:prstGeom prst="rect">
            <a:avLst/>
          </a:prstGeom>
          <a:solidFill>
            <a:srgbClr val="1A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4114800"/>
            <a:ext cx="12191695" cy="365760"/>
          </a:xfrm>
          <a:prstGeom prst="rect">
            <a:avLst/>
          </a:prstGeom>
          <a:solidFill>
            <a:srgbClr val="1A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457700"/>
            <a:ext cx="12191695" cy="365760"/>
          </a:xfrm>
          <a:prstGeom prst="rect">
            <a:avLst/>
          </a:prstGeom>
          <a:solidFill>
            <a:srgbClr val="1A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800600"/>
            <a:ext cx="12191695" cy="36576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5143500"/>
            <a:ext cx="12191695" cy="36576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5486400"/>
            <a:ext cx="12191695" cy="36576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829300"/>
            <a:ext cx="12191695" cy="36576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172200"/>
            <a:ext cx="12191695" cy="36576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515100"/>
            <a:ext cx="12191695" cy="36576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1828800"/>
            <a:ext cx="76200" cy="27432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1828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无人机AI交通态势感知系统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2743200"/>
            <a:ext cx="36576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D4AA"/>
                </a:solidFill>
                <a:latin typeface="Arial"/>
              </a:defRPr>
            </a:pPr>
            <a:r>
              <a:t>巡飞巡检 · 路口悬停 · 全维态势 · 实时感知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931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CCE"/>
                </a:solidFill>
                <a:latin typeface="Arial"/>
              </a:defRPr>
            </a:pPr>
            <a:r>
              <a:t>Phase 1 已验证通过 (49/49 PASS) · 具备工程化交付基础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75120"/>
            <a:ext cx="12191695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0" y="5303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FFFFF"/>
                </a:solidFill>
                <a:latin typeface="Arial"/>
              </a:defRPr>
            </a:pPr>
            <a:r>
              <a:t>感谢聆听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5852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8A9BB5"/>
                </a:solidFill>
                <a:latin typeface="Arial"/>
              </a:defRPr>
            </a:pPr>
            <a:r>
              <a:t>期待深入交流合作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