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b9498875d14c65" /><Relationship Type="http://schemas.openxmlformats.org/officeDocument/2006/relationships/extended-properties" Target="/docProps/app.xml" Id="Rdb42cf621c9b4f69" /><Relationship Type="http://schemas.openxmlformats.org/officeDocument/2006/relationships/officeDocument" Target="/ppt/presentation.xml" Id="R091d8d799fd04a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11239640a34779"/>
  </p:sldMasterIdLst>
  <p:notesMasterIdLst>
    <p:notesMasterId xmlns:r="http://schemas.openxmlformats.org/officeDocument/2006/relationships" r:id="Rf0dad93e7b7d42af"/>
  </p:notesMasterIdLst>
  <p:sldIdLst>
    <p:sldId xmlns:r="http://schemas.openxmlformats.org/officeDocument/2006/relationships" id="256" r:id="R1dddf0bc2beb4f68"/>
    <p:sldId xmlns:r="http://schemas.openxmlformats.org/officeDocument/2006/relationships" id="257" r:id="R7a03f5544ce44dd6"/>
    <p:sldId xmlns:r="http://schemas.openxmlformats.org/officeDocument/2006/relationships" id="258" r:id="Rb0841a6458c84d47"/>
    <p:sldId xmlns:r="http://schemas.openxmlformats.org/officeDocument/2006/relationships" id="259" r:id="Rdc814a3756324ed3"/>
    <p:sldId xmlns:r="http://schemas.openxmlformats.org/officeDocument/2006/relationships" id="260" r:id="Rf2896d03fc7f4bb3"/>
    <p:sldId xmlns:r="http://schemas.openxmlformats.org/officeDocument/2006/relationships" id="261" r:id="Ref86032d1a0f4439"/>
    <p:sldId xmlns:r="http://schemas.openxmlformats.org/officeDocument/2006/relationships" id="262" r:id="R87a5173480ee4646"/>
    <p:sldId xmlns:r="http://schemas.openxmlformats.org/officeDocument/2006/relationships" id="263" r:id="Re1f600c6acf9446f"/>
    <p:sldId xmlns:r="http://schemas.openxmlformats.org/officeDocument/2006/relationships" id="264" r:id="R897dbe03c6214dd5"/>
    <p:sldId xmlns:r="http://schemas.openxmlformats.org/officeDocument/2006/relationships" id="265" r:id="R85518739ebdf4810"/>
    <p:sldId xmlns:r="http://schemas.openxmlformats.org/officeDocument/2006/relationships" id="266" r:id="R9f1d5c1c36ff41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5dfba6c9464aa4" /><Relationship Type="http://schemas.openxmlformats.org/officeDocument/2006/relationships/slideMaster" Target="/ppt/slideMasters/slideMaster1.xml" Id="Rb911239640a34779" /><Relationship Type="http://schemas.openxmlformats.org/officeDocument/2006/relationships/notesMaster" Target="/ppt/notesMasters/notesMaster1.xml" Id="Rf0dad93e7b7d42af" /><Relationship Type="http://schemas.openxmlformats.org/officeDocument/2006/relationships/presProps" Target="/ppt/presProps.xml" Id="Rc012af9cff2945f9" /><Relationship Type="http://schemas.openxmlformats.org/officeDocument/2006/relationships/viewProps" Target="/ppt/viewProps.xml" Id="R6ed2c53b77ae42dc" /><Relationship Type="http://schemas.openxmlformats.org/officeDocument/2006/relationships/tableStyles" Target="/ppt/tableStyles.xml" Id="Rd06455874f724e49" /><Relationship Type="http://schemas.openxmlformats.org/officeDocument/2006/relationships/slide" Target="/ppt/slides/slide1.xml" Id="R1dddf0bc2beb4f68" /><Relationship Type="http://schemas.openxmlformats.org/officeDocument/2006/relationships/slide" Target="/ppt/slides/slide2.xml" Id="R7a03f5544ce44dd6" /><Relationship Type="http://schemas.openxmlformats.org/officeDocument/2006/relationships/slide" Target="/ppt/slides/slide3.xml" Id="Rb0841a6458c84d47" /><Relationship Type="http://schemas.openxmlformats.org/officeDocument/2006/relationships/slide" Target="/ppt/slides/slide4.xml" Id="Rdc814a3756324ed3" /><Relationship Type="http://schemas.openxmlformats.org/officeDocument/2006/relationships/slide" Target="/ppt/slides/slide5.xml" Id="Rf2896d03fc7f4bb3" /><Relationship Type="http://schemas.openxmlformats.org/officeDocument/2006/relationships/slide" Target="/ppt/slides/slide6.xml" Id="Ref86032d1a0f4439" /><Relationship Type="http://schemas.openxmlformats.org/officeDocument/2006/relationships/slide" Target="/ppt/slides/slide7.xml" Id="R87a5173480ee4646" /><Relationship Type="http://schemas.openxmlformats.org/officeDocument/2006/relationships/slide" Target="/ppt/slides/slide8.xml" Id="Re1f600c6acf9446f" /><Relationship Type="http://schemas.openxmlformats.org/officeDocument/2006/relationships/slide" Target="/ppt/slides/slide9.xml" Id="R897dbe03c6214dd5" /><Relationship Type="http://schemas.openxmlformats.org/officeDocument/2006/relationships/slide" Target="/ppt/slides/slide10.xml" Id="R85518739ebdf4810" /><Relationship Type="http://schemas.openxmlformats.org/officeDocument/2006/relationships/slide" Target="/ppt/slides/slide11.xml" Id="R9f1d5c1c36ff41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6fb51dd3eb46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6ea5c32864fef" /><Relationship Type="http://schemas.openxmlformats.org/officeDocument/2006/relationships/notesMaster" Target="/ppt/notesMasters/notesMaster1.xml" Id="R4d4cf6493974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6da4519d0940c3" /><Relationship Type="http://schemas.openxmlformats.org/officeDocument/2006/relationships/notesMaster" Target="/ppt/notesMasters/notesMaster1.xml" Id="R2928317dd7ab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d389feffc14f94" /><Relationship Type="http://schemas.openxmlformats.org/officeDocument/2006/relationships/notesMaster" Target="/ppt/notesMasters/notesMaster1.xml" Id="R7af79208606a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379d3dc82411d" /><Relationship Type="http://schemas.openxmlformats.org/officeDocument/2006/relationships/notesMaster" Target="/ppt/notesMasters/notesMaster1.xml" Id="R4adc4190064341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2f37d053444368" /><Relationship Type="http://schemas.openxmlformats.org/officeDocument/2006/relationships/notesMaster" Target="/ppt/notesMasters/notesMaster1.xml" Id="R7bd6f61d0e8547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2a253af7044b2" /><Relationship Type="http://schemas.openxmlformats.org/officeDocument/2006/relationships/notesMaster" Target="/ppt/notesMasters/notesMaster1.xml" Id="R35e4c94510224a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285bb14354294" /><Relationship Type="http://schemas.openxmlformats.org/officeDocument/2006/relationships/notesMaster" Target="/ppt/notesMasters/notesMaster1.xml" Id="R50c81cbdca9f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f0040a9d6497f" /><Relationship Type="http://schemas.openxmlformats.org/officeDocument/2006/relationships/notesMaster" Target="/ppt/notesMasters/notesMaster1.xml" Id="Rf7e1d881d73147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3c4a342bcf4197" /><Relationship Type="http://schemas.openxmlformats.org/officeDocument/2006/relationships/notesMaster" Target="/ppt/notesMasters/notesMaster1.xml" Id="R8edff43ad6764b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3d2a1ea2ae4338" /><Relationship Type="http://schemas.openxmlformats.org/officeDocument/2006/relationships/notesMaster" Target="/ppt/notesMasters/notesMaster1.xml" Id="R1d8e179206104f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2c9127c0b04ab5" /><Relationship Type="http://schemas.openxmlformats.org/officeDocument/2006/relationships/notesMaster" Target="/ppt/notesMasters/notesMaster1.xml" Id="R6759ab6689ff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本次汇报不把无人机作为独立平台介绍，而是说明它如何补足易出行的机动感知、风险证据和治理复测能力。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/Users/yaoyao/ai/llmwiki/Icx-wiki/wiki/entities/易出行项目.md</a:t>
            </a:r>
          </a:p>
          <a:p xmlns:a="http://schemas.openxmlformats.org/drawingml/2006/main">
            <a:r>
              <a:t>- /Users/yaoyao/ai/llmwiki/Icx-wiki/wiki/overview.md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无人机不是替代固定感知，而是补齐按需到场、连续取证和同口径复测。右侧为 AI 生成的概念插图，仅表达业务关系，不是产品界面、现场证据或已实现成效。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/Users/yaoyao/ai/llmwiki/Icx-wiki/wiki/entities/易出行项目.md</a:t>
            </a:r>
          </a:p>
          <a:p xmlns:a="http://schemas.openxmlformats.org/drawingml/2006/main">
            <a:r>
              <a:t>- /Users/yaoyao/ai/llmwiki/Icx-wiki/wiki/concepts/一图一池三智架构.md</a:t>
            </a:r>
          </a:p>
          <a:p xmlns:a="http://schemas.openxmlformats.org/drawingml/2006/main">
            <a:r>
              <a:t>- AI-generated conceptual illustration; no product UI, field evidence, third-party logo, or numeric result.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强调责任边界：TrafficAnalyzer 触发 AI 分析 Pipeline，不负责 DJI 航点、起降、返航或云台控制；交通策略和控制执行由易出行主平台、交通智能体及人工审批链路负责。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/Users/yaoyao/ai/llmwiki/Icx-wiki/wiki/concepts/数据反哺闭环.md</a:t>
            </a:r>
          </a:p>
          <a:p xmlns:a="http://schemas.openxmlformats.org/drawingml/2006/main">
            <a:r>
              <a:t>- /Users/yaoyao/ai/llmwiki/Icx-wiki/wiki/concepts/交通智能体.md</a:t>
            </a:r>
          </a:p>
          <a:p xmlns:a="http://schemas.openxmlformats.org/drawingml/2006/main">
            <a:r>
              <a:t>- /Users/yaoyao/ai/TrafficAnalyzer/docs/generated/uav-traffic-ai-prd/S9-drone-integration-flight-plan-prd.md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无人机事实与易出行交通运行、信号控制主题指标联合使用。治理前后比较应冻结路口、星期、五分钟时段和可比飞行条件；不把缺少年度日期的数据称为正式同比。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/Users/yaoyao/ai/llmwiki/Icx-wiki/wiki/concepts/八大业务主题库.md</a:t>
            </a:r>
          </a:p>
          <a:p xmlns:a="http://schemas.openxmlformats.org/drawingml/2006/main">
            <a:r>
              <a:t>- /Users/yaoyao/ai/TrafficAnalyzer/docs/generated/uav-traffic-ai-prd/S1-intersection-situation-prd.md</a:t>
            </a:r>
          </a:p>
          <a:p xmlns:a="http://schemas.openxmlformats.org/drawingml/2006/main">
            <a:r>
              <a:t>- /Users/yaoyao/ai/TrafficAnalyzer/docs/BUSINESS_LOGIC.md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汇报第 4 页按“标题页不计页号”对应 PowerPoint 第 5 张。无人机子系统持续提供路口流量、转向、排队、轨迹和运行反馈；交通智能体与易出行主平台负责策略匹配、方案推演、安全审批、信号配时下发及策略日志回流。正式控制执行必须经过权限、熔断、降级和人工干预门禁，主平台未联调前不得宣称闭环已正式投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/Users/yaoyao/ai/llmwiki/Icx-wiki/wiki/concepts/数据反哺闭环.md</a:t>
            </a:r>
          </a:p>
          <a:p xmlns:a="http://schemas.openxmlformats.org/drawingml/2006/main">
            <a:r>
              <a:t>- /Users/yaoyao/ai/llmwiki/Icx-wiki/wiki/concepts/交通智能体.md</a:t>
            </a:r>
          </a:p>
          <a:p xmlns:a="http://schemas.openxmlformats.org/drawingml/2006/main">
            <a:r>
              <a:t>- /Users/yaoyao/ai/TrafficAnalyzer/docs/generated/uav-traffic-ai-prd/S1-intersection-situation-prd.md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汇报第 5 页按“标题页不计页号”对应 PowerPoint 第 6 张。无人机视频只有在标定、地理参考、时间同步和质量门禁通过后，才能形成正式世界坐标时空轨迹。轨迹可按任务、路口和时间窗回放；可聚合流量、速度、转向、排队和冲突风险；可按同路口、同星期、同五分钟时段复盘治理前后变化；可用于微观仿真校准和配时、渠化、交通组织方案推演。正式 Lane/Link、米制排队和道路级转向还需满足权威路网版本与匹配门禁。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/Users/yaoyao/ai/TrafficAnalyzer/docs/generated/uav-traffic-ai-prd/S1-intersection-situation-prd.md</a:t>
            </a:r>
          </a:p>
          <a:p xmlns:a="http://schemas.openxmlformats.org/drawingml/2006/main">
            <a:r>
              <a:t>- /Users/yaoyao/ai/TrafficAnalyzer/docs/BUSINESS_LOGIC.md</a:t>
            </a:r>
          </a:p>
          <a:p xmlns:a="http://schemas.openxmlformats.org/drawingml/2006/main">
            <a:r>
              <a:t>- /Users/yaoyao/ai/llmwiki/Icx-wiki/wiki/concepts/交通智能体.md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本页陈述的是量算与成果包能力，不宣称已达到法定事故勘查精度，也不替代人工复测、责任认定或签章。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/Users/yaoyao/ai/TrafficAnalyzer/docs/generated/uav-traffic-ai-prd/S3-accident-survey-prd.md</a:t>
            </a:r>
          </a:p>
          <a:p xmlns:a="http://schemas.openxmlformats.org/drawingml/2006/main">
            <a:r>
              <a:t>- /Users/yaoyao/ai/TrafficAnalyzer/docs/API_CONTRACTS.md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权威路网必须与 road_data_version 一起解释。低置信、歧义或缺数据时输出 unmapped 或降级状态，不能用本地序号冒充正式 Link/Lane。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/Users/yaoyao/ai/llmwiki/Icx-wiki/wiki/concepts/可计算路网.md</a:t>
            </a:r>
          </a:p>
          <a:p xmlns:a="http://schemas.openxmlformats.org/drawingml/2006/main">
            <a:r>
              <a:t>- /Users/yaoyao/ai/TrafficAnalyzer/docs/generated/uav-traffic-ai-prd/S5-road-and-common-capabilities-prd.md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无人机输出不是孤立看板数据，而是进入统一事实链后供交通运行、事件安全、路网基础主题和评价反哺使用。实时监测与封存回放分层，不能把回放任务拼成伪实时。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/Users/yaoyao/ai/llmwiki/Icx-wiki/wiki/concepts/八大业务主题库.md</a:t>
            </a:r>
          </a:p>
          <a:p xmlns:a="http://schemas.openxmlformats.org/drawingml/2006/main">
            <a:r>
              <a:t>- /Users/yaoyao/ai/llmwiki/Icx-wiki/wiki/concepts/多源异构数据时空归一化.md</a:t>
            </a:r>
          </a:p>
          <a:p xmlns:a="http://schemas.openxmlformats.org/drawingml/2006/main">
            <a:r>
              <a:t>- /Users/yaoyao/ai/TrafficAnalyzer/docs/ARCHITECTURE.md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“已形成”只覆盖当前可复核工程闭环；≤30 秒、≤15 分钟和 Precision ≥85% 均为试点或项目目标，不是已取得的交通治理成效。Precision 不能脱离 Recall 和单位小时误报单独验收。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/Users/yaoyao/ai/TrafficAnalyzer/docs/generated/2026-06-29-uav-traffic-ai-prd.md — project targets and success criteria</a:t>
            </a:r>
          </a:p>
          <a:p xmlns:a="http://schemas.openxmlformats.org/drawingml/2006/main">
            <a:r>
              <a:t>- /Users/yaoyao/ai/TrafficAnalyzer/docs/generated/uav-traffic-ai-prd/S7-quality-acceptance-operations-prd.md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建议决策顺序：先确认 1—2 个问题路口和主场景，再冻结数据合同与评价口径，最后进入治理前后可比的业务试点。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/Users/yaoyao/ai/TrafficAnalyzer/docs/generated/2026-06-29-uav-traffic-ai-prd.md</a:t>
            </a:r>
          </a:p>
          <a:p xmlns:a="http://schemas.openxmlformats.org/drawingml/2006/main">
            <a:r>
              <a:t>- /Users/yaoyao/ai/TrafficAnalyzer/docs/generated/uav-traffic-ai-prd/S6-main-platform-integration-prd.md</a:t>
            </a:r>
          </a:p>
          <a:p xmlns:a="http://schemas.openxmlformats.org/drawingml/2006/main">
            <a:r>
              <a:t>- /Users/yaoyao/ai/TrafficAnalyzer/docs/generated/uav-traffic-ai-prd/S7-quality-acceptance-operations-prd.md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0aa984c4c43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3b8385eeac4428e" /><Relationship Type="http://schemas.openxmlformats.org/officeDocument/2006/relationships/image" Target="/ppt/media/image2.png" Id="R80a54e0158874224" /><Relationship Type="http://schemas.openxmlformats.org/officeDocument/2006/relationships/theme" Target="/ppt/slideMasters/theme/theme2.xml" Id="R05e79299f86440f8" /><Relationship Type="http://schemas.openxmlformats.org/officeDocument/2006/relationships/slideLayout" Target="/ppt/slideLayouts/slideLayout1.xml" Id="R84b85be2f53c42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8385eeac4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5784" y="93992"/>
            <a:ext cx="2986216" cy="481953"/>
          </a:xfrm>
          <a:prstGeom xmlns:a="http://schemas.openxmlformats.org/drawingml/2006/main" prst="rect">
            <a:avLst/>
          </a:prstGeom>
        </p:spPr>
      </p:pic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4e0158874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8908" y="6595213"/>
            <a:ext cx="2405449" cy="25043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85be2f53c42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63ec87b4c4b0b" /><Relationship Type="http://schemas.openxmlformats.org/officeDocument/2006/relationships/notesSlide" Target="/ppt/notesSlides/notesSlide1.xml" Id="R5f6ff0073e074a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e40432d464a3c" /><Relationship Type="http://schemas.openxmlformats.org/officeDocument/2006/relationships/image" Target="/ppt/media/image3.png" Id="Ra992bb0e56ee4e14" /><Relationship Type="http://schemas.openxmlformats.org/officeDocument/2006/relationships/notesSlide" Target="/ppt/notesSlides/notesSlide2.xml" Id="R4480af1da7f542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2bdf6f32f46a6" /><Relationship Type="http://schemas.openxmlformats.org/officeDocument/2006/relationships/notesSlide" Target="/ppt/notesSlides/notesSlide3.xml" Id="Re1de8086628d4b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c81f9cc4f41bf" /><Relationship Type="http://schemas.openxmlformats.org/officeDocument/2006/relationships/image" Target="/ppt/media/image.jpeg" Id="R972c476ae3ad42c6" /><Relationship Type="http://schemas.openxmlformats.org/officeDocument/2006/relationships/notesSlide" Target="/ppt/notesSlides/notesSlide4.xml" Id="R41e7249341124d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690131b2140f1" /><Relationship Type="http://schemas.openxmlformats.org/officeDocument/2006/relationships/image" Target="/ppt/media/image.jpeg" Id="R35309915e36f4cce" /><Relationship Type="http://schemas.openxmlformats.org/officeDocument/2006/relationships/notesSlide" Target="/ppt/notesSlides/notesSlide5.xml" Id="R236583c0231640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0a4f7615b4068" /><Relationship Type="http://schemas.openxmlformats.org/officeDocument/2006/relationships/image" Target="/ppt/media/image2.jpeg" Id="R061a7909100c4c80" /><Relationship Type="http://schemas.openxmlformats.org/officeDocument/2006/relationships/notesSlide" Target="/ppt/notesSlides/notesSlide6.xml" Id="R53508edef4c2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010a7cc114b66" /><Relationship Type="http://schemas.openxmlformats.org/officeDocument/2006/relationships/image" Target="/ppt/media/image3.jpeg" Id="R2e006a504d054b56" /><Relationship Type="http://schemas.openxmlformats.org/officeDocument/2006/relationships/image" Target="/ppt/media/image4.jpeg" Id="Rf3297bfec2284d73" /><Relationship Type="http://schemas.openxmlformats.org/officeDocument/2006/relationships/notesSlide" Target="/ppt/notesSlides/notesSlide7.xml" Id="Rff95729e0d86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901e325f841ac" /><Relationship Type="http://schemas.openxmlformats.org/officeDocument/2006/relationships/image" Target="/ppt/media/image5.jpeg" Id="Raa0affe124854a04" /><Relationship Type="http://schemas.openxmlformats.org/officeDocument/2006/relationships/image" Target="/ppt/media/image6.jpeg" Id="Rd8112f2ef7ee45ec" /><Relationship Type="http://schemas.openxmlformats.org/officeDocument/2006/relationships/notesSlide" Target="/ppt/notesSlides/notesSlide8.xml" Id="R5e7a4b62ed6a49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286aeabc64996" /><Relationship Type="http://schemas.openxmlformats.org/officeDocument/2006/relationships/image" Target="/ppt/media/image7.jpeg" Id="R4e698e50c3f74efe" /><Relationship Type="http://schemas.openxmlformats.org/officeDocument/2006/relationships/image" Target="/ppt/media/image8.jpeg" Id="R91182690921f4dce" /><Relationship Type="http://schemas.openxmlformats.org/officeDocument/2006/relationships/notesSlide" Target="/ppt/notesSlides/notesSlide9.xml" Id="R5ecda0ace1d840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3f5a702cb49fc" /><Relationship Type="http://schemas.openxmlformats.org/officeDocument/2006/relationships/image" Target="/ppt/media/image9.jpeg" Id="Rdd41ffce06884177" /><Relationship Type="http://schemas.openxmlformats.org/officeDocument/2006/relationships/image" Target="/ppt/media/image10.jpeg" Id="Rb434eb92e51448f5" /><Relationship Type="http://schemas.openxmlformats.org/officeDocument/2006/relationships/image" Target="/ppt/media/image11.jpeg" Id="Rf27e7d02fac34890" /><Relationship Type="http://schemas.openxmlformats.org/officeDocument/2006/relationships/image" Target="/ppt/media/image12.jpeg" Id="R06c36a3aeab44410" /><Relationship Type="http://schemas.openxmlformats.org/officeDocument/2006/relationships/notesSlide" Target="/ppt/notesSlides/notesSlide10.xml" Id="R030e21e485874c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bd66a097b40ff" /><Relationship Type="http://schemas.openxmlformats.org/officeDocument/2006/relationships/notesSlide" Target="/ppt/notesSlides/notesSlide11.xml" Id="Ra011f7d8e39c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8D7D1C6-AE2F-40E3-89B6-FFA1F15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A89F9AE-E921-4DB1-A4EF-15300EC2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</a:t>
            </a:r>
            <a:r>
              <a: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· </a:t>
            </a:r>
            <a:r>
              <a:rPr sz="180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无人机交通治理</a:t>
            </a:r>
            <a:endParaRPr sz="1800" b="1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0AD9B2-2E47-4BAE-8F15-C2B2A7F5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17521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易出行无人机交通治理汇报</a:t>
            </a:r>
            <a:endParaRPr sz="54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4570DE-0B2A-4FA7-8625-6D1B4628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41496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机动补盲 · 风险取证 · 治理复测 · 数据反哺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B3F27CC-A2ED-42DB-875A-864994C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388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9071946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97E419-18BE-49F6-8A7D-9B1AB7A3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无人机补上易出行治理闭环中的机动感知空档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AF7BDD-E922-4D4B-8CF0-836CBEA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E358DCC3-0725-4A21-A50B-95C76F3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6B5A4C2-A46B-4AC5-9CBC-BDE1102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974A2B0-71AE-44A4-836F-23E8E1E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49250"/>
            <a:ext cx="3649847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固定感知负责常态观察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无人机负责按需到场。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3BEB4C5-18FE-4994-9803-405D3967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64588"/>
            <a:ext cx="3458461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易出行面对感知碎片化、数据孤岛化和管控单向化。无人机把盲区、临时事件和治理复测转化为可用事实。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57E800C-46D5-4C59-8C8E-6F7BCE4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6661"/>
            <a:ext cx="32670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按需调度</a:t>
            </a: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连续取证</a:t>
            </a:r>
            <a:endParaRPr sz="2025" b="1">
              <a:solidFill>
                <a:srgbClr val="3D8DFF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同口径复测</a:t>
            </a: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	</a:t>
            </a: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数据沉淀</a:t>
            </a:r>
            <a:endParaRPr sz="2025" b="1">
              <a:solidFill>
                <a:srgbClr val="3D8D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2bb0e56ee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5130" y="1509824"/>
            <a:ext cx="8102159" cy="46384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85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9EB78A9-E01E-402B-A7B6-B1DB1E3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把无人机纳入“发现—施策—评价—反哺”业务闭环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816BC9B-AB8B-4BEB-903D-20E45592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无人机负责感知、证据和复测；主平台与交通智能体负责诊断、审批和控制执行。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5F9D1F-BB0F-4436-8D89-69213336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4D86812D-CB3F-4A96-B152-C8D404C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BE0DDB4-09FC-4664-99CD-F2BF2CB7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右箭头 5">
            <a:extLst xmlns:a="http://schemas.openxmlformats.org/drawingml/2006/main">
              <a:ext uri="{FF2B5EF4-FFF2-40B4-BE49-F238E27FC236}">
                <a16:creationId xmlns:a16="http://schemas.microsoft.com/office/drawing/2014/main" id="{8CAE8845-5B7E-46D1-B2FF-11E3D44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0956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A45C0F51-006F-46AC-8DD7-9AD537D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956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FC08AA89-5D35-4059-AF68-F4DB6E8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956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71F8E5A4-A2EB-47F4-BDD4-6A9E204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5273F3A-50FA-4225-A1CA-F6305B2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695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2F3E73-2F6A-4D4F-A49E-7A5EAD3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929C99B-DB6C-4CA2-A34A-AD6D752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9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AC57919-5FA8-4928-91F7-4BED85B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766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按路口、路段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编排采集任务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09E855F-5AA4-46E4-9108-07108D2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1695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1ACC4E-2E41-4E2E-8A14-C9BD419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6D16E22-692A-4FAF-8BF8-D6F60FF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9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航拍核查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0FC090-AD90-49B5-96D3-B8D1D9F2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766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接入实时或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可控回放素材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7F84D97-FCF8-47DC-A5F6-400200C4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76500"/>
            <a:ext cx="1695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B0B4ACC-5DEB-479A-9CCC-5FE54F4A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07A8463-038A-4BFF-A06C-4DDE80A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09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智能研判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DB0EC4F-0B22-404A-B807-80D3DF9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766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目标、轨迹、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冲突与量算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13FF214-4BED-4834-AF24-35558442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76500"/>
            <a:ext cx="1695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34969B3-B7D0-405E-9781-98050ED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14F08E9-6740-45EA-8636-47D4CF7A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09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治理施策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3EAAE8C-E867-4013-9A90-EA59024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轨迹、事件、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报告与路网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DB4F536-0C8C-418D-B714-B727F751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76500"/>
            <a:ext cx="1695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21377E3-7EF4-4239-8C65-E55CE575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2FB262-B191-4F04-BC11-F0DE532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099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复测评价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48F1BBB-C8DA-44FE-9962-6F3B2C45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766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</a:t>
            </a: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飞行任务</a:t>
            </a:r>
            <a:endParaRPr sz="1500" b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回看治理成效</a:t>
            </a:r>
            <a:endParaRPr sz="1500" b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9915848-8F54-48B3-80AE-7274E53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82817"/>
            <a:ext cx="960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无人机飞控或信号指令，提供可追溯的治理事实</a:t>
            </a:r>
            <a:r>
              <a: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173818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81B6204-C42C-4103-BE7F-EDF2F92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拥堵治理从“看见排队”升级为可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量化、可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解释、可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复盘</a:t>
            </a:r>
            <a:endParaRPr sz="36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8B19558-735A-49B1-A470-E300EDD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无人机补充流量、转向、排队与轨迹事实，与易出行饱和度、延误和绿灯利用率指标联合研判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325E81C-1A61-44D6-B66E-48ADF0D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567B8136-FFC9-44BB-88AE-A73DC36E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8B4F82-DD48-4EC7-AE3E-F3BD1A7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936AE0-C1A2-4B5C-9747-A70DAA8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153" y="3429000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先把问题说清楚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227C713-589B-45EC-86B0-E2F7F40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153" y="38290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核实排队方向、转向流量和拥堵范围，锁定治理对象</a:t>
            </a: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2ECE58C-126D-441B-A905-18FB74E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37" y="4604202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再用同口径验证变化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E6D247-F081-40FE-9251-25152B9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37" y="5004252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同路口、同星期、同五分钟时段复测，不把不同任务拼成实时。</a:t>
            </a:r>
          </a:p>
        </p:txBody>
      </p:sp>
      <p:pic>
        <p:nvPicPr>
          <p:cNvPr id="2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c476ae3ad42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491" y="1689004"/>
            <a:ext cx="7005696" cy="4711796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DCBFF0E-78DB-E2FE-63A7-71256C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7" y="1685925"/>
            <a:ext cx="4244608" cy="219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r>
              <a:t>无人机态势感知</a:t>
            </a:r>
            <a:endParaRPr/>
          </a:p>
          <a:p xmlns:a="http://schemas.openxmlformats.org/drawingml/2006/main">
            <a:r>
              <a:t>方案自动匹配</a:t>
            </a:r>
            <a:endParaRPr/>
          </a:p>
          <a:p xmlns:a="http://schemas.openxmlformats.org/drawingml/2006/main">
            <a:r>
              <a:t>信号配时下发</a:t>
            </a:r>
            <a:endParaRPr/>
          </a:p>
          <a:p xmlns:a="http://schemas.openxmlformats.org/drawingml/2006/main">
            <a:r>
              <a:t>运行状态反馈闭环</a:t>
            </a:r>
          </a:p>
        </p:txBody>
      </p:sp>
    </p:spTree>
    <p:extLst>
      <p:ext uri="{BB962C8B-B14F-4D97-AF65-F5344CB8AC3E}">
        <p14:creationId xmlns:p14="http://schemas.microsoft.com/office/powerpoint/2010/main" val="7982581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81B6204-C42C-4103-BE7F-EDF2F92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无人机让信号优化形成“感知—匹配—下发—反馈”闭环</a:t>
            </a:r>
            <a:endParaRPr sz="36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8B19558-735A-49B1-A470-E300EDD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无人机持续刷新路口状态；易出行自动匹配策略、审批后下发配时，并以同口径复测结果触发下一轮优化。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325E81C-1A61-44D6-B66E-48ADF0D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567B8136-FFC9-44BB-88AE-A73DC36E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B8B4F82-DD48-4EC7-AE3E-F3BD1A7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936AE0-C1A2-4B5C-9747-A70DAA8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01  路口状态实时感知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流量｜转向｜排队｜轨迹持续更新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227C713-589B-45EC-86B0-E2F7F40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2420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3D2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02  优化方案自动匹配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识别问题方向，匹配候选信控策略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2ECE58C-126D-441B-A905-18FB74E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8145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03  信号配时自动下发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安全审批后下发周期、相位与绿信比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E6D247-F081-40FE-9251-25152B9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3870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3D2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04  运行状态反馈闭环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同口径复测，效果回流并触发再优化</a:t>
            </a:r>
          </a:p>
        </p:txBody>
      </p:sp>
      <p:pic>
        <p:nvPicPr>
          <p:cNvPr id="2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09915e36f4c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491" y="1689004"/>
            <a:ext cx="7005696" cy="4711796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DCBFF0E-78DB-E2FE-63A7-71256C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8C"/>
          </a:solidFill>
          <a:ln xmlns:a="http://schemas.openxmlformats.org/drawingml/2006/main" w="9525">
            <a:solidFill>
              <a:srgbClr val="0A4D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lvl1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无人机提供运行事实  ·  易出行完成决策执行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82581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62E5BC-F8E6-AA24-B9CF-0167894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世界坐标时空轨迹，让一次航拍产生四类持续价值</a:t>
            </a:r>
            <a:endParaRPr sz="36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DCF3DB-E063-1AA4-9D48-78001BC0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无人机视频转换为带时间戳、可追溯的世界坐标轨迹，同一份事实可用于回放、计算、复盘与仿真。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2D2D3FE-AF17-30A1-75BD-B679E85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985050EC-9BF5-00A7-9545-F8B1284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FB5B092-C6A8-F9E0-D42C-62A3BD17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28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a7909100c4c80"/>
          <a:srcRect xmlns:a="http://schemas.openxmlformats.org/drawingml/2006/main" l="0" t="52" r="0" b="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527" y="1643404"/>
            <a:ext cx="6902494" cy="4757397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A142D-6FB8-4C07-8985-B3520B97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D8C"/>
          </a:solidFill>
          <a:ln xmlns:a="http://schemas.openxmlformats.org/drawingml/2006/main" w="9525">
            <a:solidFill>
              <a:srgbClr val="0A4D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视频帧 + 标定 / 地理参考 + 时间同步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= 世界坐标时空轨迹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9A2D8-8136-48D1-A2DF-16B6DD6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可回放｜还原车辆、方向和时间窗的完整运行过程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68A0F-480F-44B9-87F9-F17EEECF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3D2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可计算｜生成流量、速度、转向、排队和风险指标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14A23-AB76-4BEA-9487-6CEC782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814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C7DDF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可复盘｜同路口、同口径比较治理前后变化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1D2EE-65FD-4697-8468-5CA8A988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482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3D2A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可仿真｜校准模型，推演配时、渠化和交通组织方案</a:t>
            </a:r>
          </a:p>
        </p:txBody>
      </p:sp>
    </p:spTree>
    <p:extLst>
      <p:ext uri="{BB962C8B-B14F-4D97-AF65-F5344CB8AC3E}">
        <p14:creationId xmlns:p14="http://schemas.microsoft.com/office/powerpoint/2010/main" val="1946633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C8D5ADC-B71A-45C1-B5C1-D2350C5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关键帧量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无人机测绘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并形成可追溯成果</a:t>
            </a:r>
            <a:endParaRPr sz="36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B40483-57E4-4636-9F79-5896E58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事故、施工和道路组织场景可在安全位置完成点线面标注；正式精度仍以业务验收方案为准。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C280651-EBF2-478C-9161-9F79BCE4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9D43A7F5-FCDB-49F2-87E1-08D19E7D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F19C06F-B3A5-430A-B8DF-AAC31636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E74ECE4-A5BE-466B-A635-7AF32A6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55721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06a504d054b56"/>
          <a:srcRect xmlns:a="http://schemas.openxmlformats.org/drawingml/2006/main" l="0" t="470" r="0" b="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2000250"/>
            <a:ext cx="553402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7549576-EB56-4304-A1FB-538A8F9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55721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97bfec2284d73"/>
          <a:srcRect xmlns:a="http://schemas.openxmlformats.org/drawingml/2006/main" l="0" t="470" r="0" b="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2000250"/>
            <a:ext cx="5534025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0C6EE73-0A8B-4919-A4DF-F3D2E542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48250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现场信息远程量算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6015D3-722C-4AB9-9BF5-066B7F3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483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量算距离、折线和面积，保留坐标与质量状态。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5DDDD77-7FA6-44C3-8344-DC78DA6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48250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成果一次生成、多方复核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20FB0A0-A1F1-4D7A-97CE-881AE81C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483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输出标注图、PDF、JSON 和 GeoJSON，并保留内容哈希。</a:t>
            </a:r>
          </a:p>
        </p:txBody>
      </p:sp>
    </p:spTree>
    <p:extLst>
      <p:ext uri="{BB962C8B-B14F-4D97-AF65-F5344CB8AC3E}">
        <p14:creationId xmlns:p14="http://schemas.microsoft.com/office/powerpoint/2010/main" val="17812851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ECC334-7750-4F45-A491-8A677F5F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航拍事实落到可计算路网，治理对象才可比较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F21AF22-6483-463A-8958-0E6BEA55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轨迹、事件和量算关联路口、Link、车道及路网版本；低质量匹配明确降级。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D093000-A1F3-4BE8-8D90-5B63E3A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C583A97A-224A-4278-8748-20C1A72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CB1350-A6D3-42B8-B99D-722E902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D0A641-326E-4364-84E1-52BA5674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55721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affe124854a04"/>
          <a:srcRect xmlns:a="http://schemas.openxmlformats.org/drawingml/2006/main" l="0" t="470" r="0" b="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2000250"/>
            <a:ext cx="553402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565DE42-5D20-4C1F-902F-C21670B2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55721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12f2ef7ee45ec"/>
          <a:srcRect xmlns:a="http://schemas.openxmlformats.org/drawingml/2006/main" l="0" t="470" r="0" b="4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2000250"/>
            <a:ext cx="5534025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662C3FD-0370-4766-94AA-FA71BC8A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48250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一图：统一治理对象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C1DBD74-F758-4C8D-BF91-B329B6A0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483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按路口—路段—车道组织事实，支撑排队、转向和风险定位。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9F9E1EF-1C82-4DCA-A3DA-B3F2C87D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48250"/>
            <a:ext cx="553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版本化：保证前后可比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9C4F736-504C-49D1-BFD7-18EBE26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483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治理前后沿用同一发布版本；版本变化不回写历史结果。</a:t>
            </a:r>
          </a:p>
        </p:txBody>
      </p:sp>
    </p:spTree>
    <p:extLst>
      <p:ext uri="{BB962C8B-B14F-4D97-AF65-F5344CB8AC3E}">
        <p14:creationId xmlns:p14="http://schemas.microsoft.com/office/powerpoint/2010/main" val="10269508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B4F203-ED93-46DA-A213-10E75A2C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无人机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数据入池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一池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持续服务主题库与智能体</a:t>
            </a:r>
            <a:endParaRPr sz="36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90BE1BB-182A-4629-B98F-7311167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8FF2E3E2-B981-4EE2-BD85-2C906CA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FAF300D-843F-43FA-84CA-B4E03492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B7D44AC-4ACE-4078-9B0A-2CFA3183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68961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98e50c3f74efe"/>
          <a:srcRect xmlns:a="http://schemas.openxmlformats.org/drawingml/2006/main" l="3321" t="0" r="33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790700"/>
            <a:ext cx="6858000" cy="38290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48342C-DA94-4171-BA78-36E6894A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1650"/>
            <a:ext cx="43624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82690921f4dce"/>
          <a:srcRect xmlns:a="http://schemas.openxmlformats.org/drawingml/2006/main" l="0" t="4785" r="0" b="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67600" y="1790700"/>
            <a:ext cx="4324350" cy="2038350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501717-6354-474A-883D-A9C7619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交通运行主题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8614B2B-EB76-46E2-AE66-01824EB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流量、车速、排队与转向事实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E4C2D7-D95A-4D61-9C81-BC019BA9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91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事件安全主题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DCFF2B-158C-4443-98D4-2AD057A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910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冲突、证据与风险热点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DA4BF3F-AD40-4C02-A9A1-8B429158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路网基础主题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B9502D-1270-407D-9CA2-EFC7440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863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轨迹匹配、渠化与版本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06A7F72-C787-498A-9321-1857BD98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81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评价反哺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505ED81-4A28-4776-8139-D66B05F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8165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治理前后指标回流与复盘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39335E-38F2-465B-94F5-956C82C9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真视频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可控回放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uav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_* 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事实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6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易出行主题库与智能体</a:t>
            </a:r>
            <a:endParaRPr sz="1650" b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7154844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0B183AD-7FEA-4E5D-8E1A-8DB64DD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"/>
            <a:ext cx="11401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一次航拍交付四类可持续使用的业务结果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2BFBEF-BDDE-470C-AA93-BDB9017F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 · 无人机交通治理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72004D3F-1FCF-47CE-81AF-9DEE387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3890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96C6B82-4D64-476F-9A5E-59F44B9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F05F73D-2788-4615-818D-B56BBDA6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76814"/>
            <a:ext cx="2667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1ffce06884177"/>
          <a:srcRect xmlns:a="http://schemas.openxmlformats.org/drawingml/2006/main" l="8600" t="0" r="8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395864"/>
            <a:ext cx="2628900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495CA0-5DF6-4A6D-9681-4C2CDBEE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19914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已形成｜事实链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2397796-9650-4C10-9A31-01EB684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62839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真视频、真库、可控回放和 Mission 谱系均可复核。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AD534D5D-7C33-4281-9DF2-246894D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19914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88268CD-960E-43F9-A1CA-9B1B0F5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76814"/>
            <a:ext cx="2667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eb92e51448f5"/>
          <a:srcRect xmlns:a="http://schemas.openxmlformats.org/drawingml/2006/main" l="6469" t="0" r="64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395864"/>
            <a:ext cx="2628900" cy="161925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A6BCEFB-4F2E-4EE5-A9E2-A4C3B70B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9914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目标｜拥堵响应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1F3BC-9ED9-46CA-A937-3B90F07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2839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试点目标：AI 拥堵事件在有效窗口内 ≤30 秒输出。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FD1A1189-82AB-4D6B-91ED-1FD948C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19914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CA0384C-B951-4B58-B283-B6E84CEE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76814"/>
            <a:ext cx="2667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0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e7d02fac34890"/>
          <a:srcRect xmlns:a="http://schemas.openxmlformats.org/drawingml/2006/main" l="7687" t="0" r="7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395864"/>
            <a:ext cx="2628900" cy="1619250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D7DD244-38D2-46EB-8735-130D3AD0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9914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目标｜事故量算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754BB61-99C1-4CF0-89C2-8B750D3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62839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试点目标：适用场景单事故测绘 ≤15 分钟。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2DD526D7-4234-4319-BD55-5D0CE2B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9914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F88A633-7EA9-43FC-9F4F-647437C9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76814"/>
            <a:ext cx="2667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36a3aeab44410"/>
          <a:srcRect xmlns:a="http://schemas.openxmlformats.org/drawingml/2006/main" l="7687" t="0" r="76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050" y="1395864"/>
            <a:ext cx="2628900" cy="161925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CC99DC-8914-495E-A9E2-CD724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9914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门禁｜模型质量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AF5E7BF-8353-4C83-B12A-F549E641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62839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 Precision 目标 ≥85%，同时验收 Recall 和单位小时误报。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AAAC110-FDE1-4726-BE8F-F53F851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86" y="6122072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仍需完成：权威路网、主平台回执、业务基线、生产安全与多路口试点</a:t>
            </a: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E7A8261-AB0E-B40B-E02B-5B3D8CB1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4389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问题核实有依据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FB22FDD-37CB-19F3-ACAB-2C8787D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8681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按需覆盖盲区，保存影像、态势与任务上下文。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457687-1C84-C931-CF8D-15A88997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4389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风险发现可复核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27B2BE-4CCC-667A-3C99-6CDC04FF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8681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冲突、轨迹、原图和检测图按同一任务留档</a:t>
            </a: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1AF045E-2C14-671A-F372-E6D1C2E7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64389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治理成效可对比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8EC8E9C-79FA-371B-D342-BFE7D5B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18681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按同路口、同时段、同口径完成治理后复测</a:t>
            </a: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85A02ED-1219-F9F6-F0A4-45928645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4389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成果进入统一事实池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BFD2D5-62EB-C4C2-C342-BB68FD2C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86815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轨迹、事件、量算和路网版本持续沉淀</a:t>
            </a: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C0AF883-99F3-3ED7-7271-7673CFF9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749" y="5754302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业务价值先落在“</a:t>
            </a: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看得见、说得清、能复核</a:t>
            </a: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”，</a:t>
            </a: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再通过试点验证治理提升</a:t>
            </a: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4947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8531CCF-82EE-413C-9975-9FCC1A61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DE0FF99-A6CF-4354-AF6D-663217AB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72" y="19050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确认三项试点条件，启动正式业务验证</a:t>
            </a:r>
          </a:p>
        </p:txBody>
      </p:sp>
      <p:sp>
        <p:nvSpPr>
          <p:cNvPr id="5" name="直线连接符 4">
            <a:extLst xmlns:a="http://schemas.openxmlformats.org/drawingml/2006/main">
              <a:ext uri="{FF2B5EF4-FFF2-40B4-BE49-F238E27FC236}">
                <a16:creationId xmlns:a16="http://schemas.microsoft.com/office/drawing/2014/main" id="{9D5A6D4B-A0A3-4BFE-A1D1-F600E3F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D0A24E5-4EA4-4357-BFDF-26EB531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确认试点点位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35197D5-BFC6-4DA2-973F-D62F202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选择 1—2 个问题路口，冻结业务场景、时段和对照窗口。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B68BA64A-8A7C-435C-A18C-CC419FC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E968DE1-5DB8-423C-8D69-B9F513C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76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确认评价口径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FF8F499-0E4B-422F-AA8E-3D9A5768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9530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共同冻结拥堵、安全、效率和数据质量指标及通过规则</a:t>
            </a:r>
            <a:r>
              <a: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1" name="直线连接符 10">
            <a:extLst xmlns:a="http://schemas.openxmlformats.org/drawingml/2006/main">
              <a:ext uri="{FF2B5EF4-FFF2-40B4-BE49-F238E27FC236}">
                <a16:creationId xmlns:a16="http://schemas.microsoft.com/office/drawing/2014/main" id="{21E17C54-ABE5-490F-9A39-26425611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862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E70D11F-5088-41B3-BB04-CD7DB287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295" y="4476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确认数据接口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EB1D3D-80C6-4591-8057-738526F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295" y="49530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打通主平台、主题库及策略回执的正式合同</a:t>
            </a:r>
            <a:r>
              <a:rPr sz="1575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。</a:t>
            </a:r>
            <a:endParaRPr sz="1575" b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978401E-48FD-469A-909B-D49021C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易出行无人机交通治理业务成效与试点汇报</a:t>
            </a:r>
            <a:endParaRPr sz="1200" b="0">
              <a:solidFill>
                <a:srgbClr val="5F667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167C879-3DFF-4DC7-ACFC-1BC55BD2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9604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2026-08-25T02:38:24.4250000Z</dcterms:created>
  <dcterms:modified xsi:type="dcterms:W3CDTF">2026-08-25T02:38:24.4250000Z</dcterms:modified>
</coreProperties>
</file>