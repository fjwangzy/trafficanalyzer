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42d56890e44d3f" /><Relationship Type="http://schemas.openxmlformats.org/officeDocument/2006/relationships/extended-properties" Target="/docProps/app.xml" Id="R65a10dfaabf743eb" /><Relationship Type="http://schemas.openxmlformats.org/officeDocument/2006/relationships/officeDocument" Target="/ppt/presentation.xml" Id="R1516a669a3a54c06" /></Relationships>
</file>

<file path=ppt/presentation.xml><?xml version="1.0" encoding="utf-8"?>
<p:presentation xmlns:p="http://schemas.openxmlformats.org/presentationml/2006/main">
  <p:sldMasterIdLst>
    <p:sldMasterId xmlns:r="http://schemas.openxmlformats.org/officeDocument/2006/relationships" id="2147483648" r:id="R424d7ad41e9547b3"/>
  </p:sldMasterIdLst>
  <p:notesMasterIdLst>
    <p:notesMasterId xmlns:r="http://schemas.openxmlformats.org/officeDocument/2006/relationships" r:id="Rffb7e1f023bb41d1"/>
  </p:notesMasterIdLst>
  <p:sldIdLst>
    <p:sldId xmlns:r="http://schemas.openxmlformats.org/officeDocument/2006/relationships" id="256" r:id="Rbca051f0ce224790"/>
    <p:sldId xmlns:r="http://schemas.openxmlformats.org/officeDocument/2006/relationships" id="257" r:id="R678627afb3864f14"/>
    <p:sldId xmlns:r="http://schemas.openxmlformats.org/officeDocument/2006/relationships" id="258" r:id="Re0b3f6a2e6c5405c"/>
    <p:sldId xmlns:r="http://schemas.openxmlformats.org/officeDocument/2006/relationships" id="259" r:id="R4cfba3d3e1e24275"/>
    <p:sldId xmlns:r="http://schemas.openxmlformats.org/officeDocument/2006/relationships" id="260" r:id="Ra1e1fb6ced7546fe"/>
    <p:sldId xmlns:r="http://schemas.openxmlformats.org/officeDocument/2006/relationships" id="261" r:id="Re5ee269703144090"/>
    <p:sldId xmlns:r="http://schemas.openxmlformats.org/officeDocument/2006/relationships" id="262" r:id="R4f6468f4e83b4003"/>
    <p:sldId xmlns:r="http://schemas.openxmlformats.org/officeDocument/2006/relationships" id="263" r:id="R6e4b02b8d00f4479"/>
    <p:sldId xmlns:r="http://schemas.openxmlformats.org/officeDocument/2006/relationships" id="264" r:id="R99beeaa14f7d4874"/>
    <p:sldId xmlns:r="http://schemas.openxmlformats.org/officeDocument/2006/relationships" id="265" r:id="Rc0a78cd81dd04684"/>
    <p:sldId xmlns:r="http://schemas.openxmlformats.org/officeDocument/2006/relationships" id="266" r:id="R60dd1753a6144cf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adc06fe428794ed9" /><Relationship Type="http://schemas.openxmlformats.org/officeDocument/2006/relationships/slideMaster" Target="/ppt/slideMasters/slideMaster1.xml" Id="R424d7ad41e9547b3" /><Relationship Type="http://schemas.openxmlformats.org/officeDocument/2006/relationships/notesMaster" Target="/ppt/notesMasters/notesMaster1.xml" Id="Rffb7e1f023bb41d1" /><Relationship Type="http://schemas.openxmlformats.org/officeDocument/2006/relationships/presProps" Target="/ppt/presProps.xml" Id="Rc359298eb23f4f70" /><Relationship Type="http://schemas.openxmlformats.org/officeDocument/2006/relationships/viewProps" Target="/ppt/viewProps.xml" Id="Re1202fe9830c4d99" /><Relationship Type="http://schemas.openxmlformats.org/officeDocument/2006/relationships/tableStyles" Target="/ppt/tableStyles.xml" Id="R7edb60b927f14c58" /><Relationship Type="http://schemas.openxmlformats.org/officeDocument/2006/relationships/slide" Target="/ppt/slides/slide1.xml" Id="Rbca051f0ce224790" /><Relationship Type="http://schemas.openxmlformats.org/officeDocument/2006/relationships/slide" Target="/ppt/slides/slide2.xml" Id="R678627afb3864f14" /><Relationship Type="http://schemas.openxmlformats.org/officeDocument/2006/relationships/slide" Target="/ppt/slides/slide3.xml" Id="Re0b3f6a2e6c5405c" /><Relationship Type="http://schemas.openxmlformats.org/officeDocument/2006/relationships/slide" Target="/ppt/slides/slide4.xml" Id="R4cfba3d3e1e24275" /><Relationship Type="http://schemas.openxmlformats.org/officeDocument/2006/relationships/slide" Target="/ppt/slides/slide5.xml" Id="Ra1e1fb6ced7546fe" /><Relationship Type="http://schemas.openxmlformats.org/officeDocument/2006/relationships/slide" Target="/ppt/slides/slide6.xml" Id="Re5ee269703144090" /><Relationship Type="http://schemas.openxmlformats.org/officeDocument/2006/relationships/slide" Target="/ppt/slides/slide7.xml" Id="R4f6468f4e83b4003" /><Relationship Type="http://schemas.openxmlformats.org/officeDocument/2006/relationships/slide" Target="/ppt/slides/slide8.xml" Id="R6e4b02b8d00f4479" /><Relationship Type="http://schemas.openxmlformats.org/officeDocument/2006/relationships/slide" Target="/ppt/slides/slide9.xml" Id="R99beeaa14f7d4874" /><Relationship Type="http://schemas.openxmlformats.org/officeDocument/2006/relationships/slide" Target="/ppt/slides/slide10.xml" Id="Rc0a78cd81dd04684" /><Relationship Type="http://schemas.openxmlformats.org/officeDocument/2006/relationships/slide" Target="/ppt/slides/slide11.xml" Id="R60dd1753a6144c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82189e9b2b411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97d9d1272c4366" /><Relationship Type="http://schemas.openxmlformats.org/officeDocument/2006/relationships/notesMaster" Target="/ppt/notesMasters/notesMaster1.xml" Id="R2db14a94bf714eb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bb3d93fcb14132" /><Relationship Type="http://schemas.openxmlformats.org/officeDocument/2006/relationships/notesMaster" Target="/ppt/notesMasters/notesMaster1.xml" Id="R3f3907eecbf24c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13bccb5bcff24529" /><Relationship Type="http://schemas.openxmlformats.org/officeDocument/2006/relationships/notesMaster" Target="/ppt/notesMasters/notesMaster1.xml" Id="R709e445b81944267"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7352008bd14182" /><Relationship Type="http://schemas.openxmlformats.org/officeDocument/2006/relationships/notesMaster" Target="/ppt/notesMasters/notesMaster1.xml" Id="Rc03601f0e1184282" /></Relationships>
</file>

<file path=ppt/notesSlides/_rels/notesSlide5.xml.rels>&#65279;<?xml version="1.0" encoding="utf-8"?><Relationships xmlns="http://schemas.openxmlformats.org/package/2006/relationships"><Relationship Type="http://schemas.openxmlformats.org/officeDocument/2006/relationships/slide" Target="/ppt/slides/slide5.xml" Id="R28a0b4991fe643d0" /><Relationship Type="http://schemas.openxmlformats.org/officeDocument/2006/relationships/notesMaster" Target="/ppt/notesMasters/notesMaster1.xml" Id="R31d75a263f88450f"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401f2dd3ae4fac" /><Relationship Type="http://schemas.openxmlformats.org/officeDocument/2006/relationships/notesMaster" Target="/ppt/notesMasters/notesMaster1.xml" Id="R29cc44a81dfb484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0a38f4ab1214ed7" /><Relationship Type="http://schemas.openxmlformats.org/officeDocument/2006/relationships/notesMaster" Target="/ppt/notesMasters/notesMaster1.xml" Id="R551a5d2d902440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91a87349aa4b9c" /><Relationship Type="http://schemas.openxmlformats.org/officeDocument/2006/relationships/notesMaster" Target="/ppt/notesMasters/notesMaster1.xml" Id="R87667bc4a7f344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776a6ccc3841a4" /><Relationship Type="http://schemas.openxmlformats.org/officeDocument/2006/relationships/notesMaster" Target="/ppt/notesMasters/notesMaster1.xml" Id="R85cda824565a4dd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53861d0ff6346cb" /><Relationship Type="http://schemas.openxmlformats.org/officeDocument/2006/relationships/notesMaster" Target="/ppt/notesMasters/notesMaster1.xml" Id="Rda7df0b4241b49e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738689460e445de" /><Relationship Type="http://schemas.openxmlformats.org/officeDocument/2006/relationships/notesMaster" Target="/ppt/notesMasters/notesMaster1.xml" Id="R81d5d53b28be4c4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本次汇报不把无人机作为独立平台介绍，而是说明它如何补足易出行的机动感知、风险证据和治理复测能力。</a:t>
            </a:r>
          </a:p>
          <a:p xmlns:a="http://schemas.openxmlformats.org/drawingml/2006/main">
            <a:r>
              <a:t/>
            </a:r>
            <a:endParaRPr/>
          </a:p>
          <a:p xmlns:a="http://schemas.openxmlformats.org/drawingml/2006/main">
            <a:r>
              <a:t>[Sources]</a:t>
            </a:r>
          </a:p>
          <a:p xmlns:a="http://schemas.openxmlformats.org/drawingml/2006/main">
            <a:r>
              <a:t>- /Users/yaoyao/ai/llmwiki/Icx-wiki/wiki/entities/易出行项目.md</a:t>
            </a:r>
          </a:p>
          <a:p xmlns:a="http://schemas.openxmlformats.org/drawingml/2006/main">
            <a:r>
              <a:t>- /Users/yaoyao/ai/llmwiki/Icx-wiki/wiki/overview.md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四类结果均是当前系统能够形成和保存的业务资产；本页不使用未经试点验证的降本比例、效率倍数或交通改善数字。</a:t>
            </a:r>
          </a:p>
          <a:p xmlns:a="http://schemas.openxmlformats.org/drawingml/2006/main">
            <a:r>
              <a:t/>
            </a:r>
            <a:endParaRPr/>
          </a:p>
          <a:p xmlns:a="http://schemas.openxmlformats.org/drawingml/2006/main">
            <a:r>
              <a:t>[Sources]</a:t>
            </a:r>
          </a:p>
          <a:p xmlns:a="http://schemas.openxmlformats.org/drawingml/2006/main">
            <a:r>
              <a:t>- /Users/yaoyao/ai/TrafficAnalyzer/docs/generated/2026-06-29-uav-traffic-ai-prd.md</a:t>
            </a:r>
          </a:p>
          <a:p xmlns:a="http://schemas.openxmlformats.org/drawingml/2006/main">
            <a:r>
              <a:t>- /Users/yaoyao/ai/TrafficAnalyzer/docs/ARCHITECTURE.md</a:t>
            </a:r>
          </a:p>
          <a:p xmlns:a="http://schemas.openxmlformats.org/drawingml/2006/main">
            <a:r>
              <a:t>- /Users/yaoyao/ai/TrafficAnalyzer/docs/API_CONTRACTS.md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无人机不是替代固定感知，而是补齐按需到场、连续取证和同口径复测。右侧为 AI 生成的概念插图，仅表达业务关系，不是产品界面、现场证据或已实现成效。</a:t>
            </a:r>
          </a:p>
          <a:p xmlns:a="http://schemas.openxmlformats.org/drawingml/2006/main">
            <a:r>
              <a:t/>
            </a:r>
          </a:p>
          <a:p xmlns:a="http://schemas.openxmlformats.org/drawingml/2006/main">
            <a:r>
              <a:t>[Sources]</a:t>
            </a:r>
            <a:endParaRPr/>
          </a:p>
          <a:p xmlns:a="http://schemas.openxmlformats.org/drawingml/2006/main">
            <a:r>
              <a:t>- /Users/yaoyao/ai/llmwiki/Icx-wiki/wiki/entities/易出行项目.md</a:t>
            </a:r>
          </a:p>
          <a:p xmlns:a="http://schemas.openxmlformats.org/drawingml/2006/main">
            <a:r>
              <a:t>- /Users/yaoyao/ai/llmwiki/Icx-wiki/wiki/concepts/一图一池三智架构.md</a:t>
            </a:r>
          </a:p>
          <a:p xmlns:a="http://schemas.openxmlformats.org/drawingml/2006/main">
            <a:r>
              <a:t>- AI-generated conceptual illustration; no product UI, field evidence, third-party logo, or numeric result.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强调责任边界：TrafficAnalyzer 触发 AI 分析 Pipeline，不负责 DJI 航点、起降、返航或云台控制；交通策略和控制执行由易出行主平台、交通智能体及人工审批链路负责。</a:t>
            </a:r>
          </a:p>
          <a:p xmlns:a="http://schemas.openxmlformats.org/drawingml/2006/main">
            <a:r>
              <a:t/>
            </a:r>
          </a:p>
          <a:p xmlns:a="http://schemas.openxmlformats.org/drawingml/2006/main">
            <a:r>
              <a:t>[Sources]</a:t>
            </a:r>
            <a:endParaRPr/>
          </a:p>
          <a:p xmlns:a="http://schemas.openxmlformats.org/drawingml/2006/main">
            <a:r>
              <a:t>- /Users/yaoyao/ai/llmwiki/Icx-wiki/wiki/concepts/数据反哺闭环.md</a:t>
            </a:r>
          </a:p>
          <a:p xmlns:a="http://schemas.openxmlformats.org/drawingml/2006/main">
            <a:r>
              <a:t>- /Users/yaoyao/ai/llmwiki/Icx-wiki/wiki/concepts/交通智能体.md</a:t>
            </a:r>
          </a:p>
          <a:p xmlns:a="http://schemas.openxmlformats.org/drawingml/2006/main">
            <a:r>
              <a:t>- /Users/yaoyao/ai/TrafficAnalyzer/docs/generated/uav-traffic-ai-prd/S9-drone-integration-flight-plan-prd.md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无人机事实与易出行交通运行、信号控制主题指标联合使用。治理前后比较应冻结路口、星期、五分钟时段和可比飞行条件；不把缺少年度日期的数据称为正式同比。</a:t>
            </a:r>
          </a:p>
          <a:p xmlns:a="http://schemas.openxmlformats.org/drawingml/2006/main">
            <a:r>
              <a:t/>
            </a:r>
          </a:p>
          <a:p xmlns:a="http://schemas.openxmlformats.org/drawingml/2006/main">
            <a:r>
              <a:t>[Sources]</a:t>
            </a:r>
            <a:endParaRPr/>
          </a:p>
          <a:p xmlns:a="http://schemas.openxmlformats.org/drawingml/2006/main">
            <a:r>
              <a:t>- /Users/yaoyao/ai/llmwiki/Icx-wiki/wiki/concepts/八大业务主题库.md</a:t>
            </a:r>
          </a:p>
          <a:p xmlns:a="http://schemas.openxmlformats.org/drawingml/2006/main">
            <a:r>
              <a:t>- /Users/yaoyao/ai/TrafficAnalyzer/docs/generated/uav-traffic-ai-prd/S1-intersection-situation-prd.md</a:t>
            </a:r>
          </a:p>
          <a:p xmlns:a="http://schemas.openxmlformats.org/drawingml/2006/main">
            <a:r>
              <a:t>- /Users/yaoyao/ai/TrafficAnalyzer/docs/BUSINESS_LOGIC.md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冲突事件是交通安全风险线索，不等同于事故、违法或警情定性。当前默认业务口径要求未来路径存在交点且双方在同一时间进入共同冲突区。</a:t>
            </a:r>
          </a:p>
          <a:p xmlns:a="http://schemas.openxmlformats.org/drawingml/2006/main">
            <a:r>
              <a:t/>
            </a:r>
          </a:p>
          <a:p xmlns:a="http://schemas.openxmlformats.org/drawingml/2006/main">
            <a:r>
              <a:t>[Sources]</a:t>
            </a:r>
            <a:endParaRPr/>
          </a:p>
          <a:p xmlns:a="http://schemas.openxmlformats.org/drawingml/2006/main">
            <a:r>
              <a:t>- /Users/yaoyao/ai/TrafficAnalyzer/docs/generated/uav-traffic-ai-prd/S2-conflict-prd.md</a:t>
            </a:r>
          </a:p>
          <a:p xmlns:a="http://schemas.openxmlformats.org/drawingml/2006/main">
            <a:r>
              <a:t>- /Users/yaoyao/ai/TrafficAnalyzer/docs/BUSINESS_LOGIC.md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本页陈述的是量算与成果包能力，不宣称已达到法定事故勘查精度，也不替代人工复测、责任认定或签章。</a:t>
            </a:r>
          </a:p>
          <a:p xmlns:a="http://schemas.openxmlformats.org/drawingml/2006/main">
            <a:r>
              <a:t/>
            </a:r>
          </a:p>
          <a:p xmlns:a="http://schemas.openxmlformats.org/drawingml/2006/main">
            <a:r>
              <a:t>[Sources]</a:t>
            </a:r>
            <a:endParaRPr/>
          </a:p>
          <a:p xmlns:a="http://schemas.openxmlformats.org/drawingml/2006/main">
            <a:r>
              <a:t>- /Users/yaoyao/ai/TrafficAnalyzer/docs/generated/uav-traffic-ai-prd/S3-accident-survey-prd.md</a:t>
            </a:r>
          </a:p>
          <a:p xmlns:a="http://schemas.openxmlformats.org/drawingml/2006/main">
            <a:r>
              <a:t>- /Users/yaoyao/ai/TrafficAnalyzer/docs/API_CONTRACTS.md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权威路网必须与 road_data_version 一起解释。低置信、歧义或缺数据时输出 unmapped 或降级状态，不能用本地序号冒充正式 Link/Lane。</a:t>
            </a:r>
          </a:p>
          <a:p xmlns:a="http://schemas.openxmlformats.org/drawingml/2006/main">
            <a:r>
              <a:t/>
            </a:r>
          </a:p>
          <a:p xmlns:a="http://schemas.openxmlformats.org/drawingml/2006/main">
            <a:r>
              <a:t>[Sources]</a:t>
            </a:r>
            <a:endParaRPr/>
          </a:p>
          <a:p xmlns:a="http://schemas.openxmlformats.org/drawingml/2006/main">
            <a:r>
              <a:t>- /Users/yaoyao/ai/llmwiki/Icx-wiki/wiki/concepts/可计算路网.md</a:t>
            </a:r>
          </a:p>
          <a:p xmlns:a="http://schemas.openxmlformats.org/drawingml/2006/main">
            <a:r>
              <a:t>- /Users/yaoyao/ai/TrafficAnalyzer/docs/generated/uav-traffic-ai-prd/S5-road-and-common-capabilities-prd.md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无人机输出不是孤立看板数据，而是进入统一事实链后供交通运行、事件安全、路网基础主题和评价反哺使用。实时监测与封存回放分层，不能把回放任务拼成伪实时。</a:t>
            </a:r>
          </a:p>
          <a:p xmlns:a="http://schemas.openxmlformats.org/drawingml/2006/main">
            <a:r>
              <a:t/>
            </a:r>
          </a:p>
          <a:p xmlns:a="http://schemas.openxmlformats.org/drawingml/2006/main">
            <a:r>
              <a:t>[Sources]</a:t>
            </a:r>
            <a:endParaRPr/>
          </a:p>
          <a:p xmlns:a="http://schemas.openxmlformats.org/drawingml/2006/main">
            <a:r>
              <a:t>- /Users/yaoyao/ai/llmwiki/Icx-wiki/wiki/concepts/八大业务主题库.md</a:t>
            </a:r>
          </a:p>
          <a:p xmlns:a="http://schemas.openxmlformats.org/drawingml/2006/main">
            <a:r>
              <a:t>- /Users/yaoyao/ai/llmwiki/Icx-wiki/wiki/concepts/多源异构数据时空归一化.md</a:t>
            </a:r>
          </a:p>
          <a:p xmlns:a="http://schemas.openxmlformats.org/drawingml/2006/main">
            <a:r>
              <a:t>- /Users/yaoyao/ai/TrafficAnalyzer/docs/ARCHITECTURE.md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“已形成”只覆盖当前可复核工程闭环；≤30 秒、≤15 分钟和 Precision ≥85% 均为试点或项目目标，不是已取得的交通治理成效。Precision 不能脱离 Recall 和单位小时误报单独验收。</a:t>
            </a:r>
          </a:p>
          <a:p xmlns:a="http://schemas.openxmlformats.org/drawingml/2006/main">
            <a:r>
              <a:t/>
            </a:r>
            <a:endParaRPr/>
          </a:p>
          <a:p xmlns:a="http://schemas.openxmlformats.org/drawingml/2006/main">
            <a:r>
              <a:t>[Sources]</a:t>
            </a:r>
          </a:p>
          <a:p xmlns:a="http://schemas.openxmlformats.org/drawingml/2006/main">
            <a:r>
              <a:t>- /Users/yaoyao/ai/TrafficAnalyzer/docs/generated/2026-06-29-uav-traffic-ai-prd.md — project targets and success criteria</a:t>
            </a:r>
          </a:p>
          <a:p xmlns:a="http://schemas.openxmlformats.org/drawingml/2006/main">
            <a:r>
              <a:t>- /Users/yaoyao/ai/TrafficAnalyzer/docs/generated/uav-traffic-ai-prd/S7-quality-acceptance-operations-prd.md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建议决策顺序：先确认 1—2 个问题路口和主场景，再冻结数据合同与评价口径，最后进入治理前后可比的业务试点。</a:t>
            </a:r>
          </a:p>
          <a:p xmlns:a="http://schemas.openxmlformats.org/drawingml/2006/main">
            <a:r>
              <a:t/>
            </a:r>
          </a:p>
          <a:p xmlns:a="http://schemas.openxmlformats.org/drawingml/2006/main">
            <a:r>
              <a:t>[Sources]</a:t>
            </a:r>
            <a:endParaRPr/>
          </a:p>
          <a:p xmlns:a="http://schemas.openxmlformats.org/drawingml/2006/main">
            <a:r>
              <a:t>- /Users/yaoyao/ai/TrafficAnalyzer/docs/generated/2026-06-29-uav-traffic-ai-prd.md</a:t>
            </a:r>
          </a:p>
          <a:p xmlns:a="http://schemas.openxmlformats.org/drawingml/2006/main">
            <a:r>
              <a:t>- /Users/yaoyao/ai/TrafficAnalyzer/docs/generated/uav-traffic-ai-prd/S6-main-platform-integration-prd.md</a:t>
            </a:r>
          </a:p>
          <a:p xmlns:a="http://schemas.openxmlformats.org/drawingml/2006/main">
            <a:r>
              <a:t>- /Users/yaoyao/ai/TrafficAnalyzer/docs/generated/uav-traffic-ai-prd/S7-quality-acceptance-operations-prd.md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970095eef04f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11c3cae4959e4035" /><Relationship Type="http://schemas.openxmlformats.org/officeDocument/2006/relationships/image" Target="/ppt/media/image2.png" Id="Rb740f3d2aa014255" /><Relationship Type="http://schemas.openxmlformats.org/officeDocument/2006/relationships/theme" Target="/ppt/slideMasters/theme/theme2.xml" Id="R08b817e3658846d2" /><Relationship Type="http://schemas.openxmlformats.org/officeDocument/2006/relationships/slideLayout" Target="/ppt/slideLayouts/slideLayout1.xml" Id="Rcd8d79aa81e44b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pic>
        <p:nvPicPr>
          <p:cNvPr id="3" name="图片 1"/>
          <p:cNvPicPr>
            <a:picLocks xmlns:a="http://schemas.openxmlformats.org/drawingml/2006/main" noChangeAspect="1"/>
          </p:cNvPicPr>
          <p:nvPr/>
        </p:nvPicPr>
        <p:blipFill>
          <a:blip xmlns:r="http://schemas.openxmlformats.org/officeDocument/2006/relationships" xmlns:a="http://schemas.openxmlformats.org/drawingml/2006/main" r:embed="R11c3cae4959e4035"/>
          <a:stretch xmlns:a="http://schemas.openxmlformats.org/drawingml/2006/main">
            <a:fillRect l="0" t="0" r="0" b="0"/>
          </a:stretch>
        </p:blipFill>
        <p:spPr>
          <a:xfrm xmlns:a="http://schemas.openxmlformats.org/drawingml/2006/main">
            <a:off x="9205784" y="93992"/>
            <a:ext cx="2986216" cy="481953"/>
          </a:xfrm>
          <a:prstGeom xmlns:a="http://schemas.openxmlformats.org/drawingml/2006/main" prst="rect">
            <a:avLst/>
          </a:prstGeom>
        </p:spPr>
      </p:pic>
      <p:pic>
        <p:nvPicPr>
          <p:cNvPr id="4" name="图片 2"/>
          <p:cNvPicPr>
            <a:picLocks xmlns:a="http://schemas.openxmlformats.org/drawingml/2006/main" noChangeAspect="1"/>
          </p:cNvPicPr>
          <p:nvPr/>
        </p:nvPicPr>
        <p:blipFill>
          <a:blip xmlns:r="http://schemas.openxmlformats.org/officeDocument/2006/relationships" xmlns:a="http://schemas.openxmlformats.org/drawingml/2006/main" r:embed="Rb740f3d2aa014255"/>
          <a:stretch xmlns:a="http://schemas.openxmlformats.org/drawingml/2006/main">
            <a:fillRect l="0" t="0" r="0" b="0"/>
          </a:stretch>
        </p:blipFill>
        <p:spPr>
          <a:xfrm xmlns:a="http://schemas.openxmlformats.org/drawingml/2006/main">
            <a:off x="9798908" y="6595213"/>
            <a:ext cx="2405449" cy="250430"/>
          </a:xfrm>
          <a:prstGeom xmlns:a="http://schemas.openxmlformats.org/drawingml/2006/main" prst="rect">
            <a:avLst/>
          </a:prstGeom>
        </p:spPr>
      </p:pic>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8d79aa81e44b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f4cc27acbc54e88" /><Relationship Type="http://schemas.openxmlformats.org/officeDocument/2006/relationships/notesSlide" Target="/ppt/notesSlides/notesSlide1.xml" Id="R063a24328ed043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c13fde0b4274a1a" /><Relationship Type="http://schemas.openxmlformats.org/officeDocument/2006/relationships/image" Target="/ppt/media/image.jpeg" Id="R1a13a45e23f44654" /><Relationship Type="http://schemas.openxmlformats.org/officeDocument/2006/relationships/image" Target="/ppt/media/image2.jpeg" Id="Re876645d41bf42cf" /><Relationship Type="http://schemas.openxmlformats.org/officeDocument/2006/relationships/image" Target="/ppt/media/image3.jpeg" Id="R1d7782f7c4b449fa" /><Relationship Type="http://schemas.openxmlformats.org/officeDocument/2006/relationships/image" Target="/ppt/media/image4.jpeg" Id="R7d683432a16e4e34" /><Relationship Type="http://schemas.openxmlformats.org/officeDocument/2006/relationships/notesSlide" Target="/ppt/notesSlides/notesSlide2.xml" Id="R1efab367e41f48c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cd33cf0ae104ffe" /><Relationship Type="http://schemas.openxmlformats.org/officeDocument/2006/relationships/image" Target="/ppt/media/image3.png" Id="R7cef13a5e5434195" /><Relationship Type="http://schemas.openxmlformats.org/officeDocument/2006/relationships/notesSlide" Target="/ppt/notesSlides/notesSlide3.xml" Id="R563f540e2bf341a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f6181cd521c4419" /><Relationship Type="http://schemas.openxmlformats.org/officeDocument/2006/relationships/notesSlide" Target="/ppt/notesSlides/notesSlide4.xml" Id="R4e04f0714fe7437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9111f59525f42d9" /><Relationship Type="http://schemas.openxmlformats.org/officeDocument/2006/relationships/image" Target="/ppt/media/image5.jpeg" Id="Rfb21c969c4a741c8" /><Relationship Type="http://schemas.openxmlformats.org/officeDocument/2006/relationships/image" Target="/ppt/media/image6.jpeg" Id="Rd15660e51cf04c87" /><Relationship Type="http://schemas.openxmlformats.org/officeDocument/2006/relationships/notesSlide" Target="/ppt/notesSlides/notesSlide5.xml" Id="R43e0dae5bbd9462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e643fdcefcc4b0c" /><Relationship Type="http://schemas.openxmlformats.org/officeDocument/2006/relationships/image" Target="/ppt/media/image4.png" Id="Rfc918a85d8314645" /><Relationship Type="http://schemas.openxmlformats.org/officeDocument/2006/relationships/image" Target="/ppt/media/image5.png" Id="R2156963bb95543b5" /><Relationship Type="http://schemas.openxmlformats.org/officeDocument/2006/relationships/notesSlide" Target="/ppt/notesSlides/notesSlide6.xml" Id="R90da86ae11f74b6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bee7cb3ec60443f" /><Relationship Type="http://schemas.openxmlformats.org/officeDocument/2006/relationships/image" Target="/ppt/media/image7.jpeg" Id="R954df7674c0247a0" /><Relationship Type="http://schemas.openxmlformats.org/officeDocument/2006/relationships/image" Target="/ppt/media/image8.jpeg" Id="Re108fc276fee4382" /><Relationship Type="http://schemas.openxmlformats.org/officeDocument/2006/relationships/notesSlide" Target="/ppt/notesSlides/notesSlide7.xml" Id="R516630256e8f40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72d11951ec645f1" /><Relationship Type="http://schemas.openxmlformats.org/officeDocument/2006/relationships/image" Target="/ppt/media/image9.jpeg" Id="R7ffc4e4e05884d7e" /><Relationship Type="http://schemas.openxmlformats.org/officeDocument/2006/relationships/image" Target="/ppt/media/image10.jpeg" Id="Reb9c4b7ec24c42e5" /><Relationship Type="http://schemas.openxmlformats.org/officeDocument/2006/relationships/notesSlide" Target="/ppt/notesSlides/notesSlide8.xml" Id="R7afc8546e57d4bb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3bb757f2cb1424c" /><Relationship Type="http://schemas.openxmlformats.org/officeDocument/2006/relationships/image" Target="/ppt/media/image11.jpeg" Id="R09fec784143b4cdf" /><Relationship Type="http://schemas.openxmlformats.org/officeDocument/2006/relationships/image" Target="/ppt/media/image12.jpeg" Id="R5b3f960d819f48fe" /><Relationship Type="http://schemas.openxmlformats.org/officeDocument/2006/relationships/notesSlide" Target="/ppt/notesSlides/notesSlide9.xml" Id="R9a3708bf447045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375fec8816e445d" /><Relationship Type="http://schemas.openxmlformats.org/officeDocument/2006/relationships/image" Target="/ppt/media/image.jpeg" Id="Rddbe0b8292c54ab5" /><Relationship Type="http://schemas.openxmlformats.org/officeDocument/2006/relationships/image" Target="/ppt/media/image2.jpeg" Id="R98d1f85371ae4f95" /><Relationship Type="http://schemas.openxmlformats.org/officeDocument/2006/relationships/image" Target="/ppt/media/image3.jpeg" Id="Ra014b993456c49da" /><Relationship Type="http://schemas.openxmlformats.org/officeDocument/2006/relationships/image" Target="/ppt/media/image4.jpeg" Id="R5eb3b7be8ea7407d" /><Relationship Type="http://schemas.openxmlformats.org/officeDocument/2006/relationships/notesSlide" Target="/ppt/notesSlides/notesSlide10.xml" Id="Rd4cb9010b061439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75eb6e79c0d45a2" /><Relationship Type="http://schemas.openxmlformats.org/officeDocument/2006/relationships/notesSlide" Target="/ppt/notesSlides/notesSlide11.xml" Id="Rc0fd49b610e44ea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矩形 7">
            <a:extLst xmlns:a="http://schemas.openxmlformats.org/drawingml/2006/main">
              <a:ext uri="{FF2B5EF4-FFF2-40B4-BE49-F238E27FC236}">
                <a16:creationId xmlns:a16="http://schemas.microsoft.com/office/drawing/2014/main" id="{38D7D1C6-AE2F-40E3-89B6-FFA1F15525CD}"/>
              </a:ext>
            </a:extLst>
          </p:cNvPr>
          <p:cNvSpPr>
            <a:spLocks xmlns:a="http://schemas.openxmlformats.org/drawingml/2006/main" noGrp="1"/>
          </p:cNvSpPr>
          <p:nvPr/>
        </p:nvSpPr>
        <p:spPr>
          <a:xfrm xmlns:a="http://schemas.openxmlformats.org/drawingml/2006/main">
            <a:off x="390525" y="323850"/>
            <a:ext cx="1524000" cy="47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 name="矩形 1">
            <a:extLst xmlns:a="http://schemas.openxmlformats.org/drawingml/2006/main">
              <a:ext uri="{FF2B5EF4-FFF2-40B4-BE49-F238E27FC236}">
                <a16:creationId xmlns:a16="http://schemas.microsoft.com/office/drawing/2014/main" id="{9A89F9AE-E921-4DB1-A4EF-15300EC2DADE}"/>
              </a:ext>
            </a:extLst>
          </p:cNvPr>
          <p:cNvSpPr>
            <a:spLocks xmlns:a="http://schemas.openxmlformats.org/drawingml/2006/main" noGrp="1"/>
          </p:cNvSpPr>
          <p:nvPr/>
        </p:nvSpPr>
        <p:spPr>
          <a:xfrm xmlns:a="http://schemas.openxmlformats.org/drawingml/2006/main">
            <a:off x="390525" y="5524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5F6670"/>
                </a:solidFill>
                <a:latin typeface="PingFang SC"/>
                <a:ea typeface="PingFang SC"/>
                <a:cs typeface="PingFang SC"/>
              </a:defRPr>
            </a:pPr>
            <a:r>
              <a:rPr sz="1800" b="1">
                <a:solidFill>
                  <a:srgbClr val="5F6670"/>
                </a:solidFill>
                <a:latin typeface="PingFang SC"/>
                <a:ea typeface="PingFang SC"/>
                <a:cs typeface="PingFang SC"/>
              </a:rPr>
              <a:t>易出行 · 无人机交通治理</a:t>
            </a:r>
          </a:p>
        </p:txBody>
      </p:sp>
      <p:sp>
        <p:nvSpPr>
          <p:cNvPr id="4" name="矩形 3">
            <a:extLst xmlns:a="http://schemas.openxmlformats.org/drawingml/2006/main">
              <a:ext uri="{FF2B5EF4-FFF2-40B4-BE49-F238E27FC236}">
                <a16:creationId xmlns:a16="http://schemas.microsoft.com/office/drawing/2014/main" id="{BE0AD9B2-2E47-4BAE-8F15-C2B2A7F52F95}"/>
              </a:ext>
            </a:extLst>
          </p:cNvPr>
          <p:cNvSpPr>
            <a:spLocks xmlns:a="http://schemas.openxmlformats.org/drawingml/2006/main" noGrp="1"/>
          </p:cNvSpPr>
          <p:nvPr/>
        </p:nvSpPr>
        <p:spPr>
          <a:xfrm xmlns:a="http://schemas.openxmlformats.org/drawingml/2006/main">
            <a:off x="390525" y="2217521"/>
            <a:ext cx="10668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lstStyle xmlns:a="http://schemas.openxmlformats.org/drawingml/2006/main"/>
          <a:p xmlns:a="http://schemas.openxmlformats.org/drawingml/2006/main">
            <a:pPr algn="l">
              <a:buNone/>
              <a:defRPr sz="5400" b="1">
                <a:solidFill>
                  <a:srgbClr val="000000"/>
                </a:solidFill>
                <a:latin typeface="PingFang SC"/>
                <a:ea typeface="PingFang SC"/>
                <a:cs typeface="PingFang SC"/>
              </a:defRPr>
            </a:pPr>
            <a:r>
              <a:rPr sz="5400" b="1">
                <a:solidFill>
                  <a:srgbClr val="000000"/>
                </a:solidFill>
                <a:latin typeface="PingFang SC"/>
                <a:ea typeface="PingFang SC"/>
                <a:cs typeface="PingFang SC"/>
              </a:rPr>
              <a:t>易出行无人机交通治理业务汇报</a:t>
            </a:r>
            <a:endParaRPr sz="5400" b="1">
              <a:solidFill>
                <a:srgbClr val="000000"/>
              </a:solidFill>
              <a:latin typeface="PingFang SC"/>
              <a:ea typeface="PingFang SC"/>
              <a:cs typeface="PingFang SC"/>
            </a:endParaRPr>
          </a:p>
        </p:txBody>
      </p:sp>
      <p:sp>
        <p:nvSpPr>
          <p:cNvPr id="5" name="矩形 4">
            <a:extLst xmlns:a="http://schemas.openxmlformats.org/drawingml/2006/main">
              <a:ext uri="{FF2B5EF4-FFF2-40B4-BE49-F238E27FC236}">
                <a16:creationId xmlns:a16="http://schemas.microsoft.com/office/drawing/2014/main" id="{444570DE-0B2A-4FA7-8625-6D1B4628B692}"/>
              </a:ext>
            </a:extLst>
          </p:cNvPr>
          <p:cNvSpPr>
            <a:spLocks xmlns:a="http://schemas.openxmlformats.org/drawingml/2006/main" noGrp="1"/>
          </p:cNvSpPr>
          <p:nvPr/>
        </p:nvSpPr>
        <p:spPr>
          <a:xfrm xmlns:a="http://schemas.openxmlformats.org/drawingml/2006/main">
            <a:off x="390525" y="3541496"/>
            <a:ext cx="1047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0">
                <a:solidFill>
                  <a:srgbClr val="5F6670"/>
                </a:solidFill>
                <a:latin typeface="PingFang SC"/>
                <a:ea typeface="PingFang SC"/>
                <a:cs typeface="PingFang SC"/>
              </a:defRPr>
            </a:pPr>
            <a:r>
              <a:rPr sz="2250" b="0">
                <a:solidFill>
                  <a:srgbClr val="5F6670"/>
                </a:solidFill>
                <a:latin typeface="PingFang SC"/>
                <a:ea typeface="PingFang SC"/>
                <a:cs typeface="PingFang SC"/>
              </a:rPr>
              <a:t>机动补盲 · 风险取证 · 治理复测 · 数据反哺</a:t>
            </a:r>
          </a:p>
        </p:txBody>
      </p:sp>
      <p:sp>
        <p:nvSpPr>
          <p:cNvPr id="7" name="矩形 6">
            <a:extLst xmlns:a="http://schemas.openxmlformats.org/drawingml/2006/main">
              <a:ext uri="{FF2B5EF4-FFF2-40B4-BE49-F238E27FC236}">
                <a16:creationId xmlns:a16="http://schemas.microsoft.com/office/drawing/2014/main" id="{FB3F27CC-A2ED-42DB-875A-864994CFF466}"/>
              </a:ext>
            </a:extLst>
          </p:cNvPr>
          <p:cNvSpPr>
            <a:spLocks xmlns:a="http://schemas.openxmlformats.org/drawingml/2006/main" noGrp="1"/>
          </p:cNvSpPr>
          <p:nvPr/>
        </p:nvSpPr>
        <p:spPr>
          <a:xfrm xmlns:a="http://schemas.openxmlformats.org/drawingml/2006/main">
            <a:off x="10287000" y="5638800"/>
            <a:ext cx="1504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2026.08</a:t>
            </a:r>
          </a:p>
        </p:txBody>
      </p:sp>
    </p:spTree>
    <p:extLst>
      <p:ext uri="{BB962C8B-B14F-4D97-AF65-F5344CB8AC3E}">
        <p14:creationId xmlns:p14="http://schemas.microsoft.com/office/powerpoint/2010/main" val="90719467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5" name="矩形 24">
            <a:extLst xmlns:a="http://schemas.openxmlformats.org/drawingml/2006/main">
              <a:ext uri="{FF2B5EF4-FFF2-40B4-BE49-F238E27FC236}">
                <a16:creationId xmlns:a16="http://schemas.microsoft.com/office/drawing/2014/main" id="{A0B183AD-7FEA-4E5D-8E1A-8DB64DD5C38D}"/>
              </a:ext>
            </a:extLst>
          </p:cNvPr>
          <p:cNvSpPr>
            <a:spLocks xmlns:a="http://schemas.openxmlformats.org/drawingml/2006/main" noGrp="1"/>
          </p:cNvSpPr>
          <p:nvPr/>
        </p:nvSpPr>
        <p:spPr>
          <a:xfrm xmlns:a="http://schemas.openxmlformats.org/drawingml/2006/main">
            <a:off x="390525" y="590550"/>
            <a:ext cx="114014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600" b="1">
                <a:solidFill>
                  <a:srgbClr val="000000"/>
                </a:solidFill>
                <a:latin typeface="PingFang SC"/>
                <a:ea typeface="PingFang SC"/>
                <a:cs typeface="PingFang SC"/>
              </a:defRPr>
            </a:pPr>
            <a:r>
              <a:rPr sz="3600" b="1">
                <a:solidFill>
                  <a:srgbClr val="000000"/>
                </a:solidFill>
                <a:latin typeface="PingFang SC"/>
                <a:ea typeface="PingFang SC"/>
                <a:cs typeface="PingFang SC"/>
              </a:rPr>
              <a:t>一次航拍交付四类可持续使用的业务结果</a:t>
            </a:r>
          </a:p>
        </p:txBody>
      </p:sp>
      <p:sp>
        <p:nvSpPr>
          <p:cNvPr id="2" name="矩形 1">
            <a:extLst xmlns:a="http://schemas.openxmlformats.org/drawingml/2006/main">
              <a:ext uri="{FF2B5EF4-FFF2-40B4-BE49-F238E27FC236}">
                <a16:creationId xmlns:a16="http://schemas.microsoft.com/office/drawing/2014/main" id="{632BFBEF-BDDE-470C-AA93-BDB9017F8D02}"/>
              </a:ext>
            </a:extLst>
          </p:cNvPr>
          <p:cNvSpPr>
            <a:spLocks xmlns:a="http://schemas.openxmlformats.org/drawingml/2006/main" noGrp="1"/>
          </p:cNvSpPr>
          <p:nvPr/>
        </p:nvSpPr>
        <p:spPr>
          <a:xfrm xmlns:a="http://schemas.openxmlformats.org/drawingml/2006/main">
            <a:off x="390525" y="2286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易出行 · 无人机交通治理</a:t>
            </a:r>
          </a:p>
        </p:txBody>
      </p:sp>
      <p:sp>
        <p:nvSpPr>
          <p:cNvPr id="3" name="直线连接符 2">
            <a:extLst xmlns:a="http://schemas.openxmlformats.org/drawingml/2006/main">
              <a:ext uri="{FF2B5EF4-FFF2-40B4-BE49-F238E27FC236}">
                <a16:creationId xmlns:a16="http://schemas.microsoft.com/office/drawing/2014/main" id="{72004D3F-1FCF-47CE-81AF-9DEE387D77B0}"/>
              </a:ext>
            </a:extLst>
          </p:cNvPr>
          <p:cNvSpPr>
            <a:spLocks xmlns:a="http://schemas.openxmlformats.org/drawingml/2006/main" noGrp="1"/>
          </p:cNvSpPr>
          <p:nvPr/>
        </p:nvSpPr>
        <p:spPr>
          <a:xfrm xmlns:a="http://schemas.openxmlformats.org/drawingml/2006/main">
            <a:off x="390525" y="6438900"/>
            <a:ext cx="114014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矩形 3">
            <a:extLst xmlns:a="http://schemas.openxmlformats.org/drawingml/2006/main">
              <a:ext uri="{FF2B5EF4-FFF2-40B4-BE49-F238E27FC236}">
                <a16:creationId xmlns:a16="http://schemas.microsoft.com/office/drawing/2014/main" id="{B96C6B82-4D64-476F-9A5E-59F44B9E71F2}"/>
              </a:ext>
            </a:extLst>
          </p:cNvPr>
          <p:cNvSpPr>
            <a:spLocks xmlns:a="http://schemas.openxmlformats.org/drawingml/2006/main" noGrp="1"/>
          </p:cNvSpPr>
          <p:nvPr/>
        </p:nvSpPr>
        <p:spPr>
          <a:xfrm xmlns:a="http://schemas.openxmlformats.org/drawingml/2006/main">
            <a:off x="1123950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02</a:t>
            </a:r>
          </a:p>
        </p:txBody>
      </p:sp>
      <p:sp>
        <p:nvSpPr>
          <p:cNvPr id="5" name="矩形 4">
            <a:extLst xmlns:a="http://schemas.openxmlformats.org/drawingml/2006/main">
              <a:ext uri="{FF2B5EF4-FFF2-40B4-BE49-F238E27FC236}">
                <a16:creationId xmlns:a16="http://schemas.microsoft.com/office/drawing/2014/main" id="{AF05F73D-2788-4615-818D-B56BBDA64A85}"/>
              </a:ext>
            </a:extLst>
          </p:cNvPr>
          <p:cNvSpPr>
            <a:spLocks xmlns:a="http://schemas.openxmlformats.org/drawingml/2006/main" noGrp="1"/>
          </p:cNvSpPr>
          <p:nvPr/>
        </p:nvSpPr>
        <p:spPr>
          <a:xfrm xmlns:a="http://schemas.openxmlformats.org/drawingml/2006/main">
            <a:off x="371475" y="1790700"/>
            <a:ext cx="266700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35" name="图片 29"/>
          <p:cNvPicPr>
            <a:picLocks xmlns:a="http://schemas.openxmlformats.org/drawingml/2006/main" noChangeAspect="1"/>
          </p:cNvPicPr>
          <p:nvPr/>
        </p:nvPicPr>
        <p:blipFill>
          <a:blip xmlns:r="http://schemas.openxmlformats.org/officeDocument/2006/relationships" xmlns:a="http://schemas.openxmlformats.org/drawingml/2006/main" r:embed="R1a13a45e23f44654"/>
          <a:srcRect xmlns:a="http://schemas.openxmlformats.org/drawingml/2006/main" l="8600" t="0" r="8600" b="0"/>
          <a:stretch xmlns:a="http://schemas.openxmlformats.org/drawingml/2006/main">
            <a:fillRect l="0" t="0" r="0" b="0"/>
          </a:stretch>
        </p:blipFill>
        <p:spPr>
          <a:xfrm xmlns:a="http://schemas.openxmlformats.org/drawingml/2006/main">
            <a:off x="390525" y="1809750"/>
            <a:ext cx="2628900" cy="1619250"/>
          </a:xfrm>
          <a:prstGeom xmlns:a="http://schemas.openxmlformats.org/drawingml/2006/main" prst="rect">
            <a:avLst/>
          </a:prstGeom>
        </p:spPr>
      </p:pic>
      <p:sp>
        <p:nvSpPr>
          <p:cNvPr id="7" name="矩形 6">
            <a:extLst xmlns:a="http://schemas.openxmlformats.org/drawingml/2006/main">
              <a:ext uri="{FF2B5EF4-FFF2-40B4-BE49-F238E27FC236}">
                <a16:creationId xmlns:a16="http://schemas.microsoft.com/office/drawing/2014/main" id="{F3495CA0-5DF6-4A6D-9681-4C2CDBEEFDDD}"/>
              </a:ext>
            </a:extLst>
          </p:cNvPr>
          <p:cNvSpPr>
            <a:spLocks xmlns:a="http://schemas.openxmlformats.org/drawingml/2006/main" noGrp="1"/>
          </p:cNvSpPr>
          <p:nvPr/>
        </p:nvSpPr>
        <p:spPr>
          <a:xfrm xmlns:a="http://schemas.openxmlformats.org/drawingml/2006/main">
            <a:off x="390525" y="3733800"/>
            <a:ext cx="2628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问题核实有依据</a:t>
            </a:r>
          </a:p>
        </p:txBody>
      </p:sp>
      <p:sp>
        <p:nvSpPr>
          <p:cNvPr id="8" name="矩形 7">
            <a:extLst xmlns:a="http://schemas.openxmlformats.org/drawingml/2006/main">
              <a:ext uri="{FF2B5EF4-FFF2-40B4-BE49-F238E27FC236}">
                <a16:creationId xmlns:a16="http://schemas.microsoft.com/office/drawing/2014/main" id="{32397796-9650-4C10-9A31-01EB684B6C64}"/>
              </a:ext>
            </a:extLst>
          </p:cNvPr>
          <p:cNvSpPr>
            <a:spLocks xmlns:a="http://schemas.openxmlformats.org/drawingml/2006/main" noGrp="1"/>
          </p:cNvSpPr>
          <p:nvPr/>
        </p:nvSpPr>
        <p:spPr>
          <a:xfrm xmlns:a="http://schemas.openxmlformats.org/drawingml/2006/main">
            <a:off x="390525" y="4276725"/>
            <a:ext cx="2628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按需覆盖盲区，保存影像、态势与任务上下文。</a:t>
            </a:r>
          </a:p>
        </p:txBody>
      </p:sp>
      <p:sp>
        <p:nvSpPr>
          <p:cNvPr id="9" name="直线连接符 8">
            <a:extLst xmlns:a="http://schemas.openxmlformats.org/drawingml/2006/main">
              <a:ext uri="{FF2B5EF4-FFF2-40B4-BE49-F238E27FC236}">
                <a16:creationId xmlns:a16="http://schemas.microsoft.com/office/drawing/2014/main" id="{AD534D5D-7C33-4281-9DF2-246894D63C03}"/>
              </a:ext>
            </a:extLst>
          </p:cNvPr>
          <p:cNvSpPr>
            <a:spLocks xmlns:a="http://schemas.openxmlformats.org/drawingml/2006/main" noGrp="1"/>
          </p:cNvSpPr>
          <p:nvPr/>
        </p:nvSpPr>
        <p:spPr>
          <a:xfrm xmlns:a="http://schemas.openxmlformats.org/drawingml/2006/main">
            <a:off x="3152775" y="3733800"/>
            <a:ext cx="95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0" name="矩形 9">
            <a:extLst xmlns:a="http://schemas.openxmlformats.org/drawingml/2006/main">
              <a:ext uri="{FF2B5EF4-FFF2-40B4-BE49-F238E27FC236}">
                <a16:creationId xmlns:a16="http://schemas.microsoft.com/office/drawing/2014/main" id="{F88268CD-960E-43F9-A1CA-9B1B0F58CC58}"/>
              </a:ext>
            </a:extLst>
          </p:cNvPr>
          <p:cNvSpPr>
            <a:spLocks xmlns:a="http://schemas.openxmlformats.org/drawingml/2006/main" noGrp="1"/>
          </p:cNvSpPr>
          <p:nvPr/>
        </p:nvSpPr>
        <p:spPr>
          <a:xfrm xmlns:a="http://schemas.openxmlformats.org/drawingml/2006/main">
            <a:off x="3295650" y="1790700"/>
            <a:ext cx="266700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40" name="图片 34"/>
          <p:cNvPicPr>
            <a:picLocks xmlns:a="http://schemas.openxmlformats.org/drawingml/2006/main" noChangeAspect="1"/>
          </p:cNvPicPr>
          <p:nvPr/>
        </p:nvPicPr>
        <p:blipFill>
          <a:blip xmlns:r="http://schemas.openxmlformats.org/officeDocument/2006/relationships" xmlns:a="http://schemas.openxmlformats.org/drawingml/2006/main" r:embed="Re876645d41bf42cf"/>
          <a:srcRect xmlns:a="http://schemas.openxmlformats.org/drawingml/2006/main" l="6469" t="0" r="6469" b="0"/>
          <a:stretch xmlns:a="http://schemas.openxmlformats.org/drawingml/2006/main">
            <a:fillRect l="0" t="0" r="0" b="0"/>
          </a:stretch>
        </p:blipFill>
        <p:spPr>
          <a:xfrm xmlns:a="http://schemas.openxmlformats.org/drawingml/2006/main">
            <a:off x="3314700" y="1809750"/>
            <a:ext cx="2628900" cy="1619250"/>
          </a:xfrm>
          <a:prstGeom xmlns:a="http://schemas.openxmlformats.org/drawingml/2006/main" prst="rect">
            <a:avLst/>
          </a:prstGeom>
        </p:spPr>
      </p:pic>
      <p:sp>
        <p:nvSpPr>
          <p:cNvPr id="12" name="矩形 11">
            <a:extLst xmlns:a="http://schemas.openxmlformats.org/drawingml/2006/main">
              <a:ext uri="{FF2B5EF4-FFF2-40B4-BE49-F238E27FC236}">
                <a16:creationId xmlns:a16="http://schemas.microsoft.com/office/drawing/2014/main" id="{EA6BCEFB-4F2E-4EE5-A9E2-A4C3B70BA5B4}"/>
              </a:ext>
            </a:extLst>
          </p:cNvPr>
          <p:cNvSpPr>
            <a:spLocks xmlns:a="http://schemas.openxmlformats.org/drawingml/2006/main" noGrp="1"/>
          </p:cNvSpPr>
          <p:nvPr/>
        </p:nvSpPr>
        <p:spPr>
          <a:xfrm xmlns:a="http://schemas.openxmlformats.org/drawingml/2006/main">
            <a:off x="3314700" y="3733800"/>
            <a:ext cx="2628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风险发现可复核</a:t>
            </a:r>
          </a:p>
        </p:txBody>
      </p:sp>
      <p:sp>
        <p:nvSpPr>
          <p:cNvPr id="13" name="矩形 12">
            <a:extLst xmlns:a="http://schemas.openxmlformats.org/drawingml/2006/main">
              <a:ext uri="{FF2B5EF4-FFF2-40B4-BE49-F238E27FC236}">
                <a16:creationId xmlns:a16="http://schemas.microsoft.com/office/drawing/2014/main" id="{1391F3BC-9ED9-46CA-A937-3B90F078C3F7}"/>
              </a:ext>
            </a:extLst>
          </p:cNvPr>
          <p:cNvSpPr>
            <a:spLocks xmlns:a="http://schemas.openxmlformats.org/drawingml/2006/main" noGrp="1"/>
          </p:cNvSpPr>
          <p:nvPr/>
        </p:nvSpPr>
        <p:spPr>
          <a:xfrm xmlns:a="http://schemas.openxmlformats.org/drawingml/2006/main">
            <a:off x="3314700" y="4276725"/>
            <a:ext cx="2628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冲突、轨迹、原图和检测图按同一任务留档。</a:t>
            </a:r>
          </a:p>
        </p:txBody>
      </p:sp>
      <p:sp>
        <p:nvSpPr>
          <p:cNvPr id="14" name="直线连接符 13">
            <a:extLst xmlns:a="http://schemas.openxmlformats.org/drawingml/2006/main">
              <a:ext uri="{FF2B5EF4-FFF2-40B4-BE49-F238E27FC236}">
                <a16:creationId xmlns:a16="http://schemas.microsoft.com/office/drawing/2014/main" id="{FD1A1189-82AB-4D6B-91ED-1FD948CAAE69}"/>
              </a:ext>
            </a:extLst>
          </p:cNvPr>
          <p:cNvSpPr>
            <a:spLocks xmlns:a="http://schemas.openxmlformats.org/drawingml/2006/main" noGrp="1"/>
          </p:cNvSpPr>
          <p:nvPr/>
        </p:nvSpPr>
        <p:spPr>
          <a:xfrm xmlns:a="http://schemas.openxmlformats.org/drawingml/2006/main">
            <a:off x="6076950" y="3733800"/>
            <a:ext cx="95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5" name="矩形 14">
            <a:extLst xmlns:a="http://schemas.openxmlformats.org/drawingml/2006/main">
              <a:ext uri="{FF2B5EF4-FFF2-40B4-BE49-F238E27FC236}">
                <a16:creationId xmlns:a16="http://schemas.microsoft.com/office/drawing/2014/main" id="{DCA0384C-B951-4B58-B283-B6E84CEEEBF5}"/>
              </a:ext>
            </a:extLst>
          </p:cNvPr>
          <p:cNvSpPr>
            <a:spLocks xmlns:a="http://schemas.openxmlformats.org/drawingml/2006/main" noGrp="1"/>
          </p:cNvSpPr>
          <p:nvPr/>
        </p:nvSpPr>
        <p:spPr>
          <a:xfrm xmlns:a="http://schemas.openxmlformats.org/drawingml/2006/main">
            <a:off x="6219825" y="1790700"/>
            <a:ext cx="266700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45" name="图片 39"/>
          <p:cNvPicPr>
            <a:picLocks xmlns:a="http://schemas.openxmlformats.org/drawingml/2006/main" noChangeAspect="1"/>
          </p:cNvPicPr>
          <p:nvPr/>
        </p:nvPicPr>
        <p:blipFill>
          <a:blip xmlns:r="http://schemas.openxmlformats.org/officeDocument/2006/relationships" xmlns:a="http://schemas.openxmlformats.org/drawingml/2006/main" r:embed="R1d7782f7c4b449fa"/>
          <a:srcRect xmlns:a="http://schemas.openxmlformats.org/drawingml/2006/main" l="7687" t="0" r="7687" b="0"/>
          <a:stretch xmlns:a="http://schemas.openxmlformats.org/drawingml/2006/main">
            <a:fillRect l="0" t="0" r="0" b="0"/>
          </a:stretch>
        </p:blipFill>
        <p:spPr>
          <a:xfrm xmlns:a="http://schemas.openxmlformats.org/drawingml/2006/main">
            <a:off x="6238875" y="1809750"/>
            <a:ext cx="2628900" cy="1619250"/>
          </a:xfrm>
          <a:prstGeom xmlns:a="http://schemas.openxmlformats.org/drawingml/2006/main" prst="rect">
            <a:avLst/>
          </a:prstGeom>
        </p:spPr>
      </p:pic>
      <p:sp>
        <p:nvSpPr>
          <p:cNvPr id="17" name="矩形 16">
            <a:extLst xmlns:a="http://schemas.openxmlformats.org/drawingml/2006/main">
              <a:ext uri="{FF2B5EF4-FFF2-40B4-BE49-F238E27FC236}">
                <a16:creationId xmlns:a16="http://schemas.microsoft.com/office/drawing/2014/main" id="{3D7DD244-38D2-46EB-8735-130D3AD063D2}"/>
              </a:ext>
            </a:extLst>
          </p:cNvPr>
          <p:cNvSpPr>
            <a:spLocks xmlns:a="http://schemas.openxmlformats.org/drawingml/2006/main" noGrp="1"/>
          </p:cNvSpPr>
          <p:nvPr/>
        </p:nvSpPr>
        <p:spPr>
          <a:xfrm xmlns:a="http://schemas.openxmlformats.org/drawingml/2006/main">
            <a:off x="6238875" y="3733800"/>
            <a:ext cx="2628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治理成效可对比</a:t>
            </a:r>
          </a:p>
        </p:txBody>
      </p:sp>
      <p:sp>
        <p:nvSpPr>
          <p:cNvPr id="18" name="矩形 17">
            <a:extLst xmlns:a="http://schemas.openxmlformats.org/drawingml/2006/main">
              <a:ext uri="{FF2B5EF4-FFF2-40B4-BE49-F238E27FC236}">
                <a16:creationId xmlns:a16="http://schemas.microsoft.com/office/drawing/2014/main" id="{C754BB61-99C1-4CF0-89C2-8B750D366042}"/>
              </a:ext>
            </a:extLst>
          </p:cNvPr>
          <p:cNvSpPr>
            <a:spLocks xmlns:a="http://schemas.openxmlformats.org/drawingml/2006/main" noGrp="1"/>
          </p:cNvSpPr>
          <p:nvPr/>
        </p:nvSpPr>
        <p:spPr>
          <a:xfrm xmlns:a="http://schemas.openxmlformats.org/drawingml/2006/main">
            <a:off x="6238875" y="4276725"/>
            <a:ext cx="2628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按同路口、同时段、同口径完成治理后复测。</a:t>
            </a:r>
          </a:p>
        </p:txBody>
      </p:sp>
      <p:sp>
        <p:nvSpPr>
          <p:cNvPr id="19" name="直线连接符 18">
            <a:extLst xmlns:a="http://schemas.openxmlformats.org/drawingml/2006/main">
              <a:ext uri="{FF2B5EF4-FFF2-40B4-BE49-F238E27FC236}">
                <a16:creationId xmlns:a16="http://schemas.microsoft.com/office/drawing/2014/main" id="{2DD526D7-4234-4319-BD55-5D0CE2B30F4E}"/>
              </a:ext>
            </a:extLst>
          </p:cNvPr>
          <p:cNvSpPr>
            <a:spLocks xmlns:a="http://schemas.openxmlformats.org/drawingml/2006/main" noGrp="1"/>
          </p:cNvSpPr>
          <p:nvPr/>
        </p:nvSpPr>
        <p:spPr>
          <a:xfrm xmlns:a="http://schemas.openxmlformats.org/drawingml/2006/main">
            <a:off x="9001125" y="3733800"/>
            <a:ext cx="95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20" name="矩形 19">
            <a:extLst xmlns:a="http://schemas.openxmlformats.org/drawingml/2006/main">
              <a:ext uri="{FF2B5EF4-FFF2-40B4-BE49-F238E27FC236}">
                <a16:creationId xmlns:a16="http://schemas.microsoft.com/office/drawing/2014/main" id="{8F88A633-7EA9-43FC-9F4F-647437C9B082}"/>
              </a:ext>
            </a:extLst>
          </p:cNvPr>
          <p:cNvSpPr>
            <a:spLocks xmlns:a="http://schemas.openxmlformats.org/drawingml/2006/main" noGrp="1"/>
          </p:cNvSpPr>
          <p:nvPr/>
        </p:nvSpPr>
        <p:spPr>
          <a:xfrm xmlns:a="http://schemas.openxmlformats.org/drawingml/2006/main">
            <a:off x="9144000" y="1790700"/>
            <a:ext cx="266700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50" name="图片 44"/>
          <p:cNvPicPr>
            <a:picLocks xmlns:a="http://schemas.openxmlformats.org/drawingml/2006/main" noChangeAspect="1"/>
          </p:cNvPicPr>
          <p:nvPr/>
        </p:nvPicPr>
        <p:blipFill>
          <a:blip xmlns:r="http://schemas.openxmlformats.org/officeDocument/2006/relationships" xmlns:a="http://schemas.openxmlformats.org/drawingml/2006/main" r:embed="R7d683432a16e4e34"/>
          <a:srcRect xmlns:a="http://schemas.openxmlformats.org/drawingml/2006/main" l="7687" t="0" r="7687" b="0"/>
          <a:stretch xmlns:a="http://schemas.openxmlformats.org/drawingml/2006/main">
            <a:fillRect l="0" t="0" r="0" b="0"/>
          </a:stretch>
        </p:blipFill>
        <p:spPr>
          <a:xfrm xmlns:a="http://schemas.openxmlformats.org/drawingml/2006/main">
            <a:off x="9163050" y="1809750"/>
            <a:ext cx="2628900" cy="1619250"/>
          </a:xfrm>
          <a:prstGeom xmlns:a="http://schemas.openxmlformats.org/drawingml/2006/main" prst="rect">
            <a:avLst/>
          </a:prstGeom>
        </p:spPr>
      </p:pic>
      <p:sp>
        <p:nvSpPr>
          <p:cNvPr id="22" name="矩形 21">
            <a:extLst xmlns:a="http://schemas.openxmlformats.org/drawingml/2006/main">
              <a:ext uri="{FF2B5EF4-FFF2-40B4-BE49-F238E27FC236}">
                <a16:creationId xmlns:a16="http://schemas.microsoft.com/office/drawing/2014/main" id="{56CC99DC-8914-495E-A9E2-CD724B9CB9AD}"/>
              </a:ext>
            </a:extLst>
          </p:cNvPr>
          <p:cNvSpPr>
            <a:spLocks xmlns:a="http://schemas.openxmlformats.org/drawingml/2006/main" noGrp="1"/>
          </p:cNvSpPr>
          <p:nvPr/>
        </p:nvSpPr>
        <p:spPr>
          <a:xfrm xmlns:a="http://schemas.openxmlformats.org/drawingml/2006/main">
            <a:off x="9163050" y="3733800"/>
            <a:ext cx="2628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成果进入统一事实池</a:t>
            </a:r>
          </a:p>
        </p:txBody>
      </p:sp>
      <p:sp>
        <p:nvSpPr>
          <p:cNvPr id="23" name="矩形 22">
            <a:extLst xmlns:a="http://schemas.openxmlformats.org/drawingml/2006/main">
              <a:ext uri="{FF2B5EF4-FFF2-40B4-BE49-F238E27FC236}">
                <a16:creationId xmlns:a16="http://schemas.microsoft.com/office/drawing/2014/main" id="{9AF5E7BF-8353-4C83-B12A-F549E641BA9E}"/>
              </a:ext>
            </a:extLst>
          </p:cNvPr>
          <p:cNvSpPr>
            <a:spLocks xmlns:a="http://schemas.openxmlformats.org/drawingml/2006/main" noGrp="1"/>
          </p:cNvSpPr>
          <p:nvPr/>
        </p:nvSpPr>
        <p:spPr>
          <a:xfrm xmlns:a="http://schemas.openxmlformats.org/drawingml/2006/main">
            <a:off x="9163050" y="4276725"/>
            <a:ext cx="2628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轨迹、事件、量算和路网版本持续沉淀。</a:t>
            </a:r>
          </a:p>
        </p:txBody>
      </p:sp>
      <p:sp>
        <p:nvSpPr>
          <p:cNvPr id="24" name="矩形 23">
            <a:extLst xmlns:a="http://schemas.openxmlformats.org/drawingml/2006/main">
              <a:ext uri="{FF2B5EF4-FFF2-40B4-BE49-F238E27FC236}">
                <a16:creationId xmlns:a16="http://schemas.microsoft.com/office/drawing/2014/main" id="{AAAAC110-FDE1-4726-BE8F-F53F8511A637}"/>
              </a:ext>
            </a:extLst>
          </p:cNvPr>
          <p:cNvSpPr>
            <a:spLocks xmlns:a="http://schemas.openxmlformats.org/drawingml/2006/main" noGrp="1"/>
          </p:cNvSpPr>
          <p:nvPr/>
        </p:nvSpPr>
        <p:spPr>
          <a:xfrm xmlns:a="http://schemas.openxmlformats.org/drawingml/2006/main">
            <a:off x="1666875" y="5638800"/>
            <a:ext cx="885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3D8DFF"/>
                </a:solidFill>
                <a:latin typeface="PingFang SC"/>
                <a:ea typeface="PingFang SC"/>
                <a:cs typeface="PingFang SC"/>
              </a:defRPr>
            </a:pPr>
            <a:r>
              <a:rPr sz="1800" b="1">
                <a:solidFill>
                  <a:srgbClr val="3D8DFF"/>
                </a:solidFill>
                <a:latin typeface="PingFang SC"/>
                <a:ea typeface="PingFang SC"/>
                <a:cs typeface="PingFang SC"/>
              </a:rPr>
              <a:t>业务价值先落在“看得见、说得清、能复核”，再通过试点验证治理提升。</a:t>
            </a:r>
          </a:p>
        </p:txBody>
      </p:sp>
    </p:spTree>
    <p:extLst>
      <p:ext uri="{BB962C8B-B14F-4D97-AF65-F5344CB8AC3E}">
        <p14:creationId xmlns:p14="http://schemas.microsoft.com/office/powerpoint/2010/main" val="161494740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 name="矩形 9">
            <a:extLst xmlns:a="http://schemas.openxmlformats.org/drawingml/2006/main">
              <a:ext uri="{FF2B5EF4-FFF2-40B4-BE49-F238E27FC236}">
                <a16:creationId xmlns:a16="http://schemas.microsoft.com/office/drawing/2014/main" id="{1797E419-18BE-49F6-8A7D-9B1AB7A3A3E8}"/>
              </a:ext>
            </a:extLst>
          </p:cNvPr>
          <p:cNvSpPr>
            <a:spLocks xmlns:a="http://schemas.openxmlformats.org/drawingml/2006/main" noGrp="1"/>
          </p:cNvSpPr>
          <p:nvPr/>
        </p:nvSpPr>
        <p:spPr>
          <a:xfrm xmlns:a="http://schemas.openxmlformats.org/drawingml/2006/main">
            <a:off x="390525" y="590550"/>
            <a:ext cx="114014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600" b="1">
                <a:solidFill>
                  <a:srgbClr val="000000"/>
                </a:solidFill>
                <a:latin typeface="PingFang SC"/>
                <a:ea typeface="PingFang SC"/>
                <a:cs typeface="PingFang SC"/>
              </a:defRPr>
            </a:pPr>
            <a:r>
              <a:rPr sz="3600" b="1">
                <a:solidFill>
                  <a:srgbClr val="000000"/>
                </a:solidFill>
                <a:latin typeface="PingFang SC"/>
                <a:ea typeface="PingFang SC"/>
                <a:cs typeface="PingFang SC"/>
              </a:rPr>
              <a:t>无人机补上易出行治理闭环中的机动感知空档</a:t>
            </a:r>
          </a:p>
        </p:txBody>
      </p:sp>
      <p:sp>
        <p:nvSpPr>
          <p:cNvPr id="2" name="矩形 1">
            <a:extLst xmlns:a="http://schemas.openxmlformats.org/drawingml/2006/main">
              <a:ext uri="{FF2B5EF4-FFF2-40B4-BE49-F238E27FC236}">
                <a16:creationId xmlns:a16="http://schemas.microsoft.com/office/drawing/2014/main" id="{DCAF7BDD-E922-4D4B-8CF0-836CBEAFA56C}"/>
              </a:ext>
            </a:extLst>
          </p:cNvPr>
          <p:cNvSpPr>
            <a:spLocks xmlns:a="http://schemas.openxmlformats.org/drawingml/2006/main" noGrp="1"/>
          </p:cNvSpPr>
          <p:nvPr/>
        </p:nvSpPr>
        <p:spPr>
          <a:xfrm xmlns:a="http://schemas.openxmlformats.org/drawingml/2006/main">
            <a:off x="390525" y="2286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易出行 · 无人机交通治理</a:t>
            </a:r>
          </a:p>
        </p:txBody>
      </p:sp>
      <p:sp>
        <p:nvSpPr>
          <p:cNvPr id="3" name="直线连接符 2">
            <a:extLst xmlns:a="http://schemas.openxmlformats.org/drawingml/2006/main">
              <a:ext uri="{FF2B5EF4-FFF2-40B4-BE49-F238E27FC236}">
                <a16:creationId xmlns:a16="http://schemas.microsoft.com/office/drawing/2014/main" id="{E358DCC3-0725-4A21-A50B-95C76F3F1943}"/>
              </a:ext>
            </a:extLst>
          </p:cNvPr>
          <p:cNvSpPr>
            <a:spLocks xmlns:a="http://schemas.openxmlformats.org/drawingml/2006/main" noGrp="1"/>
          </p:cNvSpPr>
          <p:nvPr/>
        </p:nvSpPr>
        <p:spPr>
          <a:xfrm xmlns:a="http://schemas.openxmlformats.org/drawingml/2006/main">
            <a:off x="390525" y="6438900"/>
            <a:ext cx="114014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矩形 3">
            <a:extLst xmlns:a="http://schemas.openxmlformats.org/drawingml/2006/main">
              <a:ext uri="{FF2B5EF4-FFF2-40B4-BE49-F238E27FC236}">
                <a16:creationId xmlns:a16="http://schemas.microsoft.com/office/drawing/2014/main" id="{D6B5A4C2-A46B-4AC5-9CBC-BDE11026314C}"/>
              </a:ext>
            </a:extLst>
          </p:cNvPr>
          <p:cNvSpPr>
            <a:spLocks xmlns:a="http://schemas.openxmlformats.org/drawingml/2006/main" noGrp="1"/>
          </p:cNvSpPr>
          <p:nvPr/>
        </p:nvSpPr>
        <p:spPr>
          <a:xfrm xmlns:a="http://schemas.openxmlformats.org/drawingml/2006/main">
            <a:off x="1123950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03</a:t>
            </a:r>
          </a:p>
        </p:txBody>
      </p:sp>
      <p:sp>
        <p:nvSpPr>
          <p:cNvPr id="5" name="矩形 4">
            <a:extLst xmlns:a="http://schemas.openxmlformats.org/drawingml/2006/main">
              <a:ext uri="{FF2B5EF4-FFF2-40B4-BE49-F238E27FC236}">
                <a16:creationId xmlns:a16="http://schemas.microsoft.com/office/drawing/2014/main" id="{1974A2B0-71AE-44A4-836F-23E8E1E7A621}"/>
              </a:ext>
            </a:extLst>
          </p:cNvPr>
          <p:cNvSpPr>
            <a:spLocks xmlns:a="http://schemas.openxmlformats.org/drawingml/2006/main" noGrp="1"/>
          </p:cNvSpPr>
          <p:nvPr/>
        </p:nvSpPr>
        <p:spPr>
          <a:xfrm xmlns:a="http://schemas.openxmlformats.org/drawingml/2006/main">
            <a:off x="390525" y="1549250"/>
            <a:ext cx="3649847"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000000"/>
                </a:solidFill>
                <a:latin typeface="PingFang SC"/>
                <a:ea typeface="PingFang SC"/>
                <a:cs typeface="PingFang SC"/>
              </a:defRPr>
            </a:pPr>
            <a:r>
              <a:rPr sz="2700" b="1">
                <a:solidFill>
                  <a:srgbClr val="000000"/>
                </a:solidFill>
                <a:latin typeface="PingFang SC"/>
                <a:ea typeface="PingFang SC"/>
                <a:cs typeface="PingFang SC"/>
              </a:rPr>
              <a:t>固定感知负责常态观察</a:t>
            </a:r>
            <a:endParaRPr sz="2700" b="1">
              <a:solidFill>
                <a:srgbClr val="000000"/>
              </a:solidFill>
              <a:latin typeface="PingFang SC"/>
              <a:ea typeface="PingFang SC"/>
              <a:cs typeface="PingFang SC"/>
            </a:endParaRPr>
          </a:p>
          <a:p xmlns:a="http://schemas.openxmlformats.org/drawingml/2006/main">
            <a:pPr algn="l">
              <a:buNone/>
              <a:defRPr sz="2700" b="1">
                <a:solidFill>
                  <a:srgbClr val="000000"/>
                </a:solidFill>
                <a:latin typeface="PingFang SC"/>
                <a:ea typeface="PingFang SC"/>
                <a:cs typeface="PingFang SC"/>
              </a:defRPr>
            </a:pPr>
            <a:r>
              <a:rPr sz="2700" b="1">
                <a:solidFill>
                  <a:srgbClr val="000000"/>
                </a:solidFill>
                <a:latin typeface="PingFang SC"/>
                <a:ea typeface="PingFang SC"/>
                <a:cs typeface="PingFang SC"/>
              </a:rPr>
              <a:t>无人机负责按需到场</a:t>
            </a:r>
            <a:r>
              <a:rPr sz="2700" b="1">
                <a:solidFill>
                  <a:srgbClr val="000000"/>
                </a:solidFill>
                <a:latin typeface="PingFang SC"/>
                <a:ea typeface="PingFang SC"/>
                <a:cs typeface="PingFang SC"/>
              </a:rPr>
              <a:t>。</a:t>
            </a:r>
          </a:p>
        </p:txBody>
      </p:sp>
      <p:sp>
        <p:nvSpPr>
          <p:cNvPr id="6" name="矩形 5">
            <a:extLst xmlns:a="http://schemas.openxmlformats.org/drawingml/2006/main">
              <a:ext uri="{FF2B5EF4-FFF2-40B4-BE49-F238E27FC236}">
                <a16:creationId xmlns:a16="http://schemas.microsoft.com/office/drawing/2014/main" id="{33BEB4C5-18FE-4994-9803-405D39673F47}"/>
              </a:ext>
            </a:extLst>
          </p:cNvPr>
          <p:cNvSpPr>
            <a:spLocks xmlns:a="http://schemas.openxmlformats.org/drawingml/2006/main" noGrp="1"/>
          </p:cNvSpPr>
          <p:nvPr/>
        </p:nvSpPr>
        <p:spPr>
          <a:xfrm xmlns:a="http://schemas.openxmlformats.org/drawingml/2006/main">
            <a:off x="390525" y="2864588"/>
            <a:ext cx="3458461"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F6670"/>
                </a:solidFill>
                <a:latin typeface="PingFang SC"/>
                <a:ea typeface="PingFang SC"/>
                <a:cs typeface="PingFang SC"/>
              </a:defRPr>
            </a:pPr>
            <a:r>
              <a:rPr sz="1800" b="0">
                <a:solidFill>
                  <a:srgbClr val="5F6670"/>
                </a:solidFill>
                <a:latin typeface="PingFang SC"/>
                <a:ea typeface="PingFang SC"/>
                <a:cs typeface="PingFang SC"/>
              </a:rPr>
              <a:t>易出行面对感知碎片化、数据孤岛化和管控单向化。无人机把盲区、临时事件和治理复测转化为可用事实。</a:t>
            </a:r>
          </a:p>
        </p:txBody>
      </p:sp>
      <p:sp>
        <p:nvSpPr>
          <p:cNvPr id="7" name="矩形 6">
            <a:extLst xmlns:a="http://schemas.openxmlformats.org/drawingml/2006/main">
              <a:ext uri="{FF2B5EF4-FFF2-40B4-BE49-F238E27FC236}">
                <a16:creationId xmlns:a16="http://schemas.microsoft.com/office/drawing/2014/main" id="{557E800C-46D5-4C59-8C8E-6F7BCE49AA15}"/>
              </a:ext>
            </a:extLst>
          </p:cNvPr>
          <p:cNvSpPr>
            <a:spLocks xmlns:a="http://schemas.openxmlformats.org/drawingml/2006/main" noGrp="1"/>
          </p:cNvSpPr>
          <p:nvPr/>
        </p:nvSpPr>
        <p:spPr>
          <a:xfrm xmlns:a="http://schemas.openxmlformats.org/drawingml/2006/main">
            <a:off x="390525" y="4856661"/>
            <a:ext cx="4762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3D8DFF"/>
                </a:solidFill>
                <a:latin typeface="PingFang SC"/>
                <a:ea typeface="PingFang SC"/>
                <a:cs typeface="PingFang SC"/>
              </a:defRPr>
            </a:pPr>
            <a:r>
              <a:rPr sz="2025" b="1">
                <a:solidFill>
                  <a:srgbClr val="3D8DFF"/>
                </a:solidFill>
                <a:latin typeface="PingFang SC"/>
                <a:ea typeface="PingFang SC"/>
                <a:cs typeface="PingFang SC"/>
              </a:rPr>
              <a:t>按需调度</a:t>
            </a:r>
          </a:p>
          <a:p xmlns:a="http://schemas.openxmlformats.org/drawingml/2006/main">
            <a:pPr algn="l">
              <a:buNone/>
              <a:defRPr sz="2025" b="1">
                <a:solidFill>
                  <a:srgbClr val="3D8DFF"/>
                </a:solidFill>
                <a:latin typeface="PingFang SC"/>
                <a:ea typeface="PingFang SC"/>
                <a:cs typeface="PingFang SC"/>
              </a:defRPr>
            </a:pPr>
            <a:r>
              <a:rPr sz="2025" b="1">
                <a:solidFill>
                  <a:srgbClr val="3D8DFF"/>
                </a:solidFill>
                <a:latin typeface="PingFang SC"/>
                <a:ea typeface="PingFang SC"/>
                <a:cs typeface="PingFang SC"/>
              </a:rPr>
              <a:t>连续取证</a:t>
            </a:r>
          </a:p>
          <a:p xmlns:a="http://schemas.openxmlformats.org/drawingml/2006/main">
            <a:pPr algn="l">
              <a:buNone/>
              <a:defRPr sz="2025" b="1">
                <a:solidFill>
                  <a:srgbClr val="3D8DFF"/>
                </a:solidFill>
                <a:latin typeface="PingFang SC"/>
                <a:ea typeface="PingFang SC"/>
                <a:cs typeface="PingFang SC"/>
              </a:defRPr>
            </a:pPr>
            <a:r>
              <a:rPr sz="2025" b="1">
                <a:solidFill>
                  <a:srgbClr val="3D8DFF"/>
                </a:solidFill>
                <a:latin typeface="PingFang SC"/>
                <a:ea typeface="PingFang SC"/>
                <a:cs typeface="PingFang SC"/>
              </a:rPr>
              <a:t>同口径复测</a:t>
            </a:r>
          </a:p>
          <a:p xmlns:a="http://schemas.openxmlformats.org/drawingml/2006/main">
            <a:pPr algn="l">
              <a:buNone/>
              <a:defRPr sz="2025" b="1">
                <a:solidFill>
                  <a:srgbClr val="3D8DFF"/>
                </a:solidFill>
                <a:latin typeface="PingFang SC"/>
                <a:ea typeface="PingFang SC"/>
                <a:cs typeface="PingFang SC"/>
              </a:defRPr>
            </a:pPr>
            <a:r>
              <a:rPr sz="2025" b="1">
                <a:solidFill>
                  <a:srgbClr val="3D8DFF"/>
                </a:solidFill>
                <a:latin typeface="PingFang SC"/>
                <a:ea typeface="PingFang SC"/>
                <a:cs typeface="PingFang SC"/>
              </a:rPr>
              <a:t>数据沉淀</a:t>
            </a:r>
          </a:p>
        </p:txBody>
      </p:sp>
      <p:pic>
        <p:nvPicPr>
          <p:cNvPr id="19" name="图片 8"/>
          <p:cNvPicPr>
            <a:picLocks xmlns:a="http://schemas.openxmlformats.org/drawingml/2006/main" noChangeAspect="1"/>
          </p:cNvPicPr>
          <p:nvPr/>
        </p:nvPicPr>
        <p:blipFill>
          <a:blip xmlns:r="http://schemas.openxmlformats.org/officeDocument/2006/relationships" xmlns:a="http://schemas.openxmlformats.org/drawingml/2006/main" r:embed="R7cef13a5e5434195"/>
          <a:stretch xmlns:a="http://schemas.openxmlformats.org/drawingml/2006/main">
            <a:fillRect l="0" t="0" r="0" b="0"/>
          </a:stretch>
        </p:blipFill>
        <p:spPr>
          <a:xfrm xmlns:a="http://schemas.openxmlformats.org/drawingml/2006/main" flipH="0" flipV="0">
            <a:off x="3965130" y="1509824"/>
            <a:ext cx="8102159" cy="4638452"/>
          </a:xfrm>
          <a:prstGeom xmlns:a="http://schemas.openxmlformats.org/drawingml/2006/main" prst="rect">
            <a:avLst/>
          </a:prstGeom>
        </p:spPr>
      </p:pic>
    </p:spTree>
    <p:extLst>
      <p:ext uri="{BB962C8B-B14F-4D97-AF65-F5344CB8AC3E}">
        <p14:creationId xmlns:p14="http://schemas.microsoft.com/office/powerpoint/2010/main" val="5408856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1" name="矩形 30">
            <a:extLst xmlns:a="http://schemas.openxmlformats.org/drawingml/2006/main">
              <a:ext uri="{FF2B5EF4-FFF2-40B4-BE49-F238E27FC236}">
                <a16:creationId xmlns:a16="http://schemas.microsoft.com/office/drawing/2014/main" id="{F9EB78A9-E01E-402B-A7B6-B1DB1E34A838}"/>
              </a:ext>
            </a:extLst>
          </p:cNvPr>
          <p:cNvSpPr>
            <a:spLocks xmlns:a="http://schemas.openxmlformats.org/drawingml/2006/main" noGrp="1"/>
          </p:cNvSpPr>
          <p:nvPr/>
        </p:nvSpPr>
        <p:spPr>
          <a:xfrm xmlns:a="http://schemas.openxmlformats.org/drawingml/2006/main">
            <a:off x="390525" y="590550"/>
            <a:ext cx="114014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600" b="1">
                <a:solidFill>
                  <a:srgbClr val="000000"/>
                </a:solidFill>
                <a:latin typeface="PingFang SC"/>
                <a:ea typeface="PingFang SC"/>
                <a:cs typeface="PingFang SC"/>
              </a:defRPr>
            </a:pPr>
            <a:r>
              <a:rPr sz="3600" b="1">
                <a:solidFill>
                  <a:srgbClr val="000000"/>
                </a:solidFill>
                <a:latin typeface="PingFang SC"/>
                <a:ea typeface="PingFang SC"/>
                <a:cs typeface="PingFang SC"/>
              </a:rPr>
              <a:t>把无人机纳入“发现—施策—评价—反哺”业务闭环</a:t>
            </a:r>
          </a:p>
        </p:txBody>
      </p:sp>
      <p:sp>
        <p:nvSpPr>
          <p:cNvPr id="2" name="矩形 1">
            <a:extLst xmlns:a="http://schemas.openxmlformats.org/drawingml/2006/main">
              <a:ext uri="{FF2B5EF4-FFF2-40B4-BE49-F238E27FC236}">
                <a16:creationId xmlns:a16="http://schemas.microsoft.com/office/drawing/2014/main" id="{5816BC9B-AB8B-4BEB-903D-20E45592AADE}"/>
              </a:ext>
            </a:extLst>
          </p:cNvPr>
          <p:cNvSpPr>
            <a:spLocks xmlns:a="http://schemas.openxmlformats.org/drawingml/2006/main" noGrp="1"/>
          </p:cNvSpPr>
          <p:nvPr/>
        </p:nvSpPr>
        <p:spPr>
          <a:xfrm xmlns:a="http://schemas.openxmlformats.org/drawingml/2006/main">
            <a:off x="390525" y="1266825"/>
            <a:ext cx="11401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F6670"/>
                </a:solidFill>
                <a:latin typeface="PingFang SC"/>
                <a:ea typeface="PingFang SC"/>
                <a:cs typeface="PingFang SC"/>
              </a:defRPr>
            </a:pPr>
            <a:r>
              <a:rPr sz="1650" b="0">
                <a:solidFill>
                  <a:srgbClr val="5F6670"/>
                </a:solidFill>
                <a:latin typeface="PingFang SC"/>
                <a:ea typeface="PingFang SC"/>
                <a:cs typeface="PingFang SC"/>
              </a:rPr>
              <a:t>无人机负责感知、证据和复测；主平台与交通智能体负责诊断、审批和控制执行。</a:t>
            </a:r>
          </a:p>
        </p:txBody>
      </p:sp>
      <p:sp>
        <p:nvSpPr>
          <p:cNvPr id="3" name="矩形 2">
            <a:extLst xmlns:a="http://schemas.openxmlformats.org/drawingml/2006/main">
              <a:ext uri="{FF2B5EF4-FFF2-40B4-BE49-F238E27FC236}">
                <a16:creationId xmlns:a16="http://schemas.microsoft.com/office/drawing/2014/main" id="{9E5F9D1F-BB0F-4436-8D89-6921333655B8}"/>
              </a:ext>
            </a:extLst>
          </p:cNvPr>
          <p:cNvSpPr>
            <a:spLocks xmlns:a="http://schemas.openxmlformats.org/drawingml/2006/main" noGrp="1"/>
          </p:cNvSpPr>
          <p:nvPr/>
        </p:nvSpPr>
        <p:spPr>
          <a:xfrm xmlns:a="http://schemas.openxmlformats.org/drawingml/2006/main">
            <a:off x="390525" y="2286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易出行 · 无人机交通治理</a:t>
            </a:r>
          </a:p>
        </p:txBody>
      </p:sp>
      <p:sp>
        <p:nvSpPr>
          <p:cNvPr id="4" name="直线连接符 3">
            <a:extLst xmlns:a="http://schemas.openxmlformats.org/drawingml/2006/main">
              <a:ext uri="{FF2B5EF4-FFF2-40B4-BE49-F238E27FC236}">
                <a16:creationId xmlns:a16="http://schemas.microsoft.com/office/drawing/2014/main" id="{4D86812D-CB3F-4A96-B152-C8D404CF3922}"/>
              </a:ext>
            </a:extLst>
          </p:cNvPr>
          <p:cNvSpPr>
            <a:spLocks xmlns:a="http://schemas.openxmlformats.org/drawingml/2006/main" noGrp="1"/>
          </p:cNvSpPr>
          <p:nvPr/>
        </p:nvSpPr>
        <p:spPr>
          <a:xfrm xmlns:a="http://schemas.openxmlformats.org/drawingml/2006/main">
            <a:off x="390525" y="6438900"/>
            <a:ext cx="114014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矩形 4">
            <a:extLst xmlns:a="http://schemas.openxmlformats.org/drawingml/2006/main">
              <a:ext uri="{FF2B5EF4-FFF2-40B4-BE49-F238E27FC236}">
                <a16:creationId xmlns:a16="http://schemas.microsoft.com/office/drawing/2014/main" id="{EBE0DDB4-09FC-4664-99CD-F2BF2CB79FFE}"/>
              </a:ext>
            </a:extLst>
          </p:cNvPr>
          <p:cNvSpPr>
            <a:spLocks xmlns:a="http://schemas.openxmlformats.org/drawingml/2006/main" noGrp="1"/>
          </p:cNvSpPr>
          <p:nvPr/>
        </p:nvSpPr>
        <p:spPr>
          <a:xfrm xmlns:a="http://schemas.openxmlformats.org/drawingml/2006/main">
            <a:off x="1123950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04</a:t>
            </a:r>
          </a:p>
        </p:txBody>
      </p:sp>
      <p:sp>
        <p:nvSpPr>
          <p:cNvPr id="6" name="右箭头 5">
            <a:extLst xmlns:a="http://schemas.openxmlformats.org/drawingml/2006/main">
              <a:ext uri="{FF2B5EF4-FFF2-40B4-BE49-F238E27FC236}">
                <a16:creationId xmlns:a16="http://schemas.microsoft.com/office/drawing/2014/main" id="{8CAE8845-5B7E-46D1-B2FF-11E3D44F6B86}"/>
              </a:ext>
            </a:extLst>
          </p:cNvPr>
          <p:cNvSpPr>
            <a:spLocks xmlns:a="http://schemas.openxmlformats.org/drawingml/2006/main" noGrp="1"/>
          </p:cNvSpPr>
          <p:nvPr/>
        </p:nvSpPr>
        <p:spPr>
          <a:xfrm xmlns:a="http://schemas.openxmlformats.org/drawingml/2006/main">
            <a:off x="2105025" y="3095625"/>
            <a:ext cx="552450" cy="190500"/>
          </a:xfrm>
          <a:prstGeom xmlns:a="http://schemas.openxmlformats.org/drawingml/2006/main" prst="rightArrow">
            <a:avLst/>
          </a:prstGeom>
          <a:solidFill xmlns:a="http://schemas.openxmlformats.org/drawingml/2006/main">
            <a:srgbClr val="B8BCC4"/>
          </a:solidFill>
          <a:ln xmlns:a="http://schemas.openxmlformats.org/drawingml/2006/main" w="0">
            <a:noFill/>
            <a:prstDash val="solid"/>
          </a:ln>
        </p:spPr>
      </p:sp>
      <p:sp>
        <p:nvSpPr>
          <p:cNvPr id="7" name="右箭头 6">
            <a:extLst xmlns:a="http://schemas.openxmlformats.org/drawingml/2006/main">
              <a:ext uri="{FF2B5EF4-FFF2-40B4-BE49-F238E27FC236}">
                <a16:creationId xmlns:a16="http://schemas.microsoft.com/office/drawing/2014/main" id="{A45C0F51-006F-46AC-8DD7-9AD537D65A7D}"/>
              </a:ext>
            </a:extLst>
          </p:cNvPr>
          <p:cNvSpPr>
            <a:spLocks xmlns:a="http://schemas.openxmlformats.org/drawingml/2006/main" noGrp="1"/>
          </p:cNvSpPr>
          <p:nvPr/>
        </p:nvSpPr>
        <p:spPr>
          <a:xfrm xmlns:a="http://schemas.openxmlformats.org/drawingml/2006/main">
            <a:off x="4371975" y="3095625"/>
            <a:ext cx="552450" cy="190500"/>
          </a:xfrm>
          <a:prstGeom xmlns:a="http://schemas.openxmlformats.org/drawingml/2006/main" prst="rightArrow">
            <a:avLst/>
          </a:prstGeom>
          <a:solidFill xmlns:a="http://schemas.openxmlformats.org/drawingml/2006/main">
            <a:srgbClr val="B8BCC4"/>
          </a:solidFill>
          <a:ln xmlns:a="http://schemas.openxmlformats.org/drawingml/2006/main" w="0">
            <a:noFill/>
            <a:prstDash val="solid"/>
          </a:ln>
        </p:spPr>
      </p:sp>
      <p:sp>
        <p:nvSpPr>
          <p:cNvPr id="8" name="右箭头 7">
            <a:extLst xmlns:a="http://schemas.openxmlformats.org/drawingml/2006/main">
              <a:ext uri="{FF2B5EF4-FFF2-40B4-BE49-F238E27FC236}">
                <a16:creationId xmlns:a16="http://schemas.microsoft.com/office/drawing/2014/main" id="{FC08AA89-5D35-4059-AF68-F4DB6E8E2EA2}"/>
              </a:ext>
            </a:extLst>
          </p:cNvPr>
          <p:cNvSpPr>
            <a:spLocks xmlns:a="http://schemas.openxmlformats.org/drawingml/2006/main" noGrp="1"/>
          </p:cNvSpPr>
          <p:nvPr/>
        </p:nvSpPr>
        <p:spPr>
          <a:xfrm xmlns:a="http://schemas.openxmlformats.org/drawingml/2006/main">
            <a:off x="6638925" y="3095625"/>
            <a:ext cx="552450" cy="190500"/>
          </a:xfrm>
          <a:prstGeom xmlns:a="http://schemas.openxmlformats.org/drawingml/2006/main" prst="rightArrow">
            <a:avLst/>
          </a:prstGeom>
          <a:solidFill xmlns:a="http://schemas.openxmlformats.org/drawingml/2006/main">
            <a:srgbClr val="B8BCC4"/>
          </a:solidFill>
          <a:ln xmlns:a="http://schemas.openxmlformats.org/drawingml/2006/main" w="0">
            <a:noFill/>
            <a:prstDash val="solid"/>
          </a:ln>
        </p:spPr>
      </p:sp>
      <p:sp>
        <p:nvSpPr>
          <p:cNvPr id="9" name="右箭头 8">
            <a:extLst xmlns:a="http://schemas.openxmlformats.org/drawingml/2006/main">
              <a:ext uri="{FF2B5EF4-FFF2-40B4-BE49-F238E27FC236}">
                <a16:creationId xmlns:a16="http://schemas.microsoft.com/office/drawing/2014/main" id="{71F8E5A4-A2EB-47F4-BDD4-6A9E204CA7C6}"/>
              </a:ext>
            </a:extLst>
          </p:cNvPr>
          <p:cNvSpPr>
            <a:spLocks xmlns:a="http://schemas.openxmlformats.org/drawingml/2006/main" noGrp="1"/>
          </p:cNvSpPr>
          <p:nvPr/>
        </p:nvSpPr>
        <p:spPr>
          <a:xfrm xmlns:a="http://schemas.openxmlformats.org/drawingml/2006/main">
            <a:off x="8905875" y="3095625"/>
            <a:ext cx="552450" cy="190500"/>
          </a:xfrm>
          <a:prstGeom xmlns:a="http://schemas.openxmlformats.org/drawingml/2006/main" prst="rightArrow">
            <a:avLst/>
          </a:prstGeom>
          <a:solidFill xmlns:a="http://schemas.openxmlformats.org/drawingml/2006/main">
            <a:srgbClr val="B8BCC4"/>
          </a:solidFill>
          <a:ln xmlns:a="http://schemas.openxmlformats.org/drawingml/2006/main" w="0">
            <a:noFill/>
            <a:prstDash val="solid"/>
          </a:ln>
        </p:spPr>
      </p:sp>
      <p:sp>
        <p:nvSpPr>
          <p:cNvPr id="10" name="矩形 9">
            <a:extLst xmlns:a="http://schemas.openxmlformats.org/drawingml/2006/main">
              <a:ext uri="{FF2B5EF4-FFF2-40B4-BE49-F238E27FC236}">
                <a16:creationId xmlns:a16="http://schemas.microsoft.com/office/drawing/2014/main" id="{55273F3A-50FA-4225-A1CA-F6305B228D0A}"/>
              </a:ext>
            </a:extLst>
          </p:cNvPr>
          <p:cNvSpPr>
            <a:spLocks xmlns:a="http://schemas.openxmlformats.org/drawingml/2006/main" noGrp="1"/>
          </p:cNvSpPr>
          <p:nvPr/>
        </p:nvSpPr>
        <p:spPr>
          <a:xfrm xmlns:a="http://schemas.openxmlformats.org/drawingml/2006/main">
            <a:off x="523875" y="2476500"/>
            <a:ext cx="1695450" cy="1543050"/>
          </a:xfrm>
          <a:prstGeom xmlns:a="http://schemas.openxmlformats.org/drawingml/2006/main" prst="rect">
            <a:avLst/>
          </a:prstGeom>
          <a:solidFill xmlns:a="http://schemas.openxmlformats.org/drawingml/2006/main">
            <a:srgbClr val="F7F7F7"/>
          </a:solidFill>
          <a:ln xmlns:a="http://schemas.openxmlformats.org/drawingml/2006/main" w="9525">
            <a:solidFill>
              <a:srgbClr val="B8BCC4"/>
            </a:solidFill>
            <a:prstDash val="solid"/>
          </a:ln>
        </p:spPr>
      </p:sp>
      <p:sp>
        <p:nvSpPr>
          <p:cNvPr id="11" name="矩形 10">
            <a:extLst xmlns:a="http://schemas.openxmlformats.org/drawingml/2006/main">
              <a:ext uri="{FF2B5EF4-FFF2-40B4-BE49-F238E27FC236}">
                <a16:creationId xmlns:a16="http://schemas.microsoft.com/office/drawing/2014/main" id="{722F3E73-2F6A-4D4F-A49E-7A5EAD3789FF}"/>
              </a:ext>
            </a:extLst>
          </p:cNvPr>
          <p:cNvSpPr>
            <a:spLocks xmlns:a="http://schemas.openxmlformats.org/drawingml/2006/main" noGrp="1"/>
          </p:cNvSpPr>
          <p:nvPr/>
        </p:nvSpPr>
        <p:spPr>
          <a:xfrm xmlns:a="http://schemas.openxmlformats.org/drawingml/2006/main">
            <a:off x="676275" y="26479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01</a:t>
            </a:r>
          </a:p>
        </p:txBody>
      </p:sp>
      <p:sp>
        <p:nvSpPr>
          <p:cNvPr id="12" name="矩形 11">
            <a:extLst xmlns:a="http://schemas.openxmlformats.org/drawingml/2006/main">
              <a:ext uri="{FF2B5EF4-FFF2-40B4-BE49-F238E27FC236}">
                <a16:creationId xmlns:a16="http://schemas.microsoft.com/office/drawing/2014/main" id="{F929C99B-DB6C-4CA2-A34A-AD6D752C1668}"/>
              </a:ext>
            </a:extLst>
          </p:cNvPr>
          <p:cNvSpPr>
            <a:spLocks xmlns:a="http://schemas.openxmlformats.org/drawingml/2006/main" noGrp="1"/>
          </p:cNvSpPr>
          <p:nvPr/>
        </p:nvSpPr>
        <p:spPr>
          <a:xfrm xmlns:a="http://schemas.openxmlformats.org/drawingml/2006/main">
            <a:off x="676275" y="3009900"/>
            <a:ext cx="139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发现问题</a:t>
            </a:r>
          </a:p>
        </p:txBody>
      </p:sp>
      <p:sp>
        <p:nvSpPr>
          <p:cNvPr id="13" name="矩形 12">
            <a:extLst xmlns:a="http://schemas.openxmlformats.org/drawingml/2006/main">
              <a:ext uri="{FF2B5EF4-FFF2-40B4-BE49-F238E27FC236}">
                <a16:creationId xmlns:a16="http://schemas.microsoft.com/office/drawing/2014/main" id="{7AC57919-5FA8-4928-91F7-4BED85BFCE94}"/>
              </a:ext>
            </a:extLst>
          </p:cNvPr>
          <p:cNvSpPr>
            <a:spLocks xmlns:a="http://schemas.openxmlformats.org/drawingml/2006/main" noGrp="1"/>
          </p:cNvSpPr>
          <p:nvPr/>
        </p:nvSpPr>
        <p:spPr>
          <a:xfrm xmlns:a="http://schemas.openxmlformats.org/drawingml/2006/main">
            <a:off x="676275" y="3476625"/>
            <a:ext cx="1390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按路口、路段</a:t>
            </a:r>
          </a:p>
          <a:p xmlns:a="http://schemas.openxmlformats.org/drawingml/2006/main">
            <a:pPr algn="l">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编排采集任务</a:t>
            </a:r>
          </a:p>
        </p:txBody>
      </p:sp>
      <p:sp>
        <p:nvSpPr>
          <p:cNvPr id="14" name="矩形 13">
            <a:extLst xmlns:a="http://schemas.openxmlformats.org/drawingml/2006/main">
              <a:ext uri="{FF2B5EF4-FFF2-40B4-BE49-F238E27FC236}">
                <a16:creationId xmlns:a16="http://schemas.microsoft.com/office/drawing/2014/main" id="{709E855F-5AA4-46E4-9108-07108D2F88AF}"/>
              </a:ext>
            </a:extLst>
          </p:cNvPr>
          <p:cNvSpPr>
            <a:spLocks xmlns:a="http://schemas.openxmlformats.org/drawingml/2006/main" noGrp="1"/>
          </p:cNvSpPr>
          <p:nvPr/>
        </p:nvSpPr>
        <p:spPr>
          <a:xfrm xmlns:a="http://schemas.openxmlformats.org/drawingml/2006/main">
            <a:off x="2790825" y="2476500"/>
            <a:ext cx="1695450" cy="1543050"/>
          </a:xfrm>
          <a:prstGeom xmlns:a="http://schemas.openxmlformats.org/drawingml/2006/main" prst="rect">
            <a:avLst/>
          </a:prstGeom>
          <a:solidFill xmlns:a="http://schemas.openxmlformats.org/drawingml/2006/main">
            <a:srgbClr val="F7F7F7"/>
          </a:solidFill>
          <a:ln xmlns:a="http://schemas.openxmlformats.org/drawingml/2006/main" w="9525">
            <a:solidFill>
              <a:srgbClr val="B8BCC4"/>
            </a:solidFill>
            <a:prstDash val="solid"/>
          </a:ln>
        </p:spPr>
      </p:sp>
      <p:sp>
        <p:nvSpPr>
          <p:cNvPr id="15" name="矩形 14">
            <a:extLst xmlns:a="http://schemas.openxmlformats.org/drawingml/2006/main">
              <a:ext uri="{FF2B5EF4-FFF2-40B4-BE49-F238E27FC236}">
                <a16:creationId xmlns:a16="http://schemas.microsoft.com/office/drawing/2014/main" id="{211ACC4E-2E41-4E2E-8A14-C9BD41997A80}"/>
              </a:ext>
            </a:extLst>
          </p:cNvPr>
          <p:cNvSpPr>
            <a:spLocks xmlns:a="http://schemas.openxmlformats.org/drawingml/2006/main" noGrp="1"/>
          </p:cNvSpPr>
          <p:nvPr/>
        </p:nvSpPr>
        <p:spPr>
          <a:xfrm xmlns:a="http://schemas.openxmlformats.org/drawingml/2006/main">
            <a:off x="2943225" y="26479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02</a:t>
            </a:r>
          </a:p>
        </p:txBody>
      </p:sp>
      <p:sp>
        <p:nvSpPr>
          <p:cNvPr id="16" name="矩形 15">
            <a:extLst xmlns:a="http://schemas.openxmlformats.org/drawingml/2006/main">
              <a:ext uri="{FF2B5EF4-FFF2-40B4-BE49-F238E27FC236}">
                <a16:creationId xmlns:a16="http://schemas.microsoft.com/office/drawing/2014/main" id="{66D16E22-692A-4FAF-8BF8-D6F60FF8A7E8}"/>
              </a:ext>
            </a:extLst>
          </p:cNvPr>
          <p:cNvSpPr>
            <a:spLocks xmlns:a="http://schemas.openxmlformats.org/drawingml/2006/main" noGrp="1"/>
          </p:cNvSpPr>
          <p:nvPr/>
        </p:nvSpPr>
        <p:spPr>
          <a:xfrm xmlns:a="http://schemas.openxmlformats.org/drawingml/2006/main">
            <a:off x="2943225" y="3009900"/>
            <a:ext cx="139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航拍核查</a:t>
            </a:r>
          </a:p>
        </p:txBody>
      </p:sp>
      <p:sp>
        <p:nvSpPr>
          <p:cNvPr id="17" name="矩形 16">
            <a:extLst xmlns:a="http://schemas.openxmlformats.org/drawingml/2006/main">
              <a:ext uri="{FF2B5EF4-FFF2-40B4-BE49-F238E27FC236}">
                <a16:creationId xmlns:a16="http://schemas.microsoft.com/office/drawing/2014/main" id="{B10FC090-AD90-49B5-96D3-B8D1D9F2193E}"/>
              </a:ext>
            </a:extLst>
          </p:cNvPr>
          <p:cNvSpPr>
            <a:spLocks xmlns:a="http://schemas.openxmlformats.org/drawingml/2006/main" noGrp="1"/>
          </p:cNvSpPr>
          <p:nvPr/>
        </p:nvSpPr>
        <p:spPr>
          <a:xfrm xmlns:a="http://schemas.openxmlformats.org/drawingml/2006/main">
            <a:off x="2943225" y="3476625"/>
            <a:ext cx="1390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接入实时或</a:t>
            </a:r>
          </a:p>
          <a:p xmlns:a="http://schemas.openxmlformats.org/drawingml/2006/main">
            <a:pPr algn="l">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可控回放素材</a:t>
            </a:r>
          </a:p>
        </p:txBody>
      </p:sp>
      <p:sp>
        <p:nvSpPr>
          <p:cNvPr id="18" name="矩形 17">
            <a:extLst xmlns:a="http://schemas.openxmlformats.org/drawingml/2006/main">
              <a:ext uri="{FF2B5EF4-FFF2-40B4-BE49-F238E27FC236}">
                <a16:creationId xmlns:a16="http://schemas.microsoft.com/office/drawing/2014/main" id="{37F84D97-FCF8-47DC-A5F6-400200C4E7C2}"/>
              </a:ext>
            </a:extLst>
          </p:cNvPr>
          <p:cNvSpPr>
            <a:spLocks xmlns:a="http://schemas.openxmlformats.org/drawingml/2006/main" noGrp="1"/>
          </p:cNvSpPr>
          <p:nvPr/>
        </p:nvSpPr>
        <p:spPr>
          <a:xfrm xmlns:a="http://schemas.openxmlformats.org/drawingml/2006/main">
            <a:off x="5057775" y="2476500"/>
            <a:ext cx="1695450" cy="1543050"/>
          </a:xfrm>
          <a:prstGeom xmlns:a="http://schemas.openxmlformats.org/drawingml/2006/main" prst="rect">
            <a:avLst/>
          </a:prstGeom>
          <a:solidFill xmlns:a="http://schemas.openxmlformats.org/drawingml/2006/main">
            <a:srgbClr val="EAF4FF"/>
          </a:solidFill>
          <a:ln xmlns:a="http://schemas.openxmlformats.org/drawingml/2006/main" w="19050">
            <a:solidFill>
              <a:srgbClr val="3D8DFF"/>
            </a:solidFill>
            <a:prstDash val="solid"/>
          </a:ln>
        </p:spPr>
      </p:sp>
      <p:sp>
        <p:nvSpPr>
          <p:cNvPr id="19" name="矩形 18">
            <a:extLst xmlns:a="http://schemas.openxmlformats.org/drawingml/2006/main">
              <a:ext uri="{FF2B5EF4-FFF2-40B4-BE49-F238E27FC236}">
                <a16:creationId xmlns:a16="http://schemas.microsoft.com/office/drawing/2014/main" id="{AB0B4ACC-5DEB-479A-9CCC-5FE54F4A4DD4}"/>
              </a:ext>
            </a:extLst>
          </p:cNvPr>
          <p:cNvSpPr>
            <a:spLocks xmlns:a="http://schemas.openxmlformats.org/drawingml/2006/main" noGrp="1"/>
          </p:cNvSpPr>
          <p:nvPr/>
        </p:nvSpPr>
        <p:spPr>
          <a:xfrm xmlns:a="http://schemas.openxmlformats.org/drawingml/2006/main">
            <a:off x="5210175" y="26479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PingFang SC"/>
                <a:ea typeface="PingFang SC"/>
                <a:cs typeface="PingFang SC"/>
              </a:defRPr>
            </a:pPr>
            <a:r>
              <a:rPr sz="1350" b="1">
                <a:solidFill>
                  <a:srgbClr val="3D8DFF"/>
                </a:solidFill>
                <a:latin typeface="PingFang SC"/>
                <a:ea typeface="PingFang SC"/>
                <a:cs typeface="PingFang SC"/>
              </a:rPr>
              <a:t>03</a:t>
            </a:r>
          </a:p>
        </p:txBody>
      </p:sp>
      <p:sp>
        <p:nvSpPr>
          <p:cNvPr id="20" name="矩形 19">
            <a:extLst xmlns:a="http://schemas.openxmlformats.org/drawingml/2006/main">
              <a:ext uri="{FF2B5EF4-FFF2-40B4-BE49-F238E27FC236}">
                <a16:creationId xmlns:a16="http://schemas.microsoft.com/office/drawing/2014/main" id="{E07A8463-038A-4BFF-A06C-4DDE80A98E1C}"/>
              </a:ext>
            </a:extLst>
          </p:cNvPr>
          <p:cNvSpPr>
            <a:spLocks xmlns:a="http://schemas.openxmlformats.org/drawingml/2006/main" noGrp="1"/>
          </p:cNvSpPr>
          <p:nvPr/>
        </p:nvSpPr>
        <p:spPr>
          <a:xfrm xmlns:a="http://schemas.openxmlformats.org/drawingml/2006/main">
            <a:off x="5210175" y="3009900"/>
            <a:ext cx="139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智能研判</a:t>
            </a:r>
          </a:p>
        </p:txBody>
      </p:sp>
      <p:sp>
        <p:nvSpPr>
          <p:cNvPr id="21" name="矩形 20">
            <a:extLst xmlns:a="http://schemas.openxmlformats.org/drawingml/2006/main">
              <a:ext uri="{FF2B5EF4-FFF2-40B4-BE49-F238E27FC236}">
                <a16:creationId xmlns:a16="http://schemas.microsoft.com/office/drawing/2014/main" id="{2DB0EC4F-0B22-404A-B807-80D3DF994374}"/>
              </a:ext>
            </a:extLst>
          </p:cNvPr>
          <p:cNvSpPr>
            <a:spLocks xmlns:a="http://schemas.openxmlformats.org/drawingml/2006/main" noGrp="1"/>
          </p:cNvSpPr>
          <p:nvPr/>
        </p:nvSpPr>
        <p:spPr>
          <a:xfrm xmlns:a="http://schemas.openxmlformats.org/drawingml/2006/main">
            <a:off x="5210175" y="3476625"/>
            <a:ext cx="1390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目标、轨迹、</a:t>
            </a:r>
          </a:p>
          <a:p xmlns:a="http://schemas.openxmlformats.org/drawingml/2006/main">
            <a:pPr algn="l">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冲突与量算</a:t>
            </a:r>
          </a:p>
        </p:txBody>
      </p:sp>
      <p:sp>
        <p:nvSpPr>
          <p:cNvPr id="22" name="矩形 21">
            <a:extLst xmlns:a="http://schemas.openxmlformats.org/drawingml/2006/main">
              <a:ext uri="{FF2B5EF4-FFF2-40B4-BE49-F238E27FC236}">
                <a16:creationId xmlns:a16="http://schemas.microsoft.com/office/drawing/2014/main" id="{513FF214-4BED-4834-AF24-355584422CED}"/>
              </a:ext>
            </a:extLst>
          </p:cNvPr>
          <p:cNvSpPr>
            <a:spLocks xmlns:a="http://schemas.openxmlformats.org/drawingml/2006/main" noGrp="1"/>
          </p:cNvSpPr>
          <p:nvPr/>
        </p:nvSpPr>
        <p:spPr>
          <a:xfrm xmlns:a="http://schemas.openxmlformats.org/drawingml/2006/main">
            <a:off x="7324725" y="2476500"/>
            <a:ext cx="1695450" cy="1543050"/>
          </a:xfrm>
          <a:prstGeom xmlns:a="http://schemas.openxmlformats.org/drawingml/2006/main" prst="rect">
            <a:avLst/>
          </a:prstGeom>
          <a:solidFill xmlns:a="http://schemas.openxmlformats.org/drawingml/2006/main">
            <a:srgbClr val="F7F7F7"/>
          </a:solidFill>
          <a:ln xmlns:a="http://schemas.openxmlformats.org/drawingml/2006/main" w="9525">
            <a:solidFill>
              <a:srgbClr val="B8BCC4"/>
            </a:solidFill>
            <a:prstDash val="solid"/>
          </a:ln>
        </p:spPr>
      </p:sp>
      <p:sp>
        <p:nvSpPr>
          <p:cNvPr id="23" name="矩形 22">
            <a:extLst xmlns:a="http://schemas.openxmlformats.org/drawingml/2006/main">
              <a:ext uri="{FF2B5EF4-FFF2-40B4-BE49-F238E27FC236}">
                <a16:creationId xmlns:a16="http://schemas.microsoft.com/office/drawing/2014/main" id="{534969B3-B7D0-405E-9781-98050EDAE2B1}"/>
              </a:ext>
            </a:extLst>
          </p:cNvPr>
          <p:cNvSpPr>
            <a:spLocks xmlns:a="http://schemas.openxmlformats.org/drawingml/2006/main" noGrp="1"/>
          </p:cNvSpPr>
          <p:nvPr/>
        </p:nvSpPr>
        <p:spPr>
          <a:xfrm xmlns:a="http://schemas.openxmlformats.org/drawingml/2006/main">
            <a:off x="7477125" y="26479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04</a:t>
            </a:r>
          </a:p>
        </p:txBody>
      </p:sp>
      <p:sp>
        <p:nvSpPr>
          <p:cNvPr id="24" name="矩形 23">
            <a:extLst xmlns:a="http://schemas.openxmlformats.org/drawingml/2006/main">
              <a:ext uri="{FF2B5EF4-FFF2-40B4-BE49-F238E27FC236}">
                <a16:creationId xmlns:a16="http://schemas.microsoft.com/office/drawing/2014/main" id="{914F08E9-6740-45EA-8636-47D4CF7A78FF}"/>
              </a:ext>
            </a:extLst>
          </p:cNvPr>
          <p:cNvSpPr>
            <a:spLocks xmlns:a="http://schemas.openxmlformats.org/drawingml/2006/main" noGrp="1"/>
          </p:cNvSpPr>
          <p:nvPr/>
        </p:nvSpPr>
        <p:spPr>
          <a:xfrm xmlns:a="http://schemas.openxmlformats.org/drawingml/2006/main">
            <a:off x="7477125" y="3009900"/>
            <a:ext cx="139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治理施策</a:t>
            </a:r>
          </a:p>
        </p:txBody>
      </p:sp>
      <p:sp>
        <p:nvSpPr>
          <p:cNvPr id="25" name="矩形 24">
            <a:extLst xmlns:a="http://schemas.openxmlformats.org/drawingml/2006/main">
              <a:ext uri="{FF2B5EF4-FFF2-40B4-BE49-F238E27FC236}">
                <a16:creationId xmlns:a16="http://schemas.microsoft.com/office/drawing/2014/main" id="{D3EAAE8C-E867-4013-9A90-EA5902474B3A}"/>
              </a:ext>
            </a:extLst>
          </p:cNvPr>
          <p:cNvSpPr>
            <a:spLocks xmlns:a="http://schemas.openxmlformats.org/drawingml/2006/main" noGrp="1"/>
          </p:cNvSpPr>
          <p:nvPr/>
        </p:nvSpPr>
        <p:spPr>
          <a:xfrm xmlns:a="http://schemas.openxmlformats.org/drawingml/2006/main">
            <a:off x="7477125" y="3476625"/>
            <a:ext cx="1390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轨迹、事件、</a:t>
            </a:r>
          </a:p>
          <a:p xmlns:a="http://schemas.openxmlformats.org/drawingml/2006/main">
            <a:pPr algn="l">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报告与路网</a:t>
            </a:r>
          </a:p>
        </p:txBody>
      </p:sp>
      <p:sp>
        <p:nvSpPr>
          <p:cNvPr id="26" name="矩形 25">
            <a:extLst xmlns:a="http://schemas.openxmlformats.org/drawingml/2006/main">
              <a:ext uri="{FF2B5EF4-FFF2-40B4-BE49-F238E27FC236}">
                <a16:creationId xmlns:a16="http://schemas.microsoft.com/office/drawing/2014/main" id="{4DB4F536-0C8C-418D-B714-B727F7516907}"/>
              </a:ext>
            </a:extLst>
          </p:cNvPr>
          <p:cNvSpPr>
            <a:spLocks xmlns:a="http://schemas.openxmlformats.org/drawingml/2006/main" noGrp="1"/>
          </p:cNvSpPr>
          <p:nvPr/>
        </p:nvSpPr>
        <p:spPr>
          <a:xfrm xmlns:a="http://schemas.openxmlformats.org/drawingml/2006/main">
            <a:off x="9591675" y="2476500"/>
            <a:ext cx="1695450" cy="1543050"/>
          </a:xfrm>
          <a:prstGeom xmlns:a="http://schemas.openxmlformats.org/drawingml/2006/main" prst="rect">
            <a:avLst/>
          </a:prstGeom>
          <a:solidFill xmlns:a="http://schemas.openxmlformats.org/drawingml/2006/main">
            <a:srgbClr val="F7F7F7"/>
          </a:solidFill>
          <a:ln xmlns:a="http://schemas.openxmlformats.org/drawingml/2006/main" w="9525">
            <a:solidFill>
              <a:srgbClr val="B8BCC4"/>
            </a:solidFill>
            <a:prstDash val="solid"/>
          </a:ln>
        </p:spPr>
      </p:sp>
      <p:sp>
        <p:nvSpPr>
          <p:cNvPr id="27" name="矩形 26">
            <a:extLst xmlns:a="http://schemas.openxmlformats.org/drawingml/2006/main">
              <a:ext uri="{FF2B5EF4-FFF2-40B4-BE49-F238E27FC236}">
                <a16:creationId xmlns:a16="http://schemas.microsoft.com/office/drawing/2014/main" id="{121377E3-7EF4-4239-8C65-E55CE5753603}"/>
              </a:ext>
            </a:extLst>
          </p:cNvPr>
          <p:cNvSpPr>
            <a:spLocks xmlns:a="http://schemas.openxmlformats.org/drawingml/2006/main" noGrp="1"/>
          </p:cNvSpPr>
          <p:nvPr/>
        </p:nvSpPr>
        <p:spPr>
          <a:xfrm xmlns:a="http://schemas.openxmlformats.org/drawingml/2006/main">
            <a:off x="9744075" y="26479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05</a:t>
            </a:r>
          </a:p>
        </p:txBody>
      </p:sp>
      <p:sp>
        <p:nvSpPr>
          <p:cNvPr id="28" name="矩形 27">
            <a:extLst xmlns:a="http://schemas.openxmlformats.org/drawingml/2006/main">
              <a:ext uri="{FF2B5EF4-FFF2-40B4-BE49-F238E27FC236}">
                <a16:creationId xmlns:a16="http://schemas.microsoft.com/office/drawing/2014/main" id="{9A2FB262-B191-4F04-BC11-F0DE53205AD5}"/>
              </a:ext>
            </a:extLst>
          </p:cNvPr>
          <p:cNvSpPr>
            <a:spLocks xmlns:a="http://schemas.openxmlformats.org/drawingml/2006/main" noGrp="1"/>
          </p:cNvSpPr>
          <p:nvPr/>
        </p:nvSpPr>
        <p:spPr>
          <a:xfrm xmlns:a="http://schemas.openxmlformats.org/drawingml/2006/main">
            <a:off x="9744075" y="3009900"/>
            <a:ext cx="139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复测评价</a:t>
            </a:r>
          </a:p>
        </p:txBody>
      </p:sp>
      <p:sp>
        <p:nvSpPr>
          <p:cNvPr id="29" name="矩形 28">
            <a:extLst xmlns:a="http://schemas.openxmlformats.org/drawingml/2006/main">
              <a:ext uri="{FF2B5EF4-FFF2-40B4-BE49-F238E27FC236}">
                <a16:creationId xmlns:a16="http://schemas.microsoft.com/office/drawing/2014/main" id="{648F1BBB-C8DA-44FE-9962-6F3B2C45AE46}"/>
              </a:ext>
            </a:extLst>
          </p:cNvPr>
          <p:cNvSpPr>
            <a:spLocks xmlns:a="http://schemas.openxmlformats.org/drawingml/2006/main" noGrp="1"/>
          </p:cNvSpPr>
          <p:nvPr/>
        </p:nvSpPr>
        <p:spPr>
          <a:xfrm xmlns:a="http://schemas.openxmlformats.org/drawingml/2006/main">
            <a:off x="9744075" y="3476625"/>
            <a:ext cx="1390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按 Mission</a:t>
            </a:r>
          </a:p>
          <a:p xmlns:a="http://schemas.openxmlformats.org/drawingml/2006/main">
            <a:pPr algn="l">
              <a:buNone/>
              <a:defRPr sz="1500" b="0">
                <a:solidFill>
                  <a:srgbClr val="5F6670"/>
                </a:solidFill>
                <a:latin typeface="PingFang SC"/>
                <a:ea typeface="PingFang SC"/>
                <a:cs typeface="PingFang SC"/>
              </a:defRPr>
            </a:pPr>
            <a:r>
              <a:rPr sz="1500" b="0">
                <a:solidFill>
                  <a:srgbClr val="5F6670"/>
                </a:solidFill>
                <a:latin typeface="PingFang SC"/>
                <a:ea typeface="PingFang SC"/>
                <a:cs typeface="PingFang SC"/>
              </a:rPr>
              <a:t>回看治理成效</a:t>
            </a:r>
          </a:p>
        </p:txBody>
      </p:sp>
      <p:sp>
        <p:nvSpPr>
          <p:cNvPr id="30" name="矩形 29">
            <a:extLst xmlns:a="http://schemas.openxmlformats.org/drawingml/2006/main">
              <a:ext uri="{FF2B5EF4-FFF2-40B4-BE49-F238E27FC236}">
                <a16:creationId xmlns:a16="http://schemas.microsoft.com/office/drawing/2014/main" id="{89915848-8F54-48B3-80AE-7274E535EA0A}"/>
              </a:ext>
            </a:extLst>
          </p:cNvPr>
          <p:cNvSpPr>
            <a:spLocks xmlns:a="http://schemas.openxmlformats.org/drawingml/2006/main" noGrp="1"/>
          </p:cNvSpPr>
          <p:nvPr/>
        </p:nvSpPr>
        <p:spPr>
          <a:xfrm xmlns:a="http://schemas.openxmlformats.org/drawingml/2006/main">
            <a:off x="1295400" y="4953000"/>
            <a:ext cx="9601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250" b="1">
                <a:solidFill>
                  <a:srgbClr val="000000"/>
                </a:solidFill>
                <a:latin typeface="PingFang SC"/>
                <a:ea typeface="PingFang SC"/>
                <a:cs typeface="PingFang SC"/>
              </a:defRPr>
            </a:pPr>
            <a:r>
              <a:rPr sz="2250" b="1">
                <a:solidFill>
                  <a:srgbClr val="000000"/>
                </a:solidFill>
                <a:latin typeface="PingFang SC"/>
                <a:ea typeface="PingFang SC"/>
                <a:cs typeface="PingFang SC"/>
              </a:rPr>
              <a:t>无人机不下发飞控或信号指令，只提供可追溯的治理事实。</a:t>
            </a:r>
          </a:p>
        </p:txBody>
      </p:sp>
    </p:spTree>
    <p:extLst>
      <p:ext uri="{BB962C8B-B14F-4D97-AF65-F5344CB8AC3E}">
        <p14:creationId xmlns:p14="http://schemas.microsoft.com/office/powerpoint/2010/main" val="141738188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5" name="矩形 14">
            <a:extLst xmlns:a="http://schemas.openxmlformats.org/drawingml/2006/main">
              <a:ext uri="{FF2B5EF4-FFF2-40B4-BE49-F238E27FC236}">
                <a16:creationId xmlns:a16="http://schemas.microsoft.com/office/drawing/2014/main" id="{181B6204-C42C-4103-BE7F-EDF2F92FBDDB}"/>
              </a:ext>
            </a:extLst>
          </p:cNvPr>
          <p:cNvSpPr>
            <a:spLocks xmlns:a="http://schemas.openxmlformats.org/drawingml/2006/main" noGrp="1"/>
          </p:cNvSpPr>
          <p:nvPr/>
        </p:nvSpPr>
        <p:spPr>
          <a:xfrm xmlns:a="http://schemas.openxmlformats.org/drawingml/2006/main">
            <a:off x="390525" y="590550"/>
            <a:ext cx="114014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600" b="1">
                <a:solidFill>
                  <a:srgbClr val="000000"/>
                </a:solidFill>
                <a:latin typeface="PingFang SC"/>
                <a:ea typeface="PingFang SC"/>
                <a:cs typeface="PingFang SC"/>
              </a:defRPr>
            </a:pPr>
            <a:r>
              <a:rPr sz="3600" b="1">
                <a:solidFill>
                  <a:srgbClr val="000000"/>
                </a:solidFill>
                <a:latin typeface="PingFang SC"/>
                <a:ea typeface="PingFang SC"/>
                <a:cs typeface="PingFang SC"/>
              </a:rPr>
              <a:t>拥堵治理从“看见排队”升级为可解释、可复测</a:t>
            </a:r>
          </a:p>
        </p:txBody>
      </p:sp>
      <p:sp>
        <p:nvSpPr>
          <p:cNvPr id="2" name="矩形 1">
            <a:extLst xmlns:a="http://schemas.openxmlformats.org/drawingml/2006/main">
              <a:ext uri="{FF2B5EF4-FFF2-40B4-BE49-F238E27FC236}">
                <a16:creationId xmlns:a16="http://schemas.microsoft.com/office/drawing/2014/main" id="{58B19558-735A-49B1-A470-E300EDDAB323}"/>
              </a:ext>
            </a:extLst>
          </p:cNvPr>
          <p:cNvSpPr>
            <a:spLocks xmlns:a="http://schemas.openxmlformats.org/drawingml/2006/main" noGrp="1"/>
          </p:cNvSpPr>
          <p:nvPr/>
        </p:nvSpPr>
        <p:spPr>
          <a:xfrm xmlns:a="http://schemas.openxmlformats.org/drawingml/2006/main">
            <a:off x="390525" y="1266825"/>
            <a:ext cx="11401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F6670"/>
                </a:solidFill>
                <a:latin typeface="PingFang SC"/>
                <a:ea typeface="PingFang SC"/>
                <a:cs typeface="PingFang SC"/>
              </a:defRPr>
            </a:pPr>
            <a:r>
              <a:rPr sz="1650" b="0">
                <a:solidFill>
                  <a:srgbClr val="5F6670"/>
                </a:solidFill>
                <a:latin typeface="PingFang SC"/>
                <a:ea typeface="PingFang SC"/>
                <a:cs typeface="PingFang SC"/>
              </a:rPr>
              <a:t>无人机补充流量、转向、排队与轨迹事实，与易出行饱和度、延误和绿灯利用率指标联合研判。</a:t>
            </a:r>
          </a:p>
        </p:txBody>
      </p:sp>
      <p:sp>
        <p:nvSpPr>
          <p:cNvPr id="3" name="矩形 2">
            <a:extLst xmlns:a="http://schemas.openxmlformats.org/drawingml/2006/main">
              <a:ext uri="{FF2B5EF4-FFF2-40B4-BE49-F238E27FC236}">
                <a16:creationId xmlns:a16="http://schemas.microsoft.com/office/drawing/2014/main" id="{9325E81C-1A61-44D6-B66E-48ADF0D73F04}"/>
              </a:ext>
            </a:extLst>
          </p:cNvPr>
          <p:cNvSpPr>
            <a:spLocks xmlns:a="http://schemas.openxmlformats.org/drawingml/2006/main" noGrp="1"/>
          </p:cNvSpPr>
          <p:nvPr/>
        </p:nvSpPr>
        <p:spPr>
          <a:xfrm xmlns:a="http://schemas.openxmlformats.org/drawingml/2006/main">
            <a:off x="390525" y="2286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易出行 · 无人机交通治理</a:t>
            </a:r>
          </a:p>
        </p:txBody>
      </p:sp>
      <p:sp>
        <p:nvSpPr>
          <p:cNvPr id="4" name="直线连接符 3">
            <a:extLst xmlns:a="http://schemas.openxmlformats.org/drawingml/2006/main">
              <a:ext uri="{FF2B5EF4-FFF2-40B4-BE49-F238E27FC236}">
                <a16:creationId xmlns:a16="http://schemas.microsoft.com/office/drawing/2014/main" id="{567B8136-FFC9-44BB-88AE-A73DC36E8E3C}"/>
              </a:ext>
            </a:extLst>
          </p:cNvPr>
          <p:cNvSpPr>
            <a:spLocks xmlns:a="http://schemas.openxmlformats.org/drawingml/2006/main" noGrp="1"/>
          </p:cNvSpPr>
          <p:nvPr/>
        </p:nvSpPr>
        <p:spPr>
          <a:xfrm xmlns:a="http://schemas.openxmlformats.org/drawingml/2006/main">
            <a:off x="390525" y="6438900"/>
            <a:ext cx="114014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矩形 4">
            <a:extLst xmlns:a="http://schemas.openxmlformats.org/drawingml/2006/main">
              <a:ext uri="{FF2B5EF4-FFF2-40B4-BE49-F238E27FC236}">
                <a16:creationId xmlns:a16="http://schemas.microsoft.com/office/drawing/2014/main" id="{3B8B4F82-DD48-4EC7-AE3E-F3BD1A70E613}"/>
              </a:ext>
            </a:extLst>
          </p:cNvPr>
          <p:cNvSpPr>
            <a:spLocks xmlns:a="http://schemas.openxmlformats.org/drawingml/2006/main" noGrp="1"/>
          </p:cNvSpPr>
          <p:nvPr/>
        </p:nvSpPr>
        <p:spPr>
          <a:xfrm xmlns:a="http://schemas.openxmlformats.org/drawingml/2006/main">
            <a:off x="1123950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05</a:t>
            </a:r>
          </a:p>
        </p:txBody>
      </p:sp>
      <p:sp>
        <p:nvSpPr>
          <p:cNvPr id="6" name="矩形 5">
            <a:extLst xmlns:a="http://schemas.openxmlformats.org/drawingml/2006/main">
              <a:ext uri="{FF2B5EF4-FFF2-40B4-BE49-F238E27FC236}">
                <a16:creationId xmlns:a16="http://schemas.microsoft.com/office/drawing/2014/main" id="{CEE1F21D-A445-45D3-8522-52CAE42139F0}"/>
              </a:ext>
            </a:extLst>
          </p:cNvPr>
          <p:cNvSpPr>
            <a:spLocks xmlns:a="http://schemas.openxmlformats.org/drawingml/2006/main" noGrp="1"/>
          </p:cNvSpPr>
          <p:nvPr/>
        </p:nvSpPr>
        <p:spPr>
          <a:xfrm xmlns:a="http://schemas.openxmlformats.org/drawingml/2006/main">
            <a:off x="371475" y="1962150"/>
            <a:ext cx="5572125" cy="28575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24" name="图片 20"/>
          <p:cNvPicPr>
            <a:picLocks xmlns:a="http://schemas.openxmlformats.org/drawingml/2006/main" noChangeAspect="1"/>
          </p:cNvPicPr>
          <p:nvPr/>
        </p:nvPicPr>
        <p:blipFill>
          <a:blip xmlns:r="http://schemas.openxmlformats.org/officeDocument/2006/relationships" xmlns:a="http://schemas.openxmlformats.org/drawingml/2006/main" r:embed="Rfb21c969c4a741c8"/>
          <a:srcRect xmlns:a="http://schemas.openxmlformats.org/drawingml/2006/main" l="0" t="52" r="0" b="52"/>
          <a:stretch xmlns:a="http://schemas.openxmlformats.org/drawingml/2006/main">
            <a:fillRect l="0" t="0" r="0" b="0"/>
          </a:stretch>
        </p:blipFill>
        <p:spPr>
          <a:xfrm xmlns:a="http://schemas.openxmlformats.org/drawingml/2006/main">
            <a:off x="390525" y="1981200"/>
            <a:ext cx="5534025" cy="2819400"/>
          </a:xfrm>
          <a:prstGeom xmlns:a="http://schemas.openxmlformats.org/drawingml/2006/main" prst="rect">
            <a:avLst/>
          </a:prstGeom>
        </p:spPr>
      </p:pic>
      <p:sp>
        <p:nvSpPr>
          <p:cNvPr id="8" name="矩形 7">
            <a:extLst xmlns:a="http://schemas.openxmlformats.org/drawingml/2006/main">
              <a:ext uri="{FF2B5EF4-FFF2-40B4-BE49-F238E27FC236}">
                <a16:creationId xmlns:a16="http://schemas.microsoft.com/office/drawing/2014/main" id="{BC667EB7-F650-42E4-9E5A-9A5E53FB3EDE}"/>
              </a:ext>
            </a:extLst>
          </p:cNvPr>
          <p:cNvSpPr>
            <a:spLocks xmlns:a="http://schemas.openxmlformats.org/drawingml/2006/main" noGrp="1"/>
          </p:cNvSpPr>
          <p:nvPr/>
        </p:nvSpPr>
        <p:spPr>
          <a:xfrm xmlns:a="http://schemas.openxmlformats.org/drawingml/2006/main">
            <a:off x="6238875" y="1962150"/>
            <a:ext cx="5572125" cy="28575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26" name="图片 22"/>
          <p:cNvPicPr>
            <a:picLocks xmlns:a="http://schemas.openxmlformats.org/drawingml/2006/main" noChangeAspect="1"/>
          </p:cNvPicPr>
          <p:nvPr/>
        </p:nvPicPr>
        <p:blipFill>
          <a:blip xmlns:r="http://schemas.openxmlformats.org/officeDocument/2006/relationships" xmlns:a="http://schemas.openxmlformats.org/drawingml/2006/main" r:embed="Rd15660e51cf04c87"/>
          <a:srcRect xmlns:a="http://schemas.openxmlformats.org/drawingml/2006/main" l="0" t="52" r="0" b="52"/>
          <a:stretch xmlns:a="http://schemas.openxmlformats.org/drawingml/2006/main">
            <a:fillRect l="0" t="0" r="0" b="0"/>
          </a:stretch>
        </p:blipFill>
        <p:spPr>
          <a:xfrm xmlns:a="http://schemas.openxmlformats.org/drawingml/2006/main">
            <a:off x="6257925" y="1981200"/>
            <a:ext cx="5534025" cy="2819400"/>
          </a:xfrm>
          <a:prstGeom xmlns:a="http://schemas.openxmlformats.org/drawingml/2006/main" prst="rect">
            <a:avLst/>
          </a:prstGeom>
        </p:spPr>
      </p:pic>
      <p:sp>
        <p:nvSpPr>
          <p:cNvPr id="10" name="矩形 9">
            <a:extLst xmlns:a="http://schemas.openxmlformats.org/drawingml/2006/main">
              <a:ext uri="{FF2B5EF4-FFF2-40B4-BE49-F238E27FC236}">
                <a16:creationId xmlns:a16="http://schemas.microsoft.com/office/drawing/2014/main" id="{BD936AE0-C1A2-4B5C-9747-A70DAA85586B}"/>
              </a:ext>
            </a:extLst>
          </p:cNvPr>
          <p:cNvSpPr>
            <a:spLocks xmlns:a="http://schemas.openxmlformats.org/drawingml/2006/main" noGrp="1"/>
          </p:cNvSpPr>
          <p:nvPr/>
        </p:nvSpPr>
        <p:spPr>
          <a:xfrm xmlns:a="http://schemas.openxmlformats.org/drawingml/2006/main">
            <a:off x="390525" y="4972050"/>
            <a:ext cx="55340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PingFang SC"/>
                <a:ea typeface="PingFang SC"/>
                <a:cs typeface="PingFang SC"/>
              </a:defRPr>
            </a:pPr>
            <a:r>
              <a:rPr sz="1950" b="1">
                <a:solidFill>
                  <a:srgbClr val="000000"/>
                </a:solidFill>
                <a:latin typeface="PingFang SC"/>
                <a:ea typeface="PingFang SC"/>
                <a:cs typeface="PingFang SC"/>
              </a:rPr>
              <a:t>先把问题说清楚</a:t>
            </a:r>
          </a:p>
        </p:txBody>
      </p:sp>
      <p:sp>
        <p:nvSpPr>
          <p:cNvPr id="11" name="矩形 10">
            <a:extLst xmlns:a="http://schemas.openxmlformats.org/drawingml/2006/main">
              <a:ext uri="{FF2B5EF4-FFF2-40B4-BE49-F238E27FC236}">
                <a16:creationId xmlns:a16="http://schemas.microsoft.com/office/drawing/2014/main" id="{2227C713-589B-45EC-86B0-E2F7F40510C6}"/>
              </a:ext>
            </a:extLst>
          </p:cNvPr>
          <p:cNvSpPr>
            <a:spLocks xmlns:a="http://schemas.openxmlformats.org/drawingml/2006/main" noGrp="1"/>
          </p:cNvSpPr>
          <p:nvPr/>
        </p:nvSpPr>
        <p:spPr>
          <a:xfrm xmlns:a="http://schemas.openxmlformats.org/drawingml/2006/main">
            <a:off x="390525" y="5372100"/>
            <a:ext cx="5334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核实排队方向、转向流量和拥堵范围，锁定治理对象。</a:t>
            </a:r>
          </a:p>
        </p:txBody>
      </p:sp>
      <p:sp>
        <p:nvSpPr>
          <p:cNvPr id="12" name="矩形 11">
            <a:extLst xmlns:a="http://schemas.openxmlformats.org/drawingml/2006/main">
              <a:ext uri="{FF2B5EF4-FFF2-40B4-BE49-F238E27FC236}">
                <a16:creationId xmlns:a16="http://schemas.microsoft.com/office/drawing/2014/main" id="{E2ECE58C-126D-441B-A905-18FB74EC5FE7}"/>
              </a:ext>
            </a:extLst>
          </p:cNvPr>
          <p:cNvSpPr>
            <a:spLocks xmlns:a="http://schemas.openxmlformats.org/drawingml/2006/main" noGrp="1"/>
          </p:cNvSpPr>
          <p:nvPr/>
        </p:nvSpPr>
        <p:spPr>
          <a:xfrm xmlns:a="http://schemas.openxmlformats.org/drawingml/2006/main">
            <a:off x="6257925" y="4972050"/>
            <a:ext cx="55340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PingFang SC"/>
                <a:ea typeface="PingFang SC"/>
                <a:cs typeface="PingFang SC"/>
              </a:defRPr>
            </a:pPr>
            <a:r>
              <a:rPr sz="1950" b="1">
                <a:solidFill>
                  <a:srgbClr val="000000"/>
                </a:solidFill>
                <a:latin typeface="PingFang SC"/>
                <a:ea typeface="PingFang SC"/>
                <a:cs typeface="PingFang SC"/>
              </a:rPr>
              <a:t>再用同口径验证变化</a:t>
            </a:r>
          </a:p>
        </p:txBody>
      </p:sp>
      <p:sp>
        <p:nvSpPr>
          <p:cNvPr id="13" name="矩形 12">
            <a:extLst xmlns:a="http://schemas.openxmlformats.org/drawingml/2006/main">
              <a:ext uri="{FF2B5EF4-FFF2-40B4-BE49-F238E27FC236}">
                <a16:creationId xmlns:a16="http://schemas.microsoft.com/office/drawing/2014/main" id="{18E6D247-F081-40FE-9251-25152B90A8FB}"/>
              </a:ext>
            </a:extLst>
          </p:cNvPr>
          <p:cNvSpPr>
            <a:spLocks xmlns:a="http://schemas.openxmlformats.org/drawingml/2006/main" noGrp="1"/>
          </p:cNvSpPr>
          <p:nvPr/>
        </p:nvSpPr>
        <p:spPr>
          <a:xfrm xmlns:a="http://schemas.openxmlformats.org/drawingml/2006/main">
            <a:off x="6257925" y="5372100"/>
            <a:ext cx="5334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同路口、同星期、同五分钟时段复测，不把不同任务拼成实时。</a:t>
            </a:r>
          </a:p>
        </p:txBody>
      </p:sp>
    </p:spTree>
    <p:extLst>
      <p:ext uri="{BB962C8B-B14F-4D97-AF65-F5344CB8AC3E}">
        <p14:creationId xmlns:p14="http://schemas.microsoft.com/office/powerpoint/2010/main" val="79825810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5" name="矩形 14">
            <a:extLst xmlns:a="http://schemas.openxmlformats.org/drawingml/2006/main">
              <a:ext uri="{FF2B5EF4-FFF2-40B4-BE49-F238E27FC236}">
                <a16:creationId xmlns:a16="http://schemas.microsoft.com/office/drawing/2014/main" id="{072ECCF4-20BE-4051-B117-1DBA8DEF17DA}"/>
              </a:ext>
            </a:extLst>
          </p:cNvPr>
          <p:cNvSpPr>
            <a:spLocks xmlns:a="http://schemas.openxmlformats.org/drawingml/2006/main" noGrp="1"/>
          </p:cNvSpPr>
          <p:nvPr/>
        </p:nvSpPr>
        <p:spPr>
          <a:xfrm xmlns:a="http://schemas.openxmlformats.org/drawingml/2006/main">
            <a:off x="390525" y="590550"/>
            <a:ext cx="114014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600" b="1">
                <a:solidFill>
                  <a:srgbClr val="000000"/>
                </a:solidFill>
                <a:latin typeface="PingFang SC"/>
                <a:ea typeface="PingFang SC"/>
                <a:cs typeface="PingFang SC"/>
              </a:defRPr>
            </a:pPr>
            <a:r>
              <a:rPr sz="3600" b="1">
                <a:solidFill>
                  <a:srgbClr val="000000"/>
                </a:solidFill>
                <a:latin typeface="PingFang SC"/>
                <a:ea typeface="PingFang SC"/>
                <a:cs typeface="PingFang SC"/>
              </a:rPr>
              <a:t>安全治理从事故后处置前移到冲突风险复核</a:t>
            </a:r>
          </a:p>
        </p:txBody>
      </p:sp>
      <p:sp>
        <p:nvSpPr>
          <p:cNvPr id="2" name="矩形 1">
            <a:extLst xmlns:a="http://schemas.openxmlformats.org/drawingml/2006/main">
              <a:ext uri="{FF2B5EF4-FFF2-40B4-BE49-F238E27FC236}">
                <a16:creationId xmlns:a16="http://schemas.microsoft.com/office/drawing/2014/main" id="{721472AC-AAD1-4B2A-B476-8B0551CA3B21}"/>
              </a:ext>
            </a:extLst>
          </p:cNvPr>
          <p:cNvSpPr>
            <a:spLocks xmlns:a="http://schemas.openxmlformats.org/drawingml/2006/main" noGrp="1"/>
          </p:cNvSpPr>
          <p:nvPr/>
        </p:nvSpPr>
        <p:spPr>
          <a:xfrm xmlns:a="http://schemas.openxmlformats.org/drawingml/2006/main">
            <a:off x="390525" y="1266825"/>
            <a:ext cx="11401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F6670"/>
                </a:solidFill>
                <a:latin typeface="PingFang SC"/>
                <a:ea typeface="PingFang SC"/>
                <a:cs typeface="PingFang SC"/>
              </a:defRPr>
            </a:pPr>
            <a:r>
              <a:rPr sz="1650" b="0">
                <a:solidFill>
                  <a:srgbClr val="5F6670"/>
                </a:solidFill>
                <a:latin typeface="PingFang SC"/>
                <a:ea typeface="PingFang SC"/>
                <a:cs typeface="PingFang SC"/>
              </a:rPr>
              <a:t>系统只报告满足共同冲突区条件的机非冲突，并保留 TTC/PET、轨迹和证据。</a:t>
            </a:r>
          </a:p>
        </p:txBody>
      </p:sp>
      <p:sp>
        <p:nvSpPr>
          <p:cNvPr id="3" name="矩形 2">
            <a:extLst xmlns:a="http://schemas.openxmlformats.org/drawingml/2006/main">
              <a:ext uri="{FF2B5EF4-FFF2-40B4-BE49-F238E27FC236}">
                <a16:creationId xmlns:a16="http://schemas.microsoft.com/office/drawing/2014/main" id="{A10A95BB-919A-4F06-8510-DACAF6931D0D}"/>
              </a:ext>
            </a:extLst>
          </p:cNvPr>
          <p:cNvSpPr>
            <a:spLocks xmlns:a="http://schemas.openxmlformats.org/drawingml/2006/main" noGrp="1"/>
          </p:cNvSpPr>
          <p:nvPr/>
        </p:nvSpPr>
        <p:spPr>
          <a:xfrm xmlns:a="http://schemas.openxmlformats.org/drawingml/2006/main">
            <a:off x="390525" y="2286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易出行 · 无人机交通治理</a:t>
            </a:r>
          </a:p>
        </p:txBody>
      </p:sp>
      <p:sp>
        <p:nvSpPr>
          <p:cNvPr id="4" name="直线连接符 3">
            <a:extLst xmlns:a="http://schemas.openxmlformats.org/drawingml/2006/main">
              <a:ext uri="{FF2B5EF4-FFF2-40B4-BE49-F238E27FC236}">
                <a16:creationId xmlns:a16="http://schemas.microsoft.com/office/drawing/2014/main" id="{C44784EE-0821-4B42-99F1-E6A4BFEE1FBC}"/>
              </a:ext>
            </a:extLst>
          </p:cNvPr>
          <p:cNvSpPr>
            <a:spLocks xmlns:a="http://schemas.openxmlformats.org/drawingml/2006/main" noGrp="1"/>
          </p:cNvSpPr>
          <p:nvPr/>
        </p:nvSpPr>
        <p:spPr>
          <a:xfrm xmlns:a="http://schemas.openxmlformats.org/drawingml/2006/main">
            <a:off x="390525" y="6438900"/>
            <a:ext cx="114014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矩形 4">
            <a:extLst xmlns:a="http://schemas.openxmlformats.org/drawingml/2006/main">
              <a:ext uri="{FF2B5EF4-FFF2-40B4-BE49-F238E27FC236}">
                <a16:creationId xmlns:a16="http://schemas.microsoft.com/office/drawing/2014/main" id="{DF6647D6-8D0C-4DF7-BAD4-6693B5FFD7C7}"/>
              </a:ext>
            </a:extLst>
          </p:cNvPr>
          <p:cNvSpPr>
            <a:spLocks xmlns:a="http://schemas.openxmlformats.org/drawingml/2006/main" noGrp="1"/>
          </p:cNvSpPr>
          <p:nvPr/>
        </p:nvSpPr>
        <p:spPr>
          <a:xfrm xmlns:a="http://schemas.openxmlformats.org/drawingml/2006/main">
            <a:off x="1123950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06</a:t>
            </a:r>
          </a:p>
        </p:txBody>
      </p:sp>
      <p:sp>
        <p:nvSpPr>
          <p:cNvPr id="10" name="矩形 9">
            <a:extLst xmlns:a="http://schemas.openxmlformats.org/drawingml/2006/main">
              <a:ext uri="{FF2B5EF4-FFF2-40B4-BE49-F238E27FC236}">
                <a16:creationId xmlns:a16="http://schemas.microsoft.com/office/drawing/2014/main" id="{23F5591F-A189-4111-806F-E112DFB6EF91}"/>
              </a:ext>
            </a:extLst>
          </p:cNvPr>
          <p:cNvSpPr>
            <a:spLocks xmlns:a="http://schemas.openxmlformats.org/drawingml/2006/main" noGrp="1"/>
          </p:cNvSpPr>
          <p:nvPr/>
        </p:nvSpPr>
        <p:spPr>
          <a:xfrm xmlns:a="http://schemas.openxmlformats.org/drawingml/2006/main">
            <a:off x="390525" y="5029200"/>
            <a:ext cx="55340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PingFang SC"/>
                <a:ea typeface="PingFang SC"/>
                <a:cs typeface="PingFang SC"/>
              </a:defRPr>
            </a:pPr>
            <a:r>
              <a:rPr sz="1950" b="1">
                <a:solidFill>
                  <a:srgbClr val="000000"/>
                </a:solidFill>
                <a:latin typeface="PingFang SC"/>
                <a:ea typeface="PingFang SC"/>
                <a:cs typeface="PingFang SC"/>
              </a:rPr>
              <a:t>风险事件可检索</a:t>
            </a:r>
          </a:p>
        </p:txBody>
      </p:sp>
      <p:sp>
        <p:nvSpPr>
          <p:cNvPr id="11" name="矩形 10">
            <a:extLst xmlns:a="http://schemas.openxmlformats.org/drawingml/2006/main">
              <a:ext uri="{FF2B5EF4-FFF2-40B4-BE49-F238E27FC236}">
                <a16:creationId xmlns:a16="http://schemas.microsoft.com/office/drawing/2014/main" id="{C5BCF5FD-65FC-47F7-BCD5-14BF8D0563B5}"/>
              </a:ext>
            </a:extLst>
          </p:cNvPr>
          <p:cNvSpPr>
            <a:spLocks xmlns:a="http://schemas.openxmlformats.org/drawingml/2006/main" noGrp="1"/>
          </p:cNvSpPr>
          <p:nvPr/>
        </p:nvSpPr>
        <p:spPr>
          <a:xfrm xmlns:a="http://schemas.openxmlformats.org/drawingml/2006/main">
            <a:off x="390525" y="5429250"/>
            <a:ext cx="5334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按路口、任务、时间和风险等级定位冲突，形成待复核清单。</a:t>
            </a:r>
          </a:p>
        </p:txBody>
      </p:sp>
      <p:sp>
        <p:nvSpPr>
          <p:cNvPr id="12" name="矩形 11">
            <a:extLst xmlns:a="http://schemas.openxmlformats.org/drawingml/2006/main">
              <a:ext uri="{FF2B5EF4-FFF2-40B4-BE49-F238E27FC236}">
                <a16:creationId xmlns:a16="http://schemas.microsoft.com/office/drawing/2014/main" id="{6E34A03B-7B0E-4C71-ADB6-07E2A7842934}"/>
              </a:ext>
            </a:extLst>
          </p:cNvPr>
          <p:cNvSpPr>
            <a:spLocks xmlns:a="http://schemas.openxmlformats.org/drawingml/2006/main" noGrp="1"/>
          </p:cNvSpPr>
          <p:nvPr/>
        </p:nvSpPr>
        <p:spPr>
          <a:xfrm xmlns:a="http://schemas.openxmlformats.org/drawingml/2006/main">
            <a:off x="5782064" y="5010538"/>
            <a:ext cx="55340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PingFang SC"/>
                <a:ea typeface="PingFang SC"/>
                <a:cs typeface="PingFang SC"/>
              </a:defRPr>
            </a:pPr>
            <a:r>
              <a:rPr sz="1950" b="1">
                <a:solidFill>
                  <a:srgbClr val="000000"/>
                </a:solidFill>
                <a:latin typeface="PingFang SC"/>
                <a:ea typeface="PingFang SC"/>
                <a:cs typeface="PingFang SC"/>
              </a:rPr>
              <a:t>治理依据可回看</a:t>
            </a:r>
            <a:endParaRPr sz="1950" b="1">
              <a:solidFill>
                <a:srgbClr val="000000"/>
              </a:solidFill>
              <a:latin typeface="PingFang SC"/>
              <a:ea typeface="PingFang SC"/>
              <a:cs typeface="PingFang SC"/>
            </a:endParaRPr>
          </a:p>
        </p:txBody>
      </p:sp>
      <p:sp>
        <p:nvSpPr>
          <p:cNvPr id="13" name="矩形 12">
            <a:extLst xmlns:a="http://schemas.openxmlformats.org/drawingml/2006/main">
              <a:ext uri="{FF2B5EF4-FFF2-40B4-BE49-F238E27FC236}">
                <a16:creationId xmlns:a16="http://schemas.microsoft.com/office/drawing/2014/main" id="{15410AC8-5994-4683-B71F-31AE65C62A15}"/>
              </a:ext>
            </a:extLst>
          </p:cNvPr>
          <p:cNvSpPr>
            <a:spLocks xmlns:a="http://schemas.openxmlformats.org/drawingml/2006/main" noGrp="1"/>
          </p:cNvSpPr>
          <p:nvPr/>
        </p:nvSpPr>
        <p:spPr>
          <a:xfrm xmlns:a="http://schemas.openxmlformats.org/drawingml/2006/main">
            <a:off x="5782063" y="5410588"/>
            <a:ext cx="5601283"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回看双方轨迹、原图与检测图，为渠化、信控或组织优化提供依据。</a:t>
            </a:r>
          </a:p>
        </p:txBody>
      </p:sp>
      <p:pic>
        <p:nvPicPr>
          <p:cNvPr id="27" name="图片 5"/>
          <p:cNvPicPr>
            <a:picLocks xmlns:a="http://schemas.openxmlformats.org/drawingml/2006/main" noChangeAspect="1"/>
          </p:cNvPicPr>
          <p:nvPr/>
        </p:nvPicPr>
        <p:blipFill>
          <a:blip xmlns:r="http://schemas.openxmlformats.org/officeDocument/2006/relationships" xmlns:a="http://schemas.openxmlformats.org/drawingml/2006/main" r:embed="Rfc918a85d8314645"/>
          <a:stretch xmlns:a="http://schemas.openxmlformats.org/drawingml/2006/main">
            <a:fillRect l="0" t="0" r="0" b="0"/>
          </a:stretch>
        </p:blipFill>
        <p:spPr>
          <a:xfrm xmlns:a="http://schemas.openxmlformats.org/drawingml/2006/main">
            <a:off x="493250" y="1615652"/>
            <a:ext cx="5207451" cy="3394886"/>
          </a:xfrm>
          <a:prstGeom xmlns:a="http://schemas.openxmlformats.org/drawingml/2006/main" prst="rect">
            <a:avLst/>
          </a:prstGeom>
        </p:spPr>
      </p:pic>
      <p:pic>
        <p:nvPicPr>
          <p:cNvPr id="28" name="图片 7"/>
          <p:cNvPicPr>
            <a:picLocks xmlns:a="http://schemas.openxmlformats.org/drawingml/2006/main" noChangeAspect="1"/>
          </p:cNvPicPr>
          <p:nvPr/>
        </p:nvPicPr>
        <p:blipFill>
          <a:blip xmlns:r="http://schemas.openxmlformats.org/officeDocument/2006/relationships" xmlns:a="http://schemas.openxmlformats.org/drawingml/2006/main" r:embed="R2156963bb95543b5"/>
          <a:stretch xmlns:a="http://schemas.openxmlformats.org/drawingml/2006/main">
            <a:fillRect l="0" t="0" r="0" b="0"/>
          </a:stretch>
        </p:blipFill>
        <p:spPr>
          <a:xfrm xmlns:a="http://schemas.openxmlformats.org/drawingml/2006/main">
            <a:off x="5803425" y="1601872"/>
            <a:ext cx="6091249" cy="3425017"/>
          </a:xfrm>
          <a:prstGeom xmlns:a="http://schemas.openxmlformats.org/drawingml/2006/main" prst="rect">
            <a:avLst/>
          </a:prstGeom>
        </p:spPr>
      </p:pic>
    </p:spTree>
    <p:extLst>
      <p:ext uri="{BB962C8B-B14F-4D97-AF65-F5344CB8AC3E}">
        <p14:creationId xmlns:p14="http://schemas.microsoft.com/office/powerpoint/2010/main" val="57507153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5" name="矩形 14">
            <a:extLst xmlns:a="http://schemas.openxmlformats.org/drawingml/2006/main">
              <a:ext uri="{FF2B5EF4-FFF2-40B4-BE49-F238E27FC236}">
                <a16:creationId xmlns:a16="http://schemas.microsoft.com/office/drawing/2014/main" id="{5C8D5ADC-B71A-45C1-B5C1-D2350C5BD671}"/>
              </a:ext>
            </a:extLst>
          </p:cNvPr>
          <p:cNvSpPr>
            <a:spLocks xmlns:a="http://schemas.openxmlformats.org/drawingml/2006/main" noGrp="1"/>
          </p:cNvSpPr>
          <p:nvPr/>
        </p:nvSpPr>
        <p:spPr>
          <a:xfrm xmlns:a="http://schemas.openxmlformats.org/drawingml/2006/main">
            <a:off x="390525" y="590550"/>
            <a:ext cx="114014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600" b="1">
                <a:solidFill>
                  <a:srgbClr val="000000"/>
                </a:solidFill>
                <a:latin typeface="PingFang SC"/>
                <a:ea typeface="PingFang SC"/>
                <a:cs typeface="PingFang SC"/>
              </a:defRPr>
            </a:pPr>
            <a:r>
              <a:rPr sz="3600" b="1">
                <a:solidFill>
                  <a:srgbClr val="000000"/>
                </a:solidFill>
                <a:latin typeface="PingFang SC"/>
                <a:ea typeface="PingFang SC"/>
                <a:cs typeface="PingFang SC"/>
              </a:rPr>
              <a:t>关键帧量算减少现场暴露，并形成可追溯成果</a:t>
            </a:r>
          </a:p>
        </p:txBody>
      </p:sp>
      <p:sp>
        <p:nvSpPr>
          <p:cNvPr id="2" name="矩形 1">
            <a:extLst xmlns:a="http://schemas.openxmlformats.org/drawingml/2006/main">
              <a:ext uri="{FF2B5EF4-FFF2-40B4-BE49-F238E27FC236}">
                <a16:creationId xmlns:a16="http://schemas.microsoft.com/office/drawing/2014/main" id="{26B40483-57E4-4636-9F79-5896E58B2B55}"/>
              </a:ext>
            </a:extLst>
          </p:cNvPr>
          <p:cNvSpPr>
            <a:spLocks xmlns:a="http://schemas.openxmlformats.org/drawingml/2006/main" noGrp="1"/>
          </p:cNvSpPr>
          <p:nvPr/>
        </p:nvSpPr>
        <p:spPr>
          <a:xfrm xmlns:a="http://schemas.openxmlformats.org/drawingml/2006/main">
            <a:off x="390525" y="1266825"/>
            <a:ext cx="11401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F6670"/>
                </a:solidFill>
                <a:latin typeface="PingFang SC"/>
                <a:ea typeface="PingFang SC"/>
                <a:cs typeface="PingFang SC"/>
              </a:defRPr>
            </a:pPr>
            <a:r>
              <a:rPr sz="1650" b="0">
                <a:solidFill>
                  <a:srgbClr val="5F6670"/>
                </a:solidFill>
                <a:latin typeface="PingFang SC"/>
                <a:ea typeface="PingFang SC"/>
                <a:cs typeface="PingFang SC"/>
              </a:rPr>
              <a:t>事故、施工和道路组织场景可在安全位置完成点线面标注；正式精度仍以业务验收方案为准。</a:t>
            </a:r>
          </a:p>
        </p:txBody>
      </p:sp>
      <p:sp>
        <p:nvSpPr>
          <p:cNvPr id="3" name="矩形 2">
            <a:extLst xmlns:a="http://schemas.openxmlformats.org/drawingml/2006/main">
              <a:ext uri="{FF2B5EF4-FFF2-40B4-BE49-F238E27FC236}">
                <a16:creationId xmlns:a16="http://schemas.microsoft.com/office/drawing/2014/main" id="{EC280651-EBF2-478C-9161-9F79BCE4F8F5}"/>
              </a:ext>
            </a:extLst>
          </p:cNvPr>
          <p:cNvSpPr>
            <a:spLocks xmlns:a="http://schemas.openxmlformats.org/drawingml/2006/main" noGrp="1"/>
          </p:cNvSpPr>
          <p:nvPr/>
        </p:nvSpPr>
        <p:spPr>
          <a:xfrm xmlns:a="http://schemas.openxmlformats.org/drawingml/2006/main">
            <a:off x="390525" y="2286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易出行 · 无人机交通治理</a:t>
            </a:r>
          </a:p>
        </p:txBody>
      </p:sp>
      <p:sp>
        <p:nvSpPr>
          <p:cNvPr id="4" name="直线连接符 3">
            <a:extLst xmlns:a="http://schemas.openxmlformats.org/drawingml/2006/main">
              <a:ext uri="{FF2B5EF4-FFF2-40B4-BE49-F238E27FC236}">
                <a16:creationId xmlns:a16="http://schemas.microsoft.com/office/drawing/2014/main" id="{9D43A7F5-FCDB-49F2-87E1-08D19E7DA562}"/>
              </a:ext>
            </a:extLst>
          </p:cNvPr>
          <p:cNvSpPr>
            <a:spLocks xmlns:a="http://schemas.openxmlformats.org/drawingml/2006/main" noGrp="1"/>
          </p:cNvSpPr>
          <p:nvPr/>
        </p:nvSpPr>
        <p:spPr>
          <a:xfrm xmlns:a="http://schemas.openxmlformats.org/drawingml/2006/main">
            <a:off x="390525" y="6438900"/>
            <a:ext cx="114014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矩形 4">
            <a:extLst xmlns:a="http://schemas.openxmlformats.org/drawingml/2006/main">
              <a:ext uri="{FF2B5EF4-FFF2-40B4-BE49-F238E27FC236}">
                <a16:creationId xmlns:a16="http://schemas.microsoft.com/office/drawing/2014/main" id="{3F19C06F-B3A5-430A-B8DF-AAC31636B35A}"/>
              </a:ext>
            </a:extLst>
          </p:cNvPr>
          <p:cNvSpPr>
            <a:spLocks xmlns:a="http://schemas.openxmlformats.org/drawingml/2006/main" noGrp="1"/>
          </p:cNvSpPr>
          <p:nvPr/>
        </p:nvSpPr>
        <p:spPr>
          <a:xfrm xmlns:a="http://schemas.openxmlformats.org/drawingml/2006/main">
            <a:off x="1123950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07</a:t>
            </a:r>
          </a:p>
        </p:txBody>
      </p:sp>
      <p:sp>
        <p:nvSpPr>
          <p:cNvPr id="6" name="矩形 5">
            <a:extLst xmlns:a="http://schemas.openxmlformats.org/drawingml/2006/main">
              <a:ext uri="{FF2B5EF4-FFF2-40B4-BE49-F238E27FC236}">
                <a16:creationId xmlns:a16="http://schemas.microsoft.com/office/drawing/2014/main" id="{2E74ECE4-A5BE-466B-A635-7AF32A6A3466}"/>
              </a:ext>
            </a:extLst>
          </p:cNvPr>
          <p:cNvSpPr>
            <a:spLocks xmlns:a="http://schemas.openxmlformats.org/drawingml/2006/main" noGrp="1"/>
          </p:cNvSpPr>
          <p:nvPr/>
        </p:nvSpPr>
        <p:spPr>
          <a:xfrm xmlns:a="http://schemas.openxmlformats.org/drawingml/2006/main">
            <a:off x="371475" y="1981200"/>
            <a:ext cx="5572125" cy="2895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24" name="图片 20"/>
          <p:cNvPicPr>
            <a:picLocks xmlns:a="http://schemas.openxmlformats.org/drawingml/2006/main" noChangeAspect="1"/>
          </p:cNvPicPr>
          <p:nvPr/>
        </p:nvPicPr>
        <p:blipFill>
          <a:blip xmlns:r="http://schemas.openxmlformats.org/officeDocument/2006/relationships" xmlns:a="http://schemas.openxmlformats.org/drawingml/2006/main" r:embed="R954df7674c0247a0"/>
          <a:srcRect xmlns:a="http://schemas.openxmlformats.org/drawingml/2006/main" l="0" t="470" r="0" b="470"/>
          <a:stretch xmlns:a="http://schemas.openxmlformats.org/drawingml/2006/main">
            <a:fillRect l="0" t="0" r="0" b="0"/>
          </a:stretch>
        </p:blipFill>
        <p:spPr>
          <a:xfrm xmlns:a="http://schemas.openxmlformats.org/drawingml/2006/main">
            <a:off x="390525" y="2000250"/>
            <a:ext cx="5534025" cy="2857500"/>
          </a:xfrm>
          <a:prstGeom xmlns:a="http://schemas.openxmlformats.org/drawingml/2006/main" prst="rect">
            <a:avLst/>
          </a:prstGeom>
        </p:spPr>
      </p:pic>
      <p:sp>
        <p:nvSpPr>
          <p:cNvPr id="8" name="矩形 7">
            <a:extLst xmlns:a="http://schemas.openxmlformats.org/drawingml/2006/main">
              <a:ext uri="{FF2B5EF4-FFF2-40B4-BE49-F238E27FC236}">
                <a16:creationId xmlns:a16="http://schemas.microsoft.com/office/drawing/2014/main" id="{57549576-EB56-4304-A1FB-538A8F9275BF}"/>
              </a:ext>
            </a:extLst>
          </p:cNvPr>
          <p:cNvSpPr>
            <a:spLocks xmlns:a="http://schemas.openxmlformats.org/drawingml/2006/main" noGrp="1"/>
          </p:cNvSpPr>
          <p:nvPr/>
        </p:nvSpPr>
        <p:spPr>
          <a:xfrm xmlns:a="http://schemas.openxmlformats.org/drawingml/2006/main">
            <a:off x="6238875" y="1981200"/>
            <a:ext cx="5572125" cy="2895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26" name="图片 22"/>
          <p:cNvPicPr>
            <a:picLocks xmlns:a="http://schemas.openxmlformats.org/drawingml/2006/main" noChangeAspect="1"/>
          </p:cNvPicPr>
          <p:nvPr/>
        </p:nvPicPr>
        <p:blipFill>
          <a:blip xmlns:r="http://schemas.openxmlformats.org/officeDocument/2006/relationships" xmlns:a="http://schemas.openxmlformats.org/drawingml/2006/main" r:embed="Re108fc276fee4382"/>
          <a:srcRect xmlns:a="http://schemas.openxmlformats.org/drawingml/2006/main" l="0" t="470" r="0" b="470"/>
          <a:stretch xmlns:a="http://schemas.openxmlformats.org/drawingml/2006/main">
            <a:fillRect l="0" t="0" r="0" b="0"/>
          </a:stretch>
        </p:blipFill>
        <p:spPr>
          <a:xfrm xmlns:a="http://schemas.openxmlformats.org/drawingml/2006/main">
            <a:off x="6257925" y="2000250"/>
            <a:ext cx="5534025" cy="2857500"/>
          </a:xfrm>
          <a:prstGeom xmlns:a="http://schemas.openxmlformats.org/drawingml/2006/main" prst="rect">
            <a:avLst/>
          </a:prstGeom>
        </p:spPr>
      </p:pic>
      <p:sp>
        <p:nvSpPr>
          <p:cNvPr id="10" name="矩形 9">
            <a:extLst xmlns:a="http://schemas.openxmlformats.org/drawingml/2006/main">
              <a:ext uri="{FF2B5EF4-FFF2-40B4-BE49-F238E27FC236}">
                <a16:creationId xmlns:a16="http://schemas.microsoft.com/office/drawing/2014/main" id="{E0C6EE73-0A8B-4919-A4DF-F3D2E5424D25}"/>
              </a:ext>
            </a:extLst>
          </p:cNvPr>
          <p:cNvSpPr>
            <a:spLocks xmlns:a="http://schemas.openxmlformats.org/drawingml/2006/main" noGrp="1"/>
          </p:cNvSpPr>
          <p:nvPr/>
        </p:nvSpPr>
        <p:spPr>
          <a:xfrm xmlns:a="http://schemas.openxmlformats.org/drawingml/2006/main">
            <a:off x="390525" y="5048250"/>
            <a:ext cx="55340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PingFang SC"/>
                <a:ea typeface="PingFang SC"/>
                <a:cs typeface="PingFang SC"/>
              </a:defRPr>
            </a:pPr>
            <a:r>
              <a:rPr sz="1950" b="1">
                <a:solidFill>
                  <a:srgbClr val="000000"/>
                </a:solidFill>
                <a:latin typeface="PingFang SC"/>
                <a:ea typeface="PingFang SC"/>
                <a:cs typeface="PingFang SC"/>
              </a:rPr>
              <a:t>现场信息远程量算</a:t>
            </a:r>
          </a:p>
        </p:txBody>
      </p:sp>
      <p:sp>
        <p:nvSpPr>
          <p:cNvPr id="11" name="矩形 10">
            <a:extLst xmlns:a="http://schemas.openxmlformats.org/drawingml/2006/main">
              <a:ext uri="{FF2B5EF4-FFF2-40B4-BE49-F238E27FC236}">
                <a16:creationId xmlns:a16="http://schemas.microsoft.com/office/drawing/2014/main" id="{8F6015D3-722C-4AB9-9BF5-066B7F322B09}"/>
              </a:ext>
            </a:extLst>
          </p:cNvPr>
          <p:cNvSpPr>
            <a:spLocks xmlns:a="http://schemas.openxmlformats.org/drawingml/2006/main" noGrp="1"/>
          </p:cNvSpPr>
          <p:nvPr/>
        </p:nvSpPr>
        <p:spPr>
          <a:xfrm xmlns:a="http://schemas.openxmlformats.org/drawingml/2006/main">
            <a:off x="390525" y="5448300"/>
            <a:ext cx="533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量算距离、折线和面积，保留坐标与质量状态。</a:t>
            </a:r>
          </a:p>
        </p:txBody>
      </p:sp>
      <p:sp>
        <p:nvSpPr>
          <p:cNvPr id="12" name="矩形 11">
            <a:extLst xmlns:a="http://schemas.openxmlformats.org/drawingml/2006/main">
              <a:ext uri="{FF2B5EF4-FFF2-40B4-BE49-F238E27FC236}">
                <a16:creationId xmlns:a16="http://schemas.microsoft.com/office/drawing/2014/main" id="{B5DDDD77-7FA6-44C3-8344-DC78DA6B0D68}"/>
              </a:ext>
            </a:extLst>
          </p:cNvPr>
          <p:cNvSpPr>
            <a:spLocks xmlns:a="http://schemas.openxmlformats.org/drawingml/2006/main" noGrp="1"/>
          </p:cNvSpPr>
          <p:nvPr/>
        </p:nvSpPr>
        <p:spPr>
          <a:xfrm xmlns:a="http://schemas.openxmlformats.org/drawingml/2006/main">
            <a:off x="6257925" y="5048250"/>
            <a:ext cx="55340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PingFang SC"/>
                <a:ea typeface="PingFang SC"/>
                <a:cs typeface="PingFang SC"/>
              </a:defRPr>
            </a:pPr>
            <a:r>
              <a:rPr sz="1950" b="1">
                <a:solidFill>
                  <a:srgbClr val="000000"/>
                </a:solidFill>
                <a:latin typeface="PingFang SC"/>
                <a:ea typeface="PingFang SC"/>
                <a:cs typeface="PingFang SC"/>
              </a:rPr>
              <a:t>成果一次生成、多方复核</a:t>
            </a:r>
          </a:p>
        </p:txBody>
      </p:sp>
      <p:sp>
        <p:nvSpPr>
          <p:cNvPr id="13" name="矩形 12">
            <a:extLst xmlns:a="http://schemas.openxmlformats.org/drawingml/2006/main">
              <a:ext uri="{FF2B5EF4-FFF2-40B4-BE49-F238E27FC236}">
                <a16:creationId xmlns:a16="http://schemas.microsoft.com/office/drawing/2014/main" id="{920FB0A0-A1F1-4D7A-97CE-881AE81C8F81}"/>
              </a:ext>
            </a:extLst>
          </p:cNvPr>
          <p:cNvSpPr>
            <a:spLocks xmlns:a="http://schemas.openxmlformats.org/drawingml/2006/main" noGrp="1"/>
          </p:cNvSpPr>
          <p:nvPr/>
        </p:nvSpPr>
        <p:spPr>
          <a:xfrm xmlns:a="http://schemas.openxmlformats.org/drawingml/2006/main">
            <a:off x="6257925" y="5448300"/>
            <a:ext cx="533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输出标注图、PDF、JSON 和 GeoJSON，并保留内容哈希。</a:t>
            </a:r>
          </a:p>
        </p:txBody>
      </p:sp>
    </p:spTree>
    <p:extLst>
      <p:ext uri="{BB962C8B-B14F-4D97-AF65-F5344CB8AC3E}">
        <p14:creationId xmlns:p14="http://schemas.microsoft.com/office/powerpoint/2010/main" val="178128510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5" name="矩形 14">
            <a:extLst xmlns:a="http://schemas.openxmlformats.org/drawingml/2006/main">
              <a:ext uri="{FF2B5EF4-FFF2-40B4-BE49-F238E27FC236}">
                <a16:creationId xmlns:a16="http://schemas.microsoft.com/office/drawing/2014/main" id="{1FECC334-7750-4F45-A491-8A677F5F0F99}"/>
              </a:ext>
            </a:extLst>
          </p:cNvPr>
          <p:cNvSpPr>
            <a:spLocks xmlns:a="http://schemas.openxmlformats.org/drawingml/2006/main" noGrp="1"/>
          </p:cNvSpPr>
          <p:nvPr/>
        </p:nvSpPr>
        <p:spPr>
          <a:xfrm xmlns:a="http://schemas.openxmlformats.org/drawingml/2006/main">
            <a:off x="390525" y="590550"/>
            <a:ext cx="114014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600" b="1">
                <a:solidFill>
                  <a:srgbClr val="000000"/>
                </a:solidFill>
                <a:latin typeface="PingFang SC"/>
                <a:ea typeface="PingFang SC"/>
                <a:cs typeface="PingFang SC"/>
              </a:defRPr>
            </a:pPr>
            <a:r>
              <a:rPr sz="3600" b="1">
                <a:solidFill>
                  <a:srgbClr val="000000"/>
                </a:solidFill>
                <a:latin typeface="PingFang SC"/>
                <a:ea typeface="PingFang SC"/>
                <a:cs typeface="PingFang SC"/>
              </a:rPr>
              <a:t>航拍事实落到可计算路网，治理对象才可比较</a:t>
            </a:r>
          </a:p>
        </p:txBody>
      </p:sp>
      <p:sp>
        <p:nvSpPr>
          <p:cNvPr id="2" name="矩形 1">
            <a:extLst xmlns:a="http://schemas.openxmlformats.org/drawingml/2006/main">
              <a:ext uri="{FF2B5EF4-FFF2-40B4-BE49-F238E27FC236}">
                <a16:creationId xmlns:a16="http://schemas.microsoft.com/office/drawing/2014/main" id="{5F21AF22-6483-463A-8958-0E6BEA5534EC}"/>
              </a:ext>
            </a:extLst>
          </p:cNvPr>
          <p:cNvSpPr>
            <a:spLocks xmlns:a="http://schemas.openxmlformats.org/drawingml/2006/main" noGrp="1"/>
          </p:cNvSpPr>
          <p:nvPr/>
        </p:nvSpPr>
        <p:spPr>
          <a:xfrm xmlns:a="http://schemas.openxmlformats.org/drawingml/2006/main">
            <a:off x="390525" y="1266825"/>
            <a:ext cx="11401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F6670"/>
                </a:solidFill>
                <a:latin typeface="PingFang SC"/>
                <a:ea typeface="PingFang SC"/>
                <a:cs typeface="PingFang SC"/>
              </a:defRPr>
            </a:pPr>
            <a:r>
              <a:rPr sz="1650" b="0">
                <a:solidFill>
                  <a:srgbClr val="5F6670"/>
                </a:solidFill>
                <a:latin typeface="PingFang SC"/>
                <a:ea typeface="PingFang SC"/>
                <a:cs typeface="PingFang SC"/>
              </a:rPr>
              <a:t>轨迹、事件和量算关联路口、Link、车道及路网版本；低质量匹配明确降级。</a:t>
            </a:r>
          </a:p>
        </p:txBody>
      </p:sp>
      <p:sp>
        <p:nvSpPr>
          <p:cNvPr id="3" name="矩形 2">
            <a:extLst xmlns:a="http://schemas.openxmlformats.org/drawingml/2006/main">
              <a:ext uri="{FF2B5EF4-FFF2-40B4-BE49-F238E27FC236}">
                <a16:creationId xmlns:a16="http://schemas.microsoft.com/office/drawing/2014/main" id="{6D093000-A1F3-4BE8-8D90-5B63E3AE36D2}"/>
              </a:ext>
            </a:extLst>
          </p:cNvPr>
          <p:cNvSpPr>
            <a:spLocks xmlns:a="http://schemas.openxmlformats.org/drawingml/2006/main" noGrp="1"/>
          </p:cNvSpPr>
          <p:nvPr/>
        </p:nvSpPr>
        <p:spPr>
          <a:xfrm xmlns:a="http://schemas.openxmlformats.org/drawingml/2006/main">
            <a:off x="390525" y="2286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易出行 · 无人机交通治理</a:t>
            </a:r>
          </a:p>
        </p:txBody>
      </p:sp>
      <p:sp>
        <p:nvSpPr>
          <p:cNvPr id="4" name="直线连接符 3">
            <a:extLst xmlns:a="http://schemas.openxmlformats.org/drawingml/2006/main">
              <a:ext uri="{FF2B5EF4-FFF2-40B4-BE49-F238E27FC236}">
                <a16:creationId xmlns:a16="http://schemas.microsoft.com/office/drawing/2014/main" id="{C583A97A-224A-4278-8748-20C1A72F00C3}"/>
              </a:ext>
            </a:extLst>
          </p:cNvPr>
          <p:cNvSpPr>
            <a:spLocks xmlns:a="http://schemas.openxmlformats.org/drawingml/2006/main" noGrp="1"/>
          </p:cNvSpPr>
          <p:nvPr/>
        </p:nvSpPr>
        <p:spPr>
          <a:xfrm xmlns:a="http://schemas.openxmlformats.org/drawingml/2006/main">
            <a:off x="390525" y="6438900"/>
            <a:ext cx="114014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矩形 4">
            <a:extLst xmlns:a="http://schemas.openxmlformats.org/drawingml/2006/main">
              <a:ext uri="{FF2B5EF4-FFF2-40B4-BE49-F238E27FC236}">
                <a16:creationId xmlns:a16="http://schemas.microsoft.com/office/drawing/2014/main" id="{0ACB1350-A6D3-42B8-B99D-722E9023887C}"/>
              </a:ext>
            </a:extLst>
          </p:cNvPr>
          <p:cNvSpPr>
            <a:spLocks xmlns:a="http://schemas.openxmlformats.org/drawingml/2006/main" noGrp="1"/>
          </p:cNvSpPr>
          <p:nvPr/>
        </p:nvSpPr>
        <p:spPr>
          <a:xfrm xmlns:a="http://schemas.openxmlformats.org/drawingml/2006/main">
            <a:off x="1123950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08</a:t>
            </a:r>
          </a:p>
        </p:txBody>
      </p:sp>
      <p:sp>
        <p:nvSpPr>
          <p:cNvPr id="6" name="矩形 5">
            <a:extLst xmlns:a="http://schemas.openxmlformats.org/drawingml/2006/main">
              <a:ext uri="{FF2B5EF4-FFF2-40B4-BE49-F238E27FC236}">
                <a16:creationId xmlns:a16="http://schemas.microsoft.com/office/drawing/2014/main" id="{2BD0A641-326E-4364-84E1-52BA56743B2A}"/>
              </a:ext>
            </a:extLst>
          </p:cNvPr>
          <p:cNvSpPr>
            <a:spLocks xmlns:a="http://schemas.openxmlformats.org/drawingml/2006/main" noGrp="1"/>
          </p:cNvSpPr>
          <p:nvPr/>
        </p:nvSpPr>
        <p:spPr>
          <a:xfrm xmlns:a="http://schemas.openxmlformats.org/drawingml/2006/main">
            <a:off x="371475" y="1981200"/>
            <a:ext cx="5572125" cy="2895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24" name="图片 20"/>
          <p:cNvPicPr>
            <a:picLocks xmlns:a="http://schemas.openxmlformats.org/drawingml/2006/main" noChangeAspect="1"/>
          </p:cNvPicPr>
          <p:nvPr/>
        </p:nvPicPr>
        <p:blipFill>
          <a:blip xmlns:r="http://schemas.openxmlformats.org/officeDocument/2006/relationships" xmlns:a="http://schemas.openxmlformats.org/drawingml/2006/main" r:embed="R7ffc4e4e05884d7e"/>
          <a:srcRect xmlns:a="http://schemas.openxmlformats.org/drawingml/2006/main" l="0" t="470" r="0" b="470"/>
          <a:stretch xmlns:a="http://schemas.openxmlformats.org/drawingml/2006/main">
            <a:fillRect l="0" t="0" r="0" b="0"/>
          </a:stretch>
        </p:blipFill>
        <p:spPr>
          <a:xfrm xmlns:a="http://schemas.openxmlformats.org/drawingml/2006/main">
            <a:off x="390525" y="2000250"/>
            <a:ext cx="5534025" cy="2857500"/>
          </a:xfrm>
          <a:prstGeom xmlns:a="http://schemas.openxmlformats.org/drawingml/2006/main" prst="rect">
            <a:avLst/>
          </a:prstGeom>
        </p:spPr>
      </p:pic>
      <p:sp>
        <p:nvSpPr>
          <p:cNvPr id="8" name="矩形 7">
            <a:extLst xmlns:a="http://schemas.openxmlformats.org/drawingml/2006/main">
              <a:ext uri="{FF2B5EF4-FFF2-40B4-BE49-F238E27FC236}">
                <a16:creationId xmlns:a16="http://schemas.microsoft.com/office/drawing/2014/main" id="{C565DE42-5D20-4C1F-902F-C21670B2B362}"/>
              </a:ext>
            </a:extLst>
          </p:cNvPr>
          <p:cNvSpPr>
            <a:spLocks xmlns:a="http://schemas.openxmlformats.org/drawingml/2006/main" noGrp="1"/>
          </p:cNvSpPr>
          <p:nvPr/>
        </p:nvSpPr>
        <p:spPr>
          <a:xfrm xmlns:a="http://schemas.openxmlformats.org/drawingml/2006/main">
            <a:off x="6238875" y="1981200"/>
            <a:ext cx="5572125" cy="2895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26" name="图片 22"/>
          <p:cNvPicPr>
            <a:picLocks xmlns:a="http://schemas.openxmlformats.org/drawingml/2006/main" noChangeAspect="1"/>
          </p:cNvPicPr>
          <p:nvPr/>
        </p:nvPicPr>
        <p:blipFill>
          <a:blip xmlns:r="http://schemas.openxmlformats.org/officeDocument/2006/relationships" xmlns:a="http://schemas.openxmlformats.org/drawingml/2006/main" r:embed="Reb9c4b7ec24c42e5"/>
          <a:srcRect xmlns:a="http://schemas.openxmlformats.org/drawingml/2006/main" l="0" t="470" r="0" b="470"/>
          <a:stretch xmlns:a="http://schemas.openxmlformats.org/drawingml/2006/main">
            <a:fillRect l="0" t="0" r="0" b="0"/>
          </a:stretch>
        </p:blipFill>
        <p:spPr>
          <a:xfrm xmlns:a="http://schemas.openxmlformats.org/drawingml/2006/main">
            <a:off x="6257925" y="2000250"/>
            <a:ext cx="5534025" cy="2857500"/>
          </a:xfrm>
          <a:prstGeom xmlns:a="http://schemas.openxmlformats.org/drawingml/2006/main" prst="rect">
            <a:avLst/>
          </a:prstGeom>
        </p:spPr>
      </p:pic>
      <p:sp>
        <p:nvSpPr>
          <p:cNvPr id="10" name="矩形 9">
            <a:extLst xmlns:a="http://schemas.openxmlformats.org/drawingml/2006/main">
              <a:ext uri="{FF2B5EF4-FFF2-40B4-BE49-F238E27FC236}">
                <a16:creationId xmlns:a16="http://schemas.microsoft.com/office/drawing/2014/main" id="{A662C3FD-0370-4766-94AA-FA71BC8A98DD}"/>
              </a:ext>
            </a:extLst>
          </p:cNvPr>
          <p:cNvSpPr>
            <a:spLocks xmlns:a="http://schemas.openxmlformats.org/drawingml/2006/main" noGrp="1"/>
          </p:cNvSpPr>
          <p:nvPr/>
        </p:nvSpPr>
        <p:spPr>
          <a:xfrm xmlns:a="http://schemas.openxmlformats.org/drawingml/2006/main">
            <a:off x="390525" y="5048250"/>
            <a:ext cx="55340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PingFang SC"/>
                <a:ea typeface="PingFang SC"/>
                <a:cs typeface="PingFang SC"/>
              </a:defRPr>
            </a:pPr>
            <a:r>
              <a:rPr sz="1950" b="1">
                <a:solidFill>
                  <a:srgbClr val="000000"/>
                </a:solidFill>
                <a:latin typeface="PingFang SC"/>
                <a:ea typeface="PingFang SC"/>
                <a:cs typeface="PingFang SC"/>
              </a:rPr>
              <a:t>一图：统一治理对象</a:t>
            </a:r>
          </a:p>
        </p:txBody>
      </p:sp>
      <p:sp>
        <p:nvSpPr>
          <p:cNvPr id="11" name="矩形 10">
            <a:extLst xmlns:a="http://schemas.openxmlformats.org/drawingml/2006/main">
              <a:ext uri="{FF2B5EF4-FFF2-40B4-BE49-F238E27FC236}">
                <a16:creationId xmlns:a16="http://schemas.microsoft.com/office/drawing/2014/main" id="{1C1DBD74-F758-4C8D-BF91-B329B6A09BEC}"/>
              </a:ext>
            </a:extLst>
          </p:cNvPr>
          <p:cNvSpPr>
            <a:spLocks xmlns:a="http://schemas.openxmlformats.org/drawingml/2006/main" noGrp="1"/>
          </p:cNvSpPr>
          <p:nvPr/>
        </p:nvSpPr>
        <p:spPr>
          <a:xfrm xmlns:a="http://schemas.openxmlformats.org/drawingml/2006/main">
            <a:off x="390525" y="5448300"/>
            <a:ext cx="533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按路口—路段—车道组织事实，支撑排队、转向和风险定位。</a:t>
            </a:r>
          </a:p>
        </p:txBody>
      </p:sp>
      <p:sp>
        <p:nvSpPr>
          <p:cNvPr id="12" name="矩形 11">
            <a:extLst xmlns:a="http://schemas.openxmlformats.org/drawingml/2006/main">
              <a:ext uri="{FF2B5EF4-FFF2-40B4-BE49-F238E27FC236}">
                <a16:creationId xmlns:a16="http://schemas.microsoft.com/office/drawing/2014/main" id="{E9F9E1EF-1C82-4DCA-A3DA-B3F2C87DB5AB}"/>
              </a:ext>
            </a:extLst>
          </p:cNvPr>
          <p:cNvSpPr>
            <a:spLocks xmlns:a="http://schemas.openxmlformats.org/drawingml/2006/main" noGrp="1"/>
          </p:cNvSpPr>
          <p:nvPr/>
        </p:nvSpPr>
        <p:spPr>
          <a:xfrm xmlns:a="http://schemas.openxmlformats.org/drawingml/2006/main">
            <a:off x="6257925" y="5048250"/>
            <a:ext cx="55340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PingFang SC"/>
                <a:ea typeface="PingFang SC"/>
                <a:cs typeface="PingFang SC"/>
              </a:defRPr>
            </a:pPr>
            <a:r>
              <a:rPr sz="1950" b="1">
                <a:solidFill>
                  <a:srgbClr val="000000"/>
                </a:solidFill>
                <a:latin typeface="PingFang SC"/>
                <a:ea typeface="PingFang SC"/>
                <a:cs typeface="PingFang SC"/>
              </a:rPr>
              <a:t>版本化：保证前后可比</a:t>
            </a:r>
          </a:p>
        </p:txBody>
      </p:sp>
      <p:sp>
        <p:nvSpPr>
          <p:cNvPr id="13" name="矩形 12">
            <a:extLst xmlns:a="http://schemas.openxmlformats.org/drawingml/2006/main">
              <a:ext uri="{FF2B5EF4-FFF2-40B4-BE49-F238E27FC236}">
                <a16:creationId xmlns:a16="http://schemas.microsoft.com/office/drawing/2014/main" id="{39C4F736-504C-49D1-BFD7-18EBE26D48F5}"/>
              </a:ext>
            </a:extLst>
          </p:cNvPr>
          <p:cNvSpPr>
            <a:spLocks xmlns:a="http://schemas.openxmlformats.org/drawingml/2006/main" noGrp="1"/>
          </p:cNvSpPr>
          <p:nvPr/>
        </p:nvSpPr>
        <p:spPr>
          <a:xfrm xmlns:a="http://schemas.openxmlformats.org/drawingml/2006/main">
            <a:off x="6257925" y="5448300"/>
            <a:ext cx="533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治理前后沿用同一发布版本；版本变化不回写历史结果。</a:t>
            </a:r>
          </a:p>
        </p:txBody>
      </p:sp>
    </p:spTree>
    <p:extLst>
      <p:ext uri="{BB962C8B-B14F-4D97-AF65-F5344CB8AC3E}">
        <p14:creationId xmlns:p14="http://schemas.microsoft.com/office/powerpoint/2010/main" val="102695087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8" name="矩形 17">
            <a:extLst xmlns:a="http://schemas.openxmlformats.org/drawingml/2006/main">
              <a:ext uri="{FF2B5EF4-FFF2-40B4-BE49-F238E27FC236}">
                <a16:creationId xmlns:a16="http://schemas.microsoft.com/office/drawing/2014/main" id="{03B4F203-ED93-46DA-A213-10E75A2C45CC}"/>
              </a:ext>
            </a:extLst>
          </p:cNvPr>
          <p:cNvSpPr>
            <a:spLocks xmlns:a="http://schemas.openxmlformats.org/drawingml/2006/main" noGrp="1"/>
          </p:cNvSpPr>
          <p:nvPr/>
        </p:nvSpPr>
        <p:spPr>
          <a:xfrm xmlns:a="http://schemas.openxmlformats.org/drawingml/2006/main">
            <a:off x="390525" y="590550"/>
            <a:ext cx="114014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600" b="1">
                <a:solidFill>
                  <a:srgbClr val="000000"/>
                </a:solidFill>
                <a:latin typeface="PingFang SC"/>
                <a:ea typeface="PingFang SC"/>
                <a:cs typeface="PingFang SC"/>
              </a:defRPr>
            </a:pPr>
            <a:r>
              <a:rPr sz="3600" b="1">
                <a:solidFill>
                  <a:srgbClr val="000000"/>
                </a:solidFill>
                <a:latin typeface="PingFang SC"/>
                <a:ea typeface="PingFang SC"/>
                <a:cs typeface="PingFang SC"/>
              </a:rPr>
              <a:t>无人机成果进入“一池”，持续服务主题库与智能体</a:t>
            </a:r>
          </a:p>
        </p:txBody>
      </p:sp>
      <p:sp>
        <p:nvSpPr>
          <p:cNvPr id="2" name="矩形 1">
            <a:extLst xmlns:a="http://schemas.openxmlformats.org/drawingml/2006/main">
              <a:ext uri="{FF2B5EF4-FFF2-40B4-BE49-F238E27FC236}">
                <a16:creationId xmlns:a16="http://schemas.microsoft.com/office/drawing/2014/main" id="{090BE1BB-182A-4629-B98F-7311167DF2F4}"/>
              </a:ext>
            </a:extLst>
          </p:cNvPr>
          <p:cNvSpPr>
            <a:spLocks xmlns:a="http://schemas.openxmlformats.org/drawingml/2006/main" noGrp="1"/>
          </p:cNvSpPr>
          <p:nvPr/>
        </p:nvSpPr>
        <p:spPr>
          <a:xfrm xmlns:a="http://schemas.openxmlformats.org/drawingml/2006/main">
            <a:off x="390525" y="2286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易出行 · 无人机交通治理</a:t>
            </a:r>
          </a:p>
        </p:txBody>
      </p:sp>
      <p:sp>
        <p:nvSpPr>
          <p:cNvPr id="3" name="直线连接符 2">
            <a:extLst xmlns:a="http://schemas.openxmlformats.org/drawingml/2006/main">
              <a:ext uri="{FF2B5EF4-FFF2-40B4-BE49-F238E27FC236}">
                <a16:creationId xmlns:a16="http://schemas.microsoft.com/office/drawing/2014/main" id="{8FF2E3E2-B981-4EE2-BD85-2C906CADE0F7}"/>
              </a:ext>
            </a:extLst>
          </p:cNvPr>
          <p:cNvSpPr>
            <a:spLocks xmlns:a="http://schemas.openxmlformats.org/drawingml/2006/main" noGrp="1"/>
          </p:cNvSpPr>
          <p:nvPr/>
        </p:nvSpPr>
        <p:spPr>
          <a:xfrm xmlns:a="http://schemas.openxmlformats.org/drawingml/2006/main">
            <a:off x="390525" y="6438900"/>
            <a:ext cx="114014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矩形 3">
            <a:extLst xmlns:a="http://schemas.openxmlformats.org/drawingml/2006/main">
              <a:ext uri="{FF2B5EF4-FFF2-40B4-BE49-F238E27FC236}">
                <a16:creationId xmlns:a16="http://schemas.microsoft.com/office/drawing/2014/main" id="{1FAF300D-843F-43FA-84CA-B4E03492F42C}"/>
              </a:ext>
            </a:extLst>
          </p:cNvPr>
          <p:cNvSpPr>
            <a:spLocks xmlns:a="http://schemas.openxmlformats.org/drawingml/2006/main" noGrp="1"/>
          </p:cNvSpPr>
          <p:nvPr/>
        </p:nvSpPr>
        <p:spPr>
          <a:xfrm xmlns:a="http://schemas.openxmlformats.org/drawingml/2006/main">
            <a:off x="1123950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09</a:t>
            </a:r>
          </a:p>
        </p:txBody>
      </p:sp>
      <p:sp>
        <p:nvSpPr>
          <p:cNvPr id="5" name="矩形 4">
            <a:extLst xmlns:a="http://schemas.openxmlformats.org/drawingml/2006/main">
              <a:ext uri="{FF2B5EF4-FFF2-40B4-BE49-F238E27FC236}">
                <a16:creationId xmlns:a16="http://schemas.microsoft.com/office/drawing/2014/main" id="{4B7D44AC-4ACE-4078-9B0A-2CFA318388C0}"/>
              </a:ext>
            </a:extLst>
          </p:cNvPr>
          <p:cNvSpPr>
            <a:spLocks xmlns:a="http://schemas.openxmlformats.org/drawingml/2006/main" noGrp="1"/>
          </p:cNvSpPr>
          <p:nvPr/>
        </p:nvSpPr>
        <p:spPr>
          <a:xfrm xmlns:a="http://schemas.openxmlformats.org/drawingml/2006/main">
            <a:off x="371475" y="1771650"/>
            <a:ext cx="6896100" cy="3867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26" name="图片 22"/>
          <p:cNvPicPr>
            <a:picLocks xmlns:a="http://schemas.openxmlformats.org/drawingml/2006/main" noChangeAspect="1"/>
          </p:cNvPicPr>
          <p:nvPr/>
        </p:nvPicPr>
        <p:blipFill>
          <a:blip xmlns:r="http://schemas.openxmlformats.org/officeDocument/2006/relationships" xmlns:a="http://schemas.openxmlformats.org/drawingml/2006/main" r:embed="R09fec784143b4cdf"/>
          <a:srcRect xmlns:a="http://schemas.openxmlformats.org/drawingml/2006/main" l="3321" t="0" r="3321" b="0"/>
          <a:stretch xmlns:a="http://schemas.openxmlformats.org/drawingml/2006/main">
            <a:fillRect l="0" t="0" r="0" b="0"/>
          </a:stretch>
        </p:blipFill>
        <p:spPr>
          <a:xfrm xmlns:a="http://schemas.openxmlformats.org/drawingml/2006/main">
            <a:off x="390525" y="1790700"/>
            <a:ext cx="6858000" cy="3829050"/>
          </a:xfrm>
          <a:prstGeom xmlns:a="http://schemas.openxmlformats.org/drawingml/2006/main" prst="rect">
            <a:avLst/>
          </a:prstGeom>
        </p:spPr>
      </p:pic>
      <p:sp>
        <p:nvSpPr>
          <p:cNvPr id="7" name="矩形 6">
            <a:extLst xmlns:a="http://schemas.openxmlformats.org/drawingml/2006/main">
              <a:ext uri="{FF2B5EF4-FFF2-40B4-BE49-F238E27FC236}">
                <a16:creationId xmlns:a16="http://schemas.microsoft.com/office/drawing/2014/main" id="{7348342C-DA94-4171-BA78-36E6894A2A8C}"/>
              </a:ext>
            </a:extLst>
          </p:cNvPr>
          <p:cNvSpPr>
            <a:spLocks xmlns:a="http://schemas.openxmlformats.org/drawingml/2006/main" noGrp="1"/>
          </p:cNvSpPr>
          <p:nvPr/>
        </p:nvSpPr>
        <p:spPr>
          <a:xfrm xmlns:a="http://schemas.openxmlformats.org/drawingml/2006/main">
            <a:off x="7448550" y="1771650"/>
            <a:ext cx="4362450" cy="20764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28" name="图片 24"/>
          <p:cNvPicPr>
            <a:picLocks xmlns:a="http://schemas.openxmlformats.org/drawingml/2006/main" noChangeAspect="1"/>
          </p:cNvPicPr>
          <p:nvPr/>
        </p:nvPicPr>
        <p:blipFill>
          <a:blip xmlns:r="http://schemas.openxmlformats.org/officeDocument/2006/relationships" xmlns:a="http://schemas.openxmlformats.org/drawingml/2006/main" r:embed="R5b3f960d819f48fe"/>
          <a:srcRect xmlns:a="http://schemas.openxmlformats.org/drawingml/2006/main" l="0" t="4785" r="0" b="4785"/>
          <a:stretch xmlns:a="http://schemas.openxmlformats.org/drawingml/2006/main">
            <a:fillRect l="0" t="0" r="0" b="0"/>
          </a:stretch>
        </p:blipFill>
        <p:spPr>
          <a:xfrm xmlns:a="http://schemas.openxmlformats.org/drawingml/2006/main">
            <a:off x="7467600" y="1790700"/>
            <a:ext cx="4324350" cy="2038350"/>
          </a:xfrm>
          <a:prstGeom xmlns:a="http://schemas.openxmlformats.org/drawingml/2006/main" prst="rect">
            <a:avLst/>
          </a:prstGeom>
        </p:spPr>
      </p:pic>
      <p:sp>
        <p:nvSpPr>
          <p:cNvPr id="9" name="矩形 8">
            <a:extLst xmlns:a="http://schemas.openxmlformats.org/drawingml/2006/main">
              <a:ext uri="{FF2B5EF4-FFF2-40B4-BE49-F238E27FC236}">
                <a16:creationId xmlns:a16="http://schemas.microsoft.com/office/drawing/2014/main" id="{78501717-6354-474A-883D-A9C761990730}"/>
              </a:ext>
            </a:extLst>
          </p:cNvPr>
          <p:cNvSpPr>
            <a:spLocks xmlns:a="http://schemas.openxmlformats.org/drawingml/2006/main" noGrp="1"/>
          </p:cNvSpPr>
          <p:nvPr/>
        </p:nvSpPr>
        <p:spPr>
          <a:xfrm xmlns:a="http://schemas.openxmlformats.org/drawingml/2006/main">
            <a:off x="7467600" y="4095750"/>
            <a:ext cx="1466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000000"/>
                </a:solidFill>
                <a:latin typeface="PingFang SC"/>
                <a:ea typeface="PingFang SC"/>
                <a:cs typeface="PingFang SC"/>
              </a:defRPr>
            </a:pPr>
            <a:r>
              <a:rPr sz="1575" b="1">
                <a:solidFill>
                  <a:srgbClr val="000000"/>
                </a:solidFill>
                <a:latin typeface="PingFang SC"/>
                <a:ea typeface="PingFang SC"/>
                <a:cs typeface="PingFang SC"/>
              </a:rPr>
              <a:t>交通运行主题</a:t>
            </a:r>
          </a:p>
        </p:txBody>
      </p:sp>
      <p:sp>
        <p:nvSpPr>
          <p:cNvPr id="10" name="矩形 9">
            <a:extLst xmlns:a="http://schemas.openxmlformats.org/drawingml/2006/main">
              <a:ext uri="{FF2B5EF4-FFF2-40B4-BE49-F238E27FC236}">
                <a16:creationId xmlns:a16="http://schemas.microsoft.com/office/drawing/2014/main" id="{D8614B2B-EB76-46E2-AE66-01824EBF03CA}"/>
              </a:ext>
            </a:extLst>
          </p:cNvPr>
          <p:cNvSpPr>
            <a:spLocks xmlns:a="http://schemas.openxmlformats.org/drawingml/2006/main" noGrp="1"/>
          </p:cNvSpPr>
          <p:nvPr/>
        </p:nvSpPr>
        <p:spPr>
          <a:xfrm xmlns:a="http://schemas.openxmlformats.org/drawingml/2006/main">
            <a:off x="9001125" y="4095750"/>
            <a:ext cx="27908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F6670"/>
                </a:solidFill>
                <a:latin typeface="PingFang SC"/>
                <a:ea typeface="PingFang SC"/>
                <a:cs typeface="PingFang SC"/>
              </a:defRPr>
            </a:pPr>
            <a:r>
              <a:rPr sz="1275" b="0">
                <a:solidFill>
                  <a:srgbClr val="5F6670"/>
                </a:solidFill>
                <a:latin typeface="PingFang SC"/>
                <a:ea typeface="PingFang SC"/>
                <a:cs typeface="PingFang SC"/>
              </a:rPr>
              <a:t>流量、车速、排队与转向事实</a:t>
            </a:r>
          </a:p>
        </p:txBody>
      </p:sp>
      <p:sp>
        <p:nvSpPr>
          <p:cNvPr id="11" name="矩形 10">
            <a:extLst xmlns:a="http://schemas.openxmlformats.org/drawingml/2006/main">
              <a:ext uri="{FF2B5EF4-FFF2-40B4-BE49-F238E27FC236}">
                <a16:creationId xmlns:a16="http://schemas.microsoft.com/office/drawing/2014/main" id="{99E4C2D7-D95A-4D61-9C81-BC019BA99A9F}"/>
              </a:ext>
            </a:extLst>
          </p:cNvPr>
          <p:cNvSpPr>
            <a:spLocks xmlns:a="http://schemas.openxmlformats.org/drawingml/2006/main" noGrp="1"/>
          </p:cNvSpPr>
          <p:nvPr/>
        </p:nvSpPr>
        <p:spPr>
          <a:xfrm xmlns:a="http://schemas.openxmlformats.org/drawingml/2006/main">
            <a:off x="7467600" y="4591050"/>
            <a:ext cx="1466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000000"/>
                </a:solidFill>
                <a:latin typeface="PingFang SC"/>
                <a:ea typeface="PingFang SC"/>
                <a:cs typeface="PingFang SC"/>
              </a:defRPr>
            </a:pPr>
            <a:r>
              <a:rPr sz="1575" b="1">
                <a:solidFill>
                  <a:srgbClr val="000000"/>
                </a:solidFill>
                <a:latin typeface="PingFang SC"/>
                <a:ea typeface="PingFang SC"/>
                <a:cs typeface="PingFang SC"/>
              </a:rPr>
              <a:t>事件安全主题</a:t>
            </a:r>
          </a:p>
        </p:txBody>
      </p:sp>
      <p:sp>
        <p:nvSpPr>
          <p:cNvPr id="12" name="矩形 11">
            <a:extLst xmlns:a="http://schemas.openxmlformats.org/drawingml/2006/main">
              <a:ext uri="{FF2B5EF4-FFF2-40B4-BE49-F238E27FC236}">
                <a16:creationId xmlns:a16="http://schemas.microsoft.com/office/drawing/2014/main" id="{D8DCFF2B-158C-4443-98D4-2AD057AD9D2E}"/>
              </a:ext>
            </a:extLst>
          </p:cNvPr>
          <p:cNvSpPr>
            <a:spLocks xmlns:a="http://schemas.openxmlformats.org/drawingml/2006/main" noGrp="1"/>
          </p:cNvSpPr>
          <p:nvPr/>
        </p:nvSpPr>
        <p:spPr>
          <a:xfrm xmlns:a="http://schemas.openxmlformats.org/drawingml/2006/main">
            <a:off x="9001125" y="4591050"/>
            <a:ext cx="27908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F6670"/>
                </a:solidFill>
                <a:latin typeface="PingFang SC"/>
                <a:ea typeface="PingFang SC"/>
                <a:cs typeface="PingFang SC"/>
              </a:defRPr>
            </a:pPr>
            <a:r>
              <a:rPr sz="1275" b="0">
                <a:solidFill>
                  <a:srgbClr val="5F6670"/>
                </a:solidFill>
                <a:latin typeface="PingFang SC"/>
                <a:ea typeface="PingFang SC"/>
                <a:cs typeface="PingFang SC"/>
              </a:rPr>
              <a:t>冲突、证据与风险热点</a:t>
            </a:r>
          </a:p>
        </p:txBody>
      </p:sp>
      <p:sp>
        <p:nvSpPr>
          <p:cNvPr id="13" name="矩形 12">
            <a:extLst xmlns:a="http://schemas.openxmlformats.org/drawingml/2006/main">
              <a:ext uri="{FF2B5EF4-FFF2-40B4-BE49-F238E27FC236}">
                <a16:creationId xmlns:a16="http://schemas.microsoft.com/office/drawing/2014/main" id="{ADA4BF3F-AD40-4C02-A9A1-8B429158AD26}"/>
              </a:ext>
            </a:extLst>
          </p:cNvPr>
          <p:cNvSpPr>
            <a:spLocks xmlns:a="http://schemas.openxmlformats.org/drawingml/2006/main" noGrp="1"/>
          </p:cNvSpPr>
          <p:nvPr/>
        </p:nvSpPr>
        <p:spPr>
          <a:xfrm xmlns:a="http://schemas.openxmlformats.org/drawingml/2006/main">
            <a:off x="7467600" y="5086350"/>
            <a:ext cx="1466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000000"/>
                </a:solidFill>
                <a:latin typeface="PingFang SC"/>
                <a:ea typeface="PingFang SC"/>
                <a:cs typeface="PingFang SC"/>
              </a:defRPr>
            </a:pPr>
            <a:r>
              <a:rPr sz="1575" b="1">
                <a:solidFill>
                  <a:srgbClr val="000000"/>
                </a:solidFill>
                <a:latin typeface="PingFang SC"/>
                <a:ea typeface="PingFang SC"/>
                <a:cs typeface="PingFang SC"/>
              </a:rPr>
              <a:t>路网基础主题</a:t>
            </a:r>
          </a:p>
        </p:txBody>
      </p:sp>
      <p:sp>
        <p:nvSpPr>
          <p:cNvPr id="14" name="矩形 13">
            <a:extLst xmlns:a="http://schemas.openxmlformats.org/drawingml/2006/main">
              <a:ext uri="{FF2B5EF4-FFF2-40B4-BE49-F238E27FC236}">
                <a16:creationId xmlns:a16="http://schemas.microsoft.com/office/drawing/2014/main" id="{B6B9502D-1270-407D-9CA2-EFC74409CFBB}"/>
              </a:ext>
            </a:extLst>
          </p:cNvPr>
          <p:cNvSpPr>
            <a:spLocks xmlns:a="http://schemas.openxmlformats.org/drawingml/2006/main" noGrp="1"/>
          </p:cNvSpPr>
          <p:nvPr/>
        </p:nvSpPr>
        <p:spPr>
          <a:xfrm xmlns:a="http://schemas.openxmlformats.org/drawingml/2006/main">
            <a:off x="9001125" y="5086350"/>
            <a:ext cx="27908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F6670"/>
                </a:solidFill>
                <a:latin typeface="PingFang SC"/>
                <a:ea typeface="PingFang SC"/>
                <a:cs typeface="PingFang SC"/>
              </a:defRPr>
            </a:pPr>
            <a:r>
              <a:rPr sz="1275" b="0">
                <a:solidFill>
                  <a:srgbClr val="5F6670"/>
                </a:solidFill>
                <a:latin typeface="PingFang SC"/>
                <a:ea typeface="PingFang SC"/>
                <a:cs typeface="PingFang SC"/>
              </a:rPr>
              <a:t>轨迹匹配、渠化与版本</a:t>
            </a:r>
          </a:p>
        </p:txBody>
      </p:sp>
      <p:sp>
        <p:nvSpPr>
          <p:cNvPr id="15" name="矩形 14">
            <a:extLst xmlns:a="http://schemas.openxmlformats.org/drawingml/2006/main">
              <a:ext uri="{FF2B5EF4-FFF2-40B4-BE49-F238E27FC236}">
                <a16:creationId xmlns:a16="http://schemas.microsoft.com/office/drawing/2014/main" id="{D06A7F72-C787-498A-9321-1857BD9864AB}"/>
              </a:ext>
            </a:extLst>
          </p:cNvPr>
          <p:cNvSpPr>
            <a:spLocks xmlns:a="http://schemas.openxmlformats.org/drawingml/2006/main" noGrp="1"/>
          </p:cNvSpPr>
          <p:nvPr/>
        </p:nvSpPr>
        <p:spPr>
          <a:xfrm xmlns:a="http://schemas.openxmlformats.org/drawingml/2006/main">
            <a:off x="7467600" y="5581650"/>
            <a:ext cx="1466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3D8DFF"/>
                </a:solidFill>
                <a:latin typeface="PingFang SC"/>
                <a:ea typeface="PingFang SC"/>
                <a:cs typeface="PingFang SC"/>
              </a:defRPr>
            </a:pPr>
            <a:r>
              <a:rPr sz="1500" b="1">
                <a:solidFill>
                  <a:srgbClr val="3D8DFF"/>
                </a:solidFill>
                <a:latin typeface="PingFang SC"/>
                <a:ea typeface="PingFang SC"/>
                <a:cs typeface="PingFang SC"/>
              </a:rPr>
              <a:t>评价反哺</a:t>
            </a:r>
          </a:p>
        </p:txBody>
      </p:sp>
      <p:sp>
        <p:nvSpPr>
          <p:cNvPr id="16" name="矩形 15">
            <a:extLst xmlns:a="http://schemas.openxmlformats.org/drawingml/2006/main">
              <a:ext uri="{FF2B5EF4-FFF2-40B4-BE49-F238E27FC236}">
                <a16:creationId xmlns:a16="http://schemas.microsoft.com/office/drawing/2014/main" id="{A505ED81-4A28-4776-8139-D66B05F85B84}"/>
              </a:ext>
            </a:extLst>
          </p:cNvPr>
          <p:cNvSpPr>
            <a:spLocks xmlns:a="http://schemas.openxmlformats.org/drawingml/2006/main" noGrp="1"/>
          </p:cNvSpPr>
          <p:nvPr/>
        </p:nvSpPr>
        <p:spPr>
          <a:xfrm xmlns:a="http://schemas.openxmlformats.org/drawingml/2006/main">
            <a:off x="9001125" y="5581650"/>
            <a:ext cx="27908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F6670"/>
                </a:solidFill>
                <a:latin typeface="PingFang SC"/>
                <a:ea typeface="PingFang SC"/>
                <a:cs typeface="PingFang SC"/>
              </a:defRPr>
            </a:pPr>
            <a:r>
              <a:rPr sz="1275" b="0">
                <a:solidFill>
                  <a:srgbClr val="5F6670"/>
                </a:solidFill>
                <a:latin typeface="PingFang SC"/>
                <a:ea typeface="PingFang SC"/>
                <a:cs typeface="PingFang SC"/>
              </a:rPr>
              <a:t>治理前后指标回流与复盘</a:t>
            </a:r>
          </a:p>
        </p:txBody>
      </p:sp>
      <p:sp>
        <p:nvSpPr>
          <p:cNvPr id="17" name="矩形 16">
            <a:extLst xmlns:a="http://schemas.openxmlformats.org/drawingml/2006/main">
              <a:ext uri="{FF2B5EF4-FFF2-40B4-BE49-F238E27FC236}">
                <a16:creationId xmlns:a16="http://schemas.microsoft.com/office/drawing/2014/main" id="{8E39335E-38F2-465B-94F5-956C82C9B41C}"/>
              </a:ext>
            </a:extLst>
          </p:cNvPr>
          <p:cNvSpPr>
            <a:spLocks xmlns:a="http://schemas.openxmlformats.org/drawingml/2006/main" noGrp="1"/>
          </p:cNvSpPr>
          <p:nvPr/>
        </p:nvSpPr>
        <p:spPr>
          <a:xfrm xmlns:a="http://schemas.openxmlformats.org/drawingml/2006/main">
            <a:off x="390525" y="58293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F6670"/>
                </a:solidFill>
                <a:latin typeface="PingFang SC"/>
                <a:ea typeface="PingFang SC"/>
                <a:cs typeface="PingFang SC"/>
              </a:defRPr>
            </a:pPr>
            <a:r>
              <a:rPr sz="1650" b="0">
                <a:solidFill>
                  <a:srgbClr val="5F6670"/>
                </a:solidFill>
                <a:latin typeface="PingFang SC"/>
                <a:ea typeface="PingFang SC"/>
                <a:cs typeface="PingFang SC"/>
              </a:rPr>
              <a:t>真视频 / 可控回放 → uav_* 事实 → road9 → 易出行主题库与智能体</a:t>
            </a:r>
          </a:p>
        </p:txBody>
      </p:sp>
    </p:spTree>
    <p:extLst>
      <p:ext uri="{BB962C8B-B14F-4D97-AF65-F5344CB8AC3E}">
        <p14:creationId xmlns:p14="http://schemas.microsoft.com/office/powerpoint/2010/main" val="171548440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5" name="矩形 24">
            <a:extLst xmlns:a="http://schemas.openxmlformats.org/drawingml/2006/main">
              <a:ext uri="{FF2B5EF4-FFF2-40B4-BE49-F238E27FC236}">
                <a16:creationId xmlns:a16="http://schemas.microsoft.com/office/drawing/2014/main" id="{A0B183AD-7FEA-4E5D-8E1A-8DB64DD5C38D}"/>
              </a:ext>
            </a:extLst>
          </p:cNvPr>
          <p:cNvSpPr>
            <a:spLocks xmlns:a="http://schemas.openxmlformats.org/drawingml/2006/main" noGrp="1"/>
          </p:cNvSpPr>
          <p:nvPr/>
        </p:nvSpPr>
        <p:spPr>
          <a:xfrm xmlns:a="http://schemas.openxmlformats.org/drawingml/2006/main">
            <a:off x="390525" y="590550"/>
            <a:ext cx="114014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600" b="1">
                <a:solidFill>
                  <a:srgbClr val="000000"/>
                </a:solidFill>
                <a:latin typeface="PingFang SC"/>
                <a:ea typeface="PingFang SC"/>
                <a:cs typeface="PingFang SC"/>
              </a:defRPr>
            </a:pPr>
            <a:r>
              <a:rPr sz="3600" b="1">
                <a:solidFill>
                  <a:srgbClr val="000000"/>
                </a:solidFill>
                <a:latin typeface="PingFang SC"/>
                <a:ea typeface="PingFang SC"/>
                <a:cs typeface="PingFang SC"/>
              </a:rPr>
              <a:t>当前已具备可复核闭环，量化成效需按试点验收</a:t>
            </a:r>
          </a:p>
        </p:txBody>
      </p:sp>
      <p:sp>
        <p:nvSpPr>
          <p:cNvPr id="2" name="矩形 1">
            <a:extLst xmlns:a="http://schemas.openxmlformats.org/drawingml/2006/main">
              <a:ext uri="{FF2B5EF4-FFF2-40B4-BE49-F238E27FC236}">
                <a16:creationId xmlns:a16="http://schemas.microsoft.com/office/drawing/2014/main" id="{632BFBEF-BDDE-470C-AA93-BDB9017F8D02}"/>
              </a:ext>
            </a:extLst>
          </p:cNvPr>
          <p:cNvSpPr>
            <a:spLocks xmlns:a="http://schemas.openxmlformats.org/drawingml/2006/main" noGrp="1"/>
          </p:cNvSpPr>
          <p:nvPr/>
        </p:nvSpPr>
        <p:spPr>
          <a:xfrm xmlns:a="http://schemas.openxmlformats.org/drawingml/2006/main">
            <a:off x="390525" y="2286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F6670"/>
                </a:solidFill>
                <a:latin typeface="PingFang SC"/>
                <a:ea typeface="PingFang SC"/>
                <a:cs typeface="PingFang SC"/>
              </a:defRPr>
            </a:pPr>
            <a:r>
              <a:rPr sz="1350" b="1">
                <a:solidFill>
                  <a:srgbClr val="5F6670"/>
                </a:solidFill>
                <a:latin typeface="PingFang SC"/>
                <a:ea typeface="PingFang SC"/>
                <a:cs typeface="PingFang SC"/>
              </a:rPr>
              <a:t>易出行 · 无人机交通治理</a:t>
            </a:r>
          </a:p>
        </p:txBody>
      </p:sp>
      <p:sp>
        <p:nvSpPr>
          <p:cNvPr id="3" name="直线连接符 2">
            <a:extLst xmlns:a="http://schemas.openxmlformats.org/drawingml/2006/main">
              <a:ext uri="{FF2B5EF4-FFF2-40B4-BE49-F238E27FC236}">
                <a16:creationId xmlns:a16="http://schemas.microsoft.com/office/drawing/2014/main" id="{72004D3F-1FCF-47CE-81AF-9DEE387D77B0}"/>
              </a:ext>
            </a:extLst>
          </p:cNvPr>
          <p:cNvSpPr>
            <a:spLocks xmlns:a="http://schemas.openxmlformats.org/drawingml/2006/main" noGrp="1"/>
          </p:cNvSpPr>
          <p:nvPr/>
        </p:nvSpPr>
        <p:spPr>
          <a:xfrm xmlns:a="http://schemas.openxmlformats.org/drawingml/2006/main">
            <a:off x="390525" y="6438900"/>
            <a:ext cx="114014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矩形 3">
            <a:extLst xmlns:a="http://schemas.openxmlformats.org/drawingml/2006/main">
              <a:ext uri="{FF2B5EF4-FFF2-40B4-BE49-F238E27FC236}">
                <a16:creationId xmlns:a16="http://schemas.microsoft.com/office/drawing/2014/main" id="{B96C6B82-4D64-476F-9A5E-59F44B9E71F2}"/>
              </a:ext>
            </a:extLst>
          </p:cNvPr>
          <p:cNvSpPr>
            <a:spLocks xmlns:a="http://schemas.openxmlformats.org/drawingml/2006/main" noGrp="1"/>
          </p:cNvSpPr>
          <p:nvPr/>
        </p:nvSpPr>
        <p:spPr>
          <a:xfrm xmlns:a="http://schemas.openxmlformats.org/drawingml/2006/main">
            <a:off x="1123950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10</a:t>
            </a:r>
          </a:p>
        </p:txBody>
      </p:sp>
      <p:sp>
        <p:nvSpPr>
          <p:cNvPr id="5" name="矩形 4">
            <a:extLst xmlns:a="http://schemas.openxmlformats.org/drawingml/2006/main">
              <a:ext uri="{FF2B5EF4-FFF2-40B4-BE49-F238E27FC236}">
                <a16:creationId xmlns:a16="http://schemas.microsoft.com/office/drawing/2014/main" id="{AF05F73D-2788-4615-818D-B56BBDA64A85}"/>
              </a:ext>
            </a:extLst>
          </p:cNvPr>
          <p:cNvSpPr>
            <a:spLocks xmlns:a="http://schemas.openxmlformats.org/drawingml/2006/main" noGrp="1"/>
          </p:cNvSpPr>
          <p:nvPr/>
        </p:nvSpPr>
        <p:spPr>
          <a:xfrm xmlns:a="http://schemas.openxmlformats.org/drawingml/2006/main">
            <a:off x="371475" y="1790700"/>
            <a:ext cx="266700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35" name="图片 29"/>
          <p:cNvPicPr>
            <a:picLocks xmlns:a="http://schemas.openxmlformats.org/drawingml/2006/main" noChangeAspect="1"/>
          </p:cNvPicPr>
          <p:nvPr/>
        </p:nvPicPr>
        <p:blipFill>
          <a:blip xmlns:r="http://schemas.openxmlformats.org/officeDocument/2006/relationships" xmlns:a="http://schemas.openxmlformats.org/drawingml/2006/main" r:embed="Rddbe0b8292c54ab5"/>
          <a:srcRect xmlns:a="http://schemas.openxmlformats.org/drawingml/2006/main" l="8600" t="0" r="8600" b="0"/>
          <a:stretch xmlns:a="http://schemas.openxmlformats.org/drawingml/2006/main">
            <a:fillRect l="0" t="0" r="0" b="0"/>
          </a:stretch>
        </p:blipFill>
        <p:spPr>
          <a:xfrm xmlns:a="http://schemas.openxmlformats.org/drawingml/2006/main">
            <a:off x="390525" y="1809750"/>
            <a:ext cx="2628900" cy="1619250"/>
          </a:xfrm>
          <a:prstGeom xmlns:a="http://schemas.openxmlformats.org/drawingml/2006/main" prst="rect">
            <a:avLst/>
          </a:prstGeom>
        </p:spPr>
      </p:pic>
      <p:sp>
        <p:nvSpPr>
          <p:cNvPr id="7" name="矩形 6">
            <a:extLst xmlns:a="http://schemas.openxmlformats.org/drawingml/2006/main">
              <a:ext uri="{FF2B5EF4-FFF2-40B4-BE49-F238E27FC236}">
                <a16:creationId xmlns:a16="http://schemas.microsoft.com/office/drawing/2014/main" id="{F3495CA0-5DF6-4A6D-9681-4C2CDBEEFDDD}"/>
              </a:ext>
            </a:extLst>
          </p:cNvPr>
          <p:cNvSpPr>
            <a:spLocks xmlns:a="http://schemas.openxmlformats.org/drawingml/2006/main" noGrp="1"/>
          </p:cNvSpPr>
          <p:nvPr/>
        </p:nvSpPr>
        <p:spPr>
          <a:xfrm xmlns:a="http://schemas.openxmlformats.org/drawingml/2006/main">
            <a:off x="390525" y="3733800"/>
            <a:ext cx="2628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已形成｜事实链</a:t>
            </a:r>
          </a:p>
        </p:txBody>
      </p:sp>
      <p:sp>
        <p:nvSpPr>
          <p:cNvPr id="8" name="矩形 7">
            <a:extLst xmlns:a="http://schemas.openxmlformats.org/drawingml/2006/main">
              <a:ext uri="{FF2B5EF4-FFF2-40B4-BE49-F238E27FC236}">
                <a16:creationId xmlns:a16="http://schemas.microsoft.com/office/drawing/2014/main" id="{32397796-9650-4C10-9A31-01EB684B6C64}"/>
              </a:ext>
            </a:extLst>
          </p:cNvPr>
          <p:cNvSpPr>
            <a:spLocks xmlns:a="http://schemas.openxmlformats.org/drawingml/2006/main" noGrp="1"/>
          </p:cNvSpPr>
          <p:nvPr/>
        </p:nvSpPr>
        <p:spPr>
          <a:xfrm xmlns:a="http://schemas.openxmlformats.org/drawingml/2006/main">
            <a:off x="390525" y="4276725"/>
            <a:ext cx="2628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真视频、真库、可控回放和 Mission 谱系均可复核。</a:t>
            </a:r>
          </a:p>
        </p:txBody>
      </p:sp>
      <p:sp>
        <p:nvSpPr>
          <p:cNvPr id="9" name="直线连接符 8">
            <a:extLst xmlns:a="http://schemas.openxmlformats.org/drawingml/2006/main">
              <a:ext uri="{FF2B5EF4-FFF2-40B4-BE49-F238E27FC236}">
                <a16:creationId xmlns:a16="http://schemas.microsoft.com/office/drawing/2014/main" id="{AD534D5D-7C33-4281-9DF2-246894D63C03}"/>
              </a:ext>
            </a:extLst>
          </p:cNvPr>
          <p:cNvSpPr>
            <a:spLocks xmlns:a="http://schemas.openxmlformats.org/drawingml/2006/main" noGrp="1"/>
          </p:cNvSpPr>
          <p:nvPr/>
        </p:nvSpPr>
        <p:spPr>
          <a:xfrm xmlns:a="http://schemas.openxmlformats.org/drawingml/2006/main">
            <a:off x="3152775" y="3733800"/>
            <a:ext cx="95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0" name="矩形 9">
            <a:extLst xmlns:a="http://schemas.openxmlformats.org/drawingml/2006/main">
              <a:ext uri="{FF2B5EF4-FFF2-40B4-BE49-F238E27FC236}">
                <a16:creationId xmlns:a16="http://schemas.microsoft.com/office/drawing/2014/main" id="{F88268CD-960E-43F9-A1CA-9B1B0F58CC58}"/>
              </a:ext>
            </a:extLst>
          </p:cNvPr>
          <p:cNvSpPr>
            <a:spLocks xmlns:a="http://schemas.openxmlformats.org/drawingml/2006/main" noGrp="1"/>
          </p:cNvSpPr>
          <p:nvPr/>
        </p:nvSpPr>
        <p:spPr>
          <a:xfrm xmlns:a="http://schemas.openxmlformats.org/drawingml/2006/main">
            <a:off x="3295650" y="1790700"/>
            <a:ext cx="266700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40" name="图片 34"/>
          <p:cNvPicPr>
            <a:picLocks xmlns:a="http://schemas.openxmlformats.org/drawingml/2006/main" noChangeAspect="1"/>
          </p:cNvPicPr>
          <p:nvPr/>
        </p:nvPicPr>
        <p:blipFill>
          <a:blip xmlns:r="http://schemas.openxmlformats.org/officeDocument/2006/relationships" xmlns:a="http://schemas.openxmlformats.org/drawingml/2006/main" r:embed="R98d1f85371ae4f95"/>
          <a:srcRect xmlns:a="http://schemas.openxmlformats.org/drawingml/2006/main" l="6469" t="0" r="6469" b="0"/>
          <a:stretch xmlns:a="http://schemas.openxmlformats.org/drawingml/2006/main">
            <a:fillRect l="0" t="0" r="0" b="0"/>
          </a:stretch>
        </p:blipFill>
        <p:spPr>
          <a:xfrm xmlns:a="http://schemas.openxmlformats.org/drawingml/2006/main">
            <a:off x="3314700" y="1809750"/>
            <a:ext cx="2628900" cy="1619250"/>
          </a:xfrm>
          <a:prstGeom xmlns:a="http://schemas.openxmlformats.org/drawingml/2006/main" prst="rect">
            <a:avLst/>
          </a:prstGeom>
        </p:spPr>
      </p:pic>
      <p:sp>
        <p:nvSpPr>
          <p:cNvPr id="12" name="矩形 11">
            <a:extLst xmlns:a="http://schemas.openxmlformats.org/drawingml/2006/main">
              <a:ext uri="{FF2B5EF4-FFF2-40B4-BE49-F238E27FC236}">
                <a16:creationId xmlns:a16="http://schemas.microsoft.com/office/drawing/2014/main" id="{EA6BCEFB-4F2E-4EE5-A9E2-A4C3B70BA5B4}"/>
              </a:ext>
            </a:extLst>
          </p:cNvPr>
          <p:cNvSpPr>
            <a:spLocks xmlns:a="http://schemas.openxmlformats.org/drawingml/2006/main" noGrp="1"/>
          </p:cNvSpPr>
          <p:nvPr/>
        </p:nvSpPr>
        <p:spPr>
          <a:xfrm xmlns:a="http://schemas.openxmlformats.org/drawingml/2006/main">
            <a:off x="3314700" y="3733800"/>
            <a:ext cx="2628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目标｜拥堵响应</a:t>
            </a:r>
          </a:p>
        </p:txBody>
      </p:sp>
      <p:sp>
        <p:nvSpPr>
          <p:cNvPr id="13" name="矩形 12">
            <a:extLst xmlns:a="http://schemas.openxmlformats.org/drawingml/2006/main">
              <a:ext uri="{FF2B5EF4-FFF2-40B4-BE49-F238E27FC236}">
                <a16:creationId xmlns:a16="http://schemas.microsoft.com/office/drawing/2014/main" id="{1391F3BC-9ED9-46CA-A937-3B90F078C3F7}"/>
              </a:ext>
            </a:extLst>
          </p:cNvPr>
          <p:cNvSpPr>
            <a:spLocks xmlns:a="http://schemas.openxmlformats.org/drawingml/2006/main" noGrp="1"/>
          </p:cNvSpPr>
          <p:nvPr/>
        </p:nvSpPr>
        <p:spPr>
          <a:xfrm xmlns:a="http://schemas.openxmlformats.org/drawingml/2006/main">
            <a:off x="3314700" y="4276725"/>
            <a:ext cx="2628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试点目标：AI 拥堵事件在有效窗口内 ≤30 秒输出。</a:t>
            </a:r>
          </a:p>
        </p:txBody>
      </p:sp>
      <p:sp>
        <p:nvSpPr>
          <p:cNvPr id="14" name="直线连接符 13">
            <a:extLst xmlns:a="http://schemas.openxmlformats.org/drawingml/2006/main">
              <a:ext uri="{FF2B5EF4-FFF2-40B4-BE49-F238E27FC236}">
                <a16:creationId xmlns:a16="http://schemas.microsoft.com/office/drawing/2014/main" id="{FD1A1189-82AB-4D6B-91ED-1FD948CAAE69}"/>
              </a:ext>
            </a:extLst>
          </p:cNvPr>
          <p:cNvSpPr>
            <a:spLocks xmlns:a="http://schemas.openxmlformats.org/drawingml/2006/main" noGrp="1"/>
          </p:cNvSpPr>
          <p:nvPr/>
        </p:nvSpPr>
        <p:spPr>
          <a:xfrm xmlns:a="http://schemas.openxmlformats.org/drawingml/2006/main">
            <a:off x="6076950" y="3733800"/>
            <a:ext cx="95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5" name="矩形 14">
            <a:extLst xmlns:a="http://schemas.openxmlformats.org/drawingml/2006/main">
              <a:ext uri="{FF2B5EF4-FFF2-40B4-BE49-F238E27FC236}">
                <a16:creationId xmlns:a16="http://schemas.microsoft.com/office/drawing/2014/main" id="{DCA0384C-B951-4B58-B283-B6E84CEEEBF5}"/>
              </a:ext>
            </a:extLst>
          </p:cNvPr>
          <p:cNvSpPr>
            <a:spLocks xmlns:a="http://schemas.openxmlformats.org/drawingml/2006/main" noGrp="1"/>
          </p:cNvSpPr>
          <p:nvPr/>
        </p:nvSpPr>
        <p:spPr>
          <a:xfrm xmlns:a="http://schemas.openxmlformats.org/drawingml/2006/main">
            <a:off x="6219825" y="1790700"/>
            <a:ext cx="266700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45" name="图片 39"/>
          <p:cNvPicPr>
            <a:picLocks xmlns:a="http://schemas.openxmlformats.org/drawingml/2006/main" noChangeAspect="1"/>
          </p:cNvPicPr>
          <p:nvPr/>
        </p:nvPicPr>
        <p:blipFill>
          <a:blip xmlns:r="http://schemas.openxmlformats.org/officeDocument/2006/relationships" xmlns:a="http://schemas.openxmlformats.org/drawingml/2006/main" r:embed="Ra014b993456c49da"/>
          <a:srcRect xmlns:a="http://schemas.openxmlformats.org/drawingml/2006/main" l="7687" t="0" r="7687" b="0"/>
          <a:stretch xmlns:a="http://schemas.openxmlformats.org/drawingml/2006/main">
            <a:fillRect l="0" t="0" r="0" b="0"/>
          </a:stretch>
        </p:blipFill>
        <p:spPr>
          <a:xfrm xmlns:a="http://schemas.openxmlformats.org/drawingml/2006/main">
            <a:off x="6238875" y="1809750"/>
            <a:ext cx="2628900" cy="1619250"/>
          </a:xfrm>
          <a:prstGeom xmlns:a="http://schemas.openxmlformats.org/drawingml/2006/main" prst="rect">
            <a:avLst/>
          </a:prstGeom>
        </p:spPr>
      </p:pic>
      <p:sp>
        <p:nvSpPr>
          <p:cNvPr id="17" name="矩形 16">
            <a:extLst xmlns:a="http://schemas.openxmlformats.org/drawingml/2006/main">
              <a:ext uri="{FF2B5EF4-FFF2-40B4-BE49-F238E27FC236}">
                <a16:creationId xmlns:a16="http://schemas.microsoft.com/office/drawing/2014/main" id="{3D7DD244-38D2-46EB-8735-130D3AD063D2}"/>
              </a:ext>
            </a:extLst>
          </p:cNvPr>
          <p:cNvSpPr>
            <a:spLocks xmlns:a="http://schemas.openxmlformats.org/drawingml/2006/main" noGrp="1"/>
          </p:cNvSpPr>
          <p:nvPr/>
        </p:nvSpPr>
        <p:spPr>
          <a:xfrm xmlns:a="http://schemas.openxmlformats.org/drawingml/2006/main">
            <a:off x="6238875" y="3733800"/>
            <a:ext cx="2628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目标｜事故量算</a:t>
            </a:r>
          </a:p>
        </p:txBody>
      </p:sp>
      <p:sp>
        <p:nvSpPr>
          <p:cNvPr id="18" name="矩形 17">
            <a:extLst xmlns:a="http://schemas.openxmlformats.org/drawingml/2006/main">
              <a:ext uri="{FF2B5EF4-FFF2-40B4-BE49-F238E27FC236}">
                <a16:creationId xmlns:a16="http://schemas.microsoft.com/office/drawing/2014/main" id="{C754BB61-99C1-4CF0-89C2-8B750D366042}"/>
              </a:ext>
            </a:extLst>
          </p:cNvPr>
          <p:cNvSpPr>
            <a:spLocks xmlns:a="http://schemas.openxmlformats.org/drawingml/2006/main" noGrp="1"/>
          </p:cNvSpPr>
          <p:nvPr/>
        </p:nvSpPr>
        <p:spPr>
          <a:xfrm xmlns:a="http://schemas.openxmlformats.org/drawingml/2006/main">
            <a:off x="6238875" y="4276725"/>
            <a:ext cx="2628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试点目标：适用场景单事故测绘 ≤15 分钟。</a:t>
            </a:r>
          </a:p>
        </p:txBody>
      </p:sp>
      <p:sp>
        <p:nvSpPr>
          <p:cNvPr id="19" name="直线连接符 18">
            <a:extLst xmlns:a="http://schemas.openxmlformats.org/drawingml/2006/main">
              <a:ext uri="{FF2B5EF4-FFF2-40B4-BE49-F238E27FC236}">
                <a16:creationId xmlns:a16="http://schemas.microsoft.com/office/drawing/2014/main" id="{2DD526D7-4234-4319-BD55-5D0CE2B30F4E}"/>
              </a:ext>
            </a:extLst>
          </p:cNvPr>
          <p:cNvSpPr>
            <a:spLocks xmlns:a="http://schemas.openxmlformats.org/drawingml/2006/main" noGrp="1"/>
          </p:cNvSpPr>
          <p:nvPr/>
        </p:nvSpPr>
        <p:spPr>
          <a:xfrm xmlns:a="http://schemas.openxmlformats.org/drawingml/2006/main">
            <a:off x="9001125" y="3733800"/>
            <a:ext cx="9525"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20" name="矩形 19">
            <a:extLst xmlns:a="http://schemas.openxmlformats.org/drawingml/2006/main">
              <a:ext uri="{FF2B5EF4-FFF2-40B4-BE49-F238E27FC236}">
                <a16:creationId xmlns:a16="http://schemas.microsoft.com/office/drawing/2014/main" id="{8F88A633-7EA9-43FC-9F4F-647437C9B082}"/>
              </a:ext>
            </a:extLst>
          </p:cNvPr>
          <p:cNvSpPr>
            <a:spLocks xmlns:a="http://schemas.openxmlformats.org/drawingml/2006/main" noGrp="1"/>
          </p:cNvSpPr>
          <p:nvPr/>
        </p:nvSpPr>
        <p:spPr>
          <a:xfrm xmlns:a="http://schemas.openxmlformats.org/drawingml/2006/main">
            <a:off x="9144000" y="1790700"/>
            <a:ext cx="266700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pic>
        <p:nvPicPr>
          <p:cNvPr id="50" name="图片 44"/>
          <p:cNvPicPr>
            <a:picLocks xmlns:a="http://schemas.openxmlformats.org/drawingml/2006/main" noChangeAspect="1"/>
          </p:cNvPicPr>
          <p:nvPr/>
        </p:nvPicPr>
        <p:blipFill>
          <a:blip xmlns:r="http://schemas.openxmlformats.org/officeDocument/2006/relationships" xmlns:a="http://schemas.openxmlformats.org/drawingml/2006/main" r:embed="R5eb3b7be8ea7407d"/>
          <a:srcRect xmlns:a="http://schemas.openxmlformats.org/drawingml/2006/main" l="7687" t="0" r="7687" b="0"/>
          <a:stretch xmlns:a="http://schemas.openxmlformats.org/drawingml/2006/main">
            <a:fillRect l="0" t="0" r="0" b="0"/>
          </a:stretch>
        </p:blipFill>
        <p:spPr>
          <a:xfrm xmlns:a="http://schemas.openxmlformats.org/drawingml/2006/main">
            <a:off x="9163050" y="1809750"/>
            <a:ext cx="2628900" cy="1619250"/>
          </a:xfrm>
          <a:prstGeom xmlns:a="http://schemas.openxmlformats.org/drawingml/2006/main" prst="rect">
            <a:avLst/>
          </a:prstGeom>
        </p:spPr>
      </p:pic>
      <p:sp>
        <p:nvSpPr>
          <p:cNvPr id="22" name="矩形 21">
            <a:extLst xmlns:a="http://schemas.openxmlformats.org/drawingml/2006/main">
              <a:ext uri="{FF2B5EF4-FFF2-40B4-BE49-F238E27FC236}">
                <a16:creationId xmlns:a16="http://schemas.microsoft.com/office/drawing/2014/main" id="{56CC99DC-8914-495E-A9E2-CD724B9CB9AD}"/>
              </a:ext>
            </a:extLst>
          </p:cNvPr>
          <p:cNvSpPr>
            <a:spLocks xmlns:a="http://schemas.openxmlformats.org/drawingml/2006/main" noGrp="1"/>
          </p:cNvSpPr>
          <p:nvPr/>
        </p:nvSpPr>
        <p:spPr>
          <a:xfrm xmlns:a="http://schemas.openxmlformats.org/drawingml/2006/main">
            <a:off x="9163050" y="3733800"/>
            <a:ext cx="2628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门禁｜模型质量</a:t>
            </a:r>
          </a:p>
        </p:txBody>
      </p:sp>
      <p:sp>
        <p:nvSpPr>
          <p:cNvPr id="23" name="矩形 22">
            <a:extLst xmlns:a="http://schemas.openxmlformats.org/drawingml/2006/main">
              <a:ext uri="{FF2B5EF4-FFF2-40B4-BE49-F238E27FC236}">
                <a16:creationId xmlns:a16="http://schemas.microsoft.com/office/drawing/2014/main" id="{9AF5E7BF-8353-4C83-B12A-F549E641BA9E}"/>
              </a:ext>
            </a:extLst>
          </p:cNvPr>
          <p:cNvSpPr>
            <a:spLocks xmlns:a="http://schemas.openxmlformats.org/drawingml/2006/main" noGrp="1"/>
          </p:cNvSpPr>
          <p:nvPr/>
        </p:nvSpPr>
        <p:spPr>
          <a:xfrm xmlns:a="http://schemas.openxmlformats.org/drawingml/2006/main">
            <a:off x="9163050" y="4276725"/>
            <a:ext cx="2628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冲突 Precision 目标 ≥85%，同时验收 Recall 和单位小时误报。</a:t>
            </a:r>
          </a:p>
        </p:txBody>
      </p:sp>
      <p:sp>
        <p:nvSpPr>
          <p:cNvPr id="24" name="矩形 23">
            <a:extLst xmlns:a="http://schemas.openxmlformats.org/drawingml/2006/main">
              <a:ext uri="{FF2B5EF4-FFF2-40B4-BE49-F238E27FC236}">
                <a16:creationId xmlns:a16="http://schemas.microsoft.com/office/drawing/2014/main" id="{AAAAC110-FDE1-4726-BE8F-F53F8511A637}"/>
              </a:ext>
            </a:extLst>
          </p:cNvPr>
          <p:cNvSpPr>
            <a:spLocks xmlns:a="http://schemas.openxmlformats.org/drawingml/2006/main" noGrp="1"/>
          </p:cNvSpPr>
          <p:nvPr/>
        </p:nvSpPr>
        <p:spPr>
          <a:xfrm xmlns:a="http://schemas.openxmlformats.org/drawingml/2006/main">
            <a:off x="1666875" y="5638800"/>
            <a:ext cx="885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3D8DFF"/>
                </a:solidFill>
                <a:latin typeface="PingFang SC"/>
                <a:ea typeface="PingFang SC"/>
                <a:cs typeface="PingFang SC"/>
              </a:defRPr>
            </a:pPr>
            <a:r>
              <a:rPr sz="1800" b="1">
                <a:solidFill>
                  <a:srgbClr val="3D8DFF"/>
                </a:solidFill>
                <a:latin typeface="PingFang SC"/>
                <a:ea typeface="PingFang SC"/>
                <a:cs typeface="PingFang SC"/>
              </a:rPr>
              <a:t>仍需完成：权威路网、主平台回执、业务基线、生产安全与多路口试点。</a:t>
            </a:r>
          </a:p>
        </p:txBody>
      </p:sp>
    </p:spTree>
    <p:extLst>
      <p:ext uri="{BB962C8B-B14F-4D97-AF65-F5344CB8AC3E}">
        <p14:creationId xmlns:p14="http://schemas.microsoft.com/office/powerpoint/2010/main" val="16149474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矩形 15">
            <a:extLst xmlns:a="http://schemas.openxmlformats.org/drawingml/2006/main">
              <a:ext uri="{FF2B5EF4-FFF2-40B4-BE49-F238E27FC236}">
                <a16:creationId xmlns:a16="http://schemas.microsoft.com/office/drawing/2014/main" id="{08531CCF-82EE-413C-9975-9FCC1A611391}"/>
              </a:ext>
            </a:extLst>
          </p:cNvPr>
          <p:cNvSpPr>
            <a:spLocks xmlns:a="http://schemas.openxmlformats.org/drawingml/2006/main" noGrp="1"/>
          </p:cNvSpPr>
          <p:nvPr/>
        </p:nvSpPr>
        <p:spPr>
          <a:xfrm xmlns:a="http://schemas.openxmlformats.org/drawingml/2006/main">
            <a:off x="390525" y="323850"/>
            <a:ext cx="1524000" cy="47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4" name="矩形 3">
            <a:extLst xmlns:a="http://schemas.openxmlformats.org/drawingml/2006/main">
              <a:ext uri="{FF2B5EF4-FFF2-40B4-BE49-F238E27FC236}">
                <a16:creationId xmlns:a16="http://schemas.microsoft.com/office/drawing/2014/main" id="{DDE0FF99-A6CF-4354-AF6D-663217AB4703}"/>
              </a:ext>
            </a:extLst>
          </p:cNvPr>
          <p:cNvSpPr>
            <a:spLocks xmlns:a="http://schemas.openxmlformats.org/drawingml/2006/main" noGrp="1"/>
          </p:cNvSpPr>
          <p:nvPr/>
        </p:nvSpPr>
        <p:spPr>
          <a:xfrm xmlns:a="http://schemas.openxmlformats.org/drawingml/2006/main">
            <a:off x="267472" y="1905000"/>
            <a:ext cx="9525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3D8DFF"/>
                </a:solidFill>
                <a:latin typeface="PingFang SC"/>
                <a:ea typeface="PingFang SC"/>
                <a:cs typeface="PingFang SC"/>
              </a:defRPr>
            </a:pPr>
            <a:r>
              <a:rPr sz="4050" b="1">
                <a:solidFill>
                  <a:srgbClr val="3D8DFF"/>
                </a:solidFill>
                <a:latin typeface="PingFang SC"/>
                <a:ea typeface="PingFang SC"/>
                <a:cs typeface="PingFang SC"/>
              </a:rPr>
              <a:t>确认三项试点条件，启动正式业务验证</a:t>
            </a:r>
            <a:endParaRPr sz="4050" b="1">
              <a:solidFill>
                <a:srgbClr val="3D8DFF"/>
              </a:solidFill>
              <a:latin typeface="PingFang SC"/>
              <a:ea typeface="PingFang SC"/>
              <a:cs typeface="PingFang SC"/>
            </a:endParaRPr>
          </a:p>
        </p:txBody>
      </p:sp>
      <p:sp>
        <p:nvSpPr>
          <p:cNvPr id="5" name="直线连接符 4">
            <a:extLst xmlns:a="http://schemas.openxmlformats.org/drawingml/2006/main">
              <a:ext uri="{FF2B5EF4-FFF2-40B4-BE49-F238E27FC236}">
                <a16:creationId xmlns:a16="http://schemas.microsoft.com/office/drawing/2014/main" id="{9D5A6D4B-A0A3-4BFE-A1D1-F600E3FD2B68}"/>
              </a:ext>
            </a:extLst>
          </p:cNvPr>
          <p:cNvSpPr>
            <a:spLocks xmlns:a="http://schemas.openxmlformats.org/drawingml/2006/main" noGrp="1"/>
          </p:cNvSpPr>
          <p:nvPr/>
        </p:nvSpPr>
        <p:spPr>
          <a:xfrm xmlns:a="http://schemas.openxmlformats.org/drawingml/2006/main">
            <a:off x="390525" y="4286250"/>
            <a:ext cx="34290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6" name="矩形 5">
            <a:extLst xmlns:a="http://schemas.openxmlformats.org/drawingml/2006/main">
              <a:ext uri="{FF2B5EF4-FFF2-40B4-BE49-F238E27FC236}">
                <a16:creationId xmlns:a16="http://schemas.microsoft.com/office/drawing/2014/main" id="{AD0A24E5-4EA4-4357-BFDF-26EB53152D9D}"/>
              </a:ext>
            </a:extLst>
          </p:cNvPr>
          <p:cNvSpPr>
            <a:spLocks xmlns:a="http://schemas.openxmlformats.org/drawingml/2006/main" noGrp="1"/>
          </p:cNvSpPr>
          <p:nvPr/>
        </p:nvSpPr>
        <p:spPr>
          <a:xfrm xmlns:a="http://schemas.openxmlformats.org/drawingml/2006/main">
            <a:off x="390525" y="4476750"/>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确认试点点位</a:t>
            </a:r>
            <a:endParaRPr sz="2025" b="1">
              <a:solidFill>
                <a:srgbClr val="000000"/>
              </a:solidFill>
              <a:latin typeface="PingFang SC"/>
              <a:ea typeface="PingFang SC"/>
              <a:cs typeface="PingFang SC"/>
            </a:endParaRPr>
          </a:p>
        </p:txBody>
      </p:sp>
      <p:sp>
        <p:nvSpPr>
          <p:cNvPr id="7" name="矩形 6">
            <a:extLst xmlns:a="http://schemas.openxmlformats.org/drawingml/2006/main">
              <a:ext uri="{FF2B5EF4-FFF2-40B4-BE49-F238E27FC236}">
                <a16:creationId xmlns:a16="http://schemas.microsoft.com/office/drawing/2014/main" id="{D35197D5-BFC6-4DA2-973F-D62F20282362}"/>
              </a:ext>
            </a:extLst>
          </p:cNvPr>
          <p:cNvSpPr>
            <a:spLocks xmlns:a="http://schemas.openxmlformats.org/drawingml/2006/main" noGrp="1"/>
          </p:cNvSpPr>
          <p:nvPr/>
        </p:nvSpPr>
        <p:spPr>
          <a:xfrm xmlns:a="http://schemas.openxmlformats.org/drawingml/2006/main">
            <a:off x="390525" y="4953000"/>
            <a:ext cx="3429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选择 1—2 个问题路口，冻结业务场景、时段和对照窗口。</a:t>
            </a:r>
          </a:p>
        </p:txBody>
      </p:sp>
      <p:sp>
        <p:nvSpPr>
          <p:cNvPr id="8" name="直线连接符 7">
            <a:extLst xmlns:a="http://schemas.openxmlformats.org/drawingml/2006/main">
              <a:ext uri="{FF2B5EF4-FFF2-40B4-BE49-F238E27FC236}">
                <a16:creationId xmlns:a16="http://schemas.microsoft.com/office/drawing/2014/main" id="{B68BA64A-8A7C-435C-A18C-CC419FC62547}"/>
              </a:ext>
            </a:extLst>
          </p:cNvPr>
          <p:cNvSpPr>
            <a:spLocks xmlns:a="http://schemas.openxmlformats.org/drawingml/2006/main" noGrp="1"/>
          </p:cNvSpPr>
          <p:nvPr/>
        </p:nvSpPr>
        <p:spPr>
          <a:xfrm xmlns:a="http://schemas.openxmlformats.org/drawingml/2006/main">
            <a:off x="4191000" y="4286250"/>
            <a:ext cx="34290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9" name="矩形 8">
            <a:extLst xmlns:a="http://schemas.openxmlformats.org/drawingml/2006/main">
              <a:ext uri="{FF2B5EF4-FFF2-40B4-BE49-F238E27FC236}">
                <a16:creationId xmlns:a16="http://schemas.microsoft.com/office/drawing/2014/main" id="{6E968DE1-5DB8-423C-8D69-B9F513C415B4}"/>
              </a:ext>
            </a:extLst>
          </p:cNvPr>
          <p:cNvSpPr>
            <a:spLocks xmlns:a="http://schemas.openxmlformats.org/drawingml/2006/main" noGrp="1"/>
          </p:cNvSpPr>
          <p:nvPr/>
        </p:nvSpPr>
        <p:spPr>
          <a:xfrm xmlns:a="http://schemas.openxmlformats.org/drawingml/2006/main">
            <a:off x="7991475" y="4476750"/>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确认评价口径</a:t>
            </a:r>
            <a:endParaRPr sz="2025" b="1">
              <a:solidFill>
                <a:srgbClr val="000000"/>
              </a:solidFill>
              <a:latin typeface="PingFang SC"/>
              <a:ea typeface="PingFang SC"/>
              <a:cs typeface="PingFang SC"/>
            </a:endParaRPr>
          </a:p>
        </p:txBody>
      </p:sp>
      <p:sp>
        <p:nvSpPr>
          <p:cNvPr id="10" name="矩形 9">
            <a:extLst xmlns:a="http://schemas.openxmlformats.org/drawingml/2006/main">
              <a:ext uri="{FF2B5EF4-FFF2-40B4-BE49-F238E27FC236}">
                <a16:creationId xmlns:a16="http://schemas.microsoft.com/office/drawing/2014/main" id="{BFF8F499-0E4B-422F-AA8E-3D9A57685B63}"/>
              </a:ext>
            </a:extLst>
          </p:cNvPr>
          <p:cNvSpPr>
            <a:spLocks xmlns:a="http://schemas.openxmlformats.org/drawingml/2006/main" noGrp="1"/>
          </p:cNvSpPr>
          <p:nvPr/>
        </p:nvSpPr>
        <p:spPr>
          <a:xfrm xmlns:a="http://schemas.openxmlformats.org/drawingml/2006/main">
            <a:off x="7991475" y="4953000"/>
            <a:ext cx="3429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b="0">
                <a:solidFill>
                  <a:srgbClr val="5F6670"/>
                </a:solidFill>
                <a:latin typeface="PingFang SC"/>
                <a:ea typeface="PingFang SC"/>
                <a:cs typeface="PingFang SC"/>
              </a:rPr>
              <a:t>共同冻结拥堵、安全、效率和数据质量指标及通过规则。</a:t>
            </a:r>
            <a:endParaRPr sz="1575" b="0">
              <a:solidFill>
                <a:srgbClr val="5F6670"/>
              </a:solidFill>
              <a:latin typeface="PingFang SC"/>
              <a:ea typeface="PingFang SC"/>
              <a:cs typeface="PingFang SC"/>
            </a:endParaRPr>
          </a:p>
        </p:txBody>
      </p:sp>
      <p:sp>
        <p:nvSpPr>
          <p:cNvPr id="11" name="直线连接符 10">
            <a:extLst xmlns:a="http://schemas.openxmlformats.org/drawingml/2006/main">
              <a:ext uri="{FF2B5EF4-FFF2-40B4-BE49-F238E27FC236}">
                <a16:creationId xmlns:a16="http://schemas.microsoft.com/office/drawing/2014/main" id="{21E17C54-ABE5-490F-9A39-264256119380}"/>
              </a:ext>
            </a:extLst>
          </p:cNvPr>
          <p:cNvSpPr>
            <a:spLocks xmlns:a="http://schemas.openxmlformats.org/drawingml/2006/main" noGrp="1"/>
          </p:cNvSpPr>
          <p:nvPr/>
        </p:nvSpPr>
        <p:spPr>
          <a:xfrm xmlns:a="http://schemas.openxmlformats.org/drawingml/2006/main">
            <a:off x="7991475" y="4286250"/>
            <a:ext cx="34290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2" name="矩形 11">
            <a:extLst xmlns:a="http://schemas.openxmlformats.org/drawingml/2006/main">
              <a:ext uri="{FF2B5EF4-FFF2-40B4-BE49-F238E27FC236}">
                <a16:creationId xmlns:a16="http://schemas.microsoft.com/office/drawing/2014/main" id="{FE70D11F-5088-41B3-BB04-CD7DB287EE73}"/>
              </a:ext>
            </a:extLst>
          </p:cNvPr>
          <p:cNvSpPr>
            <a:spLocks xmlns:a="http://schemas.openxmlformats.org/drawingml/2006/main" noGrp="1"/>
          </p:cNvSpPr>
          <p:nvPr/>
        </p:nvSpPr>
        <p:spPr>
          <a:xfrm xmlns:a="http://schemas.openxmlformats.org/drawingml/2006/main">
            <a:off x="4097295" y="4476750"/>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PingFang SC"/>
                <a:ea typeface="PingFang SC"/>
                <a:cs typeface="PingFang SC"/>
              </a:defRPr>
            </a:pPr>
            <a:r>
              <a:rPr sz="2025" b="1">
                <a:solidFill>
                  <a:srgbClr val="000000"/>
                </a:solidFill>
                <a:latin typeface="PingFang SC"/>
                <a:ea typeface="PingFang SC"/>
                <a:cs typeface="PingFang SC"/>
              </a:rPr>
              <a:t>确认数据接口</a:t>
            </a:r>
            <a:endParaRPr sz="2025" b="1">
              <a:solidFill>
                <a:srgbClr val="000000"/>
              </a:solidFill>
              <a:latin typeface="PingFang SC"/>
              <a:ea typeface="PingFang SC"/>
              <a:cs typeface="PingFang SC"/>
            </a:endParaRPr>
          </a:p>
        </p:txBody>
      </p:sp>
      <p:sp>
        <p:nvSpPr>
          <p:cNvPr id="13" name="矩形 12">
            <a:extLst xmlns:a="http://schemas.openxmlformats.org/drawingml/2006/main">
              <a:ext uri="{FF2B5EF4-FFF2-40B4-BE49-F238E27FC236}">
                <a16:creationId xmlns:a16="http://schemas.microsoft.com/office/drawing/2014/main" id="{62EB1D3D-80C6-4591-8057-738526F35688}"/>
              </a:ext>
            </a:extLst>
          </p:cNvPr>
          <p:cNvSpPr>
            <a:spLocks xmlns:a="http://schemas.openxmlformats.org/drawingml/2006/main" noGrp="1"/>
          </p:cNvSpPr>
          <p:nvPr/>
        </p:nvSpPr>
        <p:spPr>
          <a:xfrm xmlns:a="http://schemas.openxmlformats.org/drawingml/2006/main">
            <a:off x="4097295" y="4953000"/>
            <a:ext cx="3429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F6670"/>
                </a:solidFill>
                <a:latin typeface="PingFang SC"/>
                <a:ea typeface="PingFang SC"/>
                <a:cs typeface="PingFang SC"/>
              </a:defRPr>
            </a:pPr>
            <a:r>
              <a:rPr sz="1575">
                <a:solidFill>
                  <a:srgbClr val="5F6670"/>
                </a:solidFill>
                <a:latin typeface="PingFang SC"/>
                <a:ea typeface="PingFang SC"/>
                <a:cs typeface="PingFang SC"/>
              </a:rPr>
              <a:t>打通主平台、road9、主题库及策略回执的正式合同。</a:t>
            </a:r>
            <a:endParaRPr sz="1575" b="0">
              <a:solidFill>
                <a:srgbClr val="5F6670"/>
              </a:solidFill>
              <a:latin typeface="PingFang SC"/>
              <a:ea typeface="PingFang SC"/>
              <a:cs typeface="PingFang SC"/>
            </a:endParaRPr>
          </a:p>
        </p:txBody>
      </p:sp>
      <p:sp>
        <p:nvSpPr>
          <p:cNvPr id="14" name="矩形 13">
            <a:extLst xmlns:a="http://schemas.openxmlformats.org/drawingml/2006/main">
              <a:ext uri="{FF2B5EF4-FFF2-40B4-BE49-F238E27FC236}">
                <a16:creationId xmlns:a16="http://schemas.microsoft.com/office/drawing/2014/main" id="{5978401E-48FD-469A-909B-D49021C05AB6}"/>
              </a:ext>
            </a:extLst>
          </p:cNvPr>
          <p:cNvSpPr>
            <a:spLocks xmlns:a="http://schemas.openxmlformats.org/drawingml/2006/main" noGrp="1"/>
          </p:cNvSpPr>
          <p:nvPr/>
        </p:nvSpPr>
        <p:spPr>
          <a:xfrm xmlns:a="http://schemas.openxmlformats.org/drawingml/2006/main">
            <a:off x="390525" y="6362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易出行无人机交通治理业务成效与试点汇报</a:t>
            </a:r>
          </a:p>
        </p:txBody>
      </p:sp>
      <p:sp>
        <p:nvSpPr>
          <p:cNvPr id="15" name="矩形 14">
            <a:extLst xmlns:a="http://schemas.openxmlformats.org/drawingml/2006/main">
              <a:ext uri="{FF2B5EF4-FFF2-40B4-BE49-F238E27FC236}">
                <a16:creationId xmlns:a16="http://schemas.microsoft.com/office/drawing/2014/main" id="{A167C879-3DFF-4DC7-ACFC-1BC55BD2CDBC}"/>
              </a:ext>
            </a:extLst>
          </p:cNvPr>
          <p:cNvSpPr>
            <a:spLocks xmlns:a="http://schemas.openxmlformats.org/drawingml/2006/main" noGrp="1"/>
          </p:cNvSpPr>
          <p:nvPr/>
        </p:nvSpPr>
        <p:spPr>
          <a:xfrm xmlns:a="http://schemas.openxmlformats.org/drawingml/2006/main">
            <a:off x="11239500" y="6362700"/>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F6670"/>
                </a:solidFill>
                <a:latin typeface="PingFang SC"/>
                <a:ea typeface="PingFang SC"/>
                <a:cs typeface="PingFang SC"/>
              </a:defRPr>
            </a:pPr>
            <a:r>
              <a:rPr sz="1200" b="0">
                <a:solidFill>
                  <a:srgbClr val="5F6670"/>
                </a:solidFill>
                <a:latin typeface="PingFang SC"/>
                <a:ea typeface="PingFang SC"/>
                <a:cs typeface="PingFang SC"/>
              </a:rPr>
              <a:t>11</a:t>
            </a:r>
          </a:p>
        </p:txBody>
      </p:sp>
    </p:spTree>
    <p:extLst>
      <p:ext uri="{BB962C8B-B14F-4D97-AF65-F5344CB8AC3E}">
        <p14:creationId xmlns:p14="http://schemas.microsoft.com/office/powerpoint/2010/main" val="15396041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2026-08-22T03:48:24.7280000Z</dcterms:created>
  <dcterms:modified xsi:type="dcterms:W3CDTF">2026-08-22T03:48:24.7280000Z</dcterms:modified>
</coreProperties>
</file>