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73152" cy="3200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731520"/>
            <a:ext cx="1828800" cy="182880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188720"/>
            <a:ext cx="137160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332720" y="1417320"/>
            <a:ext cx="822960" cy="82296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65A82"/>
                </a:solidFill>
                <a:latin typeface="Calibri"/>
              </a:defRPr>
            </a:pPr>
            <a:r>
              <a:t>UAV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无人机交通态势感知系统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7293"/>
                </a:solidFill>
                <a:latin typeface="Calibri"/>
              </a:rPr>
              <a:t>基于 AI 视觉的城市交通全要素智能检测平台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3657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汇报定位：技术可行性 &amp; 商业价值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面向总集方 CTO 技术方案汇报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2026.05  |  技术方案 V2.0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6035040"/>
            <a:ext cx="109728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60807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巡飞模式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6035040"/>
            <a:ext cx="109728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60807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悬停模式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6035040"/>
            <a:ext cx="109728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60807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机非冲突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79" y="6035040"/>
            <a:ext cx="109728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79" y="60807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车道级指标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行业痛点与市场背景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INDUSTRY PAIN POINTS &amp; MARKET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8308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固定摄像头覆盖盲区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4028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B8D"/>
                </a:solidFill>
                <a:latin typeface="Calibri"/>
              </a:defRPr>
            </a:pPr>
            <a:r>
              <a:t>传统固定点位摄像头仅覆盖交叉口局部区域，</a:t>
            </a:r>
            <a:br/>
            <a:r>
              <a:t>无法获取路段级交通流全貌，</a:t>
            </a:r>
            <a:br/>
            <a:r>
              <a:t>存在大量监控盲区。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21945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人工巡检成本高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4028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B8D"/>
                </a:solidFill>
                <a:latin typeface="Calibri"/>
              </a:defRPr>
            </a:pPr>
            <a:r>
              <a:t>依赖人工路测采集数据，效率低、</a:t>
            </a:r>
            <a:br/>
            <a:r>
              <a:t>成本高、覆盖面窄，</a:t>
            </a:r>
            <a:br/>
            <a:r>
              <a:t>无法满足大规模路网监测需求。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20624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519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数据维度单一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0916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B8D"/>
                </a:solidFill>
                <a:latin typeface="Calibri"/>
              </a:defRPr>
            </a:pPr>
            <a:r>
              <a:t>传统设备仅能采集流量/速度等</a:t>
            </a:r>
            <a:br/>
            <a:r>
              <a:t>宏观指标，缺少转向比例、</a:t>
            </a:r>
            <a:br/>
            <a:r>
              <a:t>车头时距等精细化指标。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93192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519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机非冲突难量化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0916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B8D"/>
                </a:solidFill>
                <a:latin typeface="Calibri"/>
              </a:defRPr>
            </a:pPr>
            <a:r>
              <a:t>机动车与非机动车/行人冲突</a:t>
            </a:r>
            <a:br/>
            <a:r>
              <a:t>事件缺乏客观检测手段，</a:t>
            </a:r>
            <a:br/>
            <a:r>
              <a:t>安全隐患无法主动预警。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36208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传统交通检测手段已无法满足城市交通精细化管理的迫切需求  &gt;  无人机 + AI 是破局关键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解决方案总览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SOLUTION OVERVIEW -- UAV + AI TRAFFIC PERCEPTION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5760720" cy="7315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无人机采集层 -- 巡飞模式 + 悬停模式  |  DJI M300  |  4K@30fps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148840"/>
            <a:ext cx="457200" cy="27432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560320"/>
            <a:ext cx="7589520" cy="1463040"/>
          </a:xfrm>
          <a:prstGeom prst="roundRect">
            <a:avLst/>
          </a:prstGeom>
          <a:noFill/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6060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AI 智能计算引擎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017520"/>
            <a:ext cx="128016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063240"/>
            <a:ext cx="1280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  <a:br/>
            <a:r>
              <a:t>目标检测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017520"/>
            <a:ext cx="128016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063240"/>
            <a:ext cx="1280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ByteTrack</a:t>
            </a:r>
            <a:br/>
            <a:r>
              <a:t>多目标跟踪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017520"/>
            <a:ext cx="128016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063240"/>
            <a:ext cx="1280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轨迹分析</a:t>
            </a:r>
            <a:br/>
            <a:r>
              <a:t>行为分类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017520"/>
            <a:ext cx="128016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063240"/>
            <a:ext cx="1280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冲突检测</a:t>
            </a:r>
            <a:br/>
            <a:r>
              <a:t>TTC 算法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017520"/>
            <a:ext cx="128016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1280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运动补偿</a:t>
            </a:r>
            <a:br/>
            <a:r>
              <a:t>GPS 锚定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52160" y="4114800"/>
            <a:ext cx="457200" cy="27432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8503920" cy="9144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617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数据输出与应用层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4937760"/>
            <a:ext cx="14630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49560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Kafka 消息流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40" y="4937760"/>
            <a:ext cx="14630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49560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InfluxDB 时序库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4937760"/>
            <a:ext cx="14630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49560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937760"/>
            <a:ext cx="14630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9560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WebSocket 实时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4937760"/>
            <a:ext cx="14630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9560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Grafana 看板</a:t>
            </a:r>
          </a:p>
        </p:txBody>
      </p:sp>
      <p:sp>
        <p:nvSpPr>
          <p:cNvPr id="36" name="Hexagon 35"/>
          <p:cNvSpPr/>
          <p:nvPr/>
        </p:nvSpPr>
        <p:spPr>
          <a:xfrm>
            <a:off x="548640" y="1463040"/>
            <a:ext cx="640080" cy="640080"/>
          </a:xfrm>
          <a:prstGeom prst="hexag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14630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实时感知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17373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4K 视频流</a:t>
            </a:r>
            <a:br/>
            <a:r>
              <a:t>30fps 处理</a:t>
            </a:r>
          </a:p>
        </p:txBody>
      </p:sp>
      <p:sp>
        <p:nvSpPr>
          <p:cNvPr id="39" name="Hexagon 38"/>
          <p:cNvSpPr/>
          <p:nvPr/>
        </p:nvSpPr>
        <p:spPr>
          <a:xfrm>
            <a:off x="548640" y="3108960"/>
            <a:ext cx="640080" cy="640080"/>
          </a:xfrm>
          <a:prstGeom prst="hexag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1089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精准检测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38328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亚米级定位</a:t>
            </a:r>
            <a:br/>
            <a:r>
              <a:t>多目标跟踪</a:t>
            </a:r>
          </a:p>
        </p:txBody>
      </p:sp>
      <p:sp>
        <p:nvSpPr>
          <p:cNvPr id="42" name="Hexagon 41"/>
          <p:cNvSpPr/>
          <p:nvPr/>
        </p:nvSpPr>
        <p:spPr>
          <a:xfrm>
            <a:off x="548640" y="4754880"/>
            <a:ext cx="640080" cy="640080"/>
          </a:xfrm>
          <a:prstGeom prst="hexag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754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智能分析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0292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冲突预警</a:t>
            </a:r>
            <a:br/>
            <a:r>
              <a:t>态势预测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1371600"/>
            <a:ext cx="1645920" cy="4572000"/>
          </a:xfrm>
          <a:prstGeom prst="roundRect">
            <a:avLst/>
          </a:prstGeom>
          <a:noFill/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15544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7293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19659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fps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26060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7293"/>
                </a:solidFill>
                <a:latin typeface="Calibri"/>
              </a:defRPr>
            </a:pPr>
            <a:r>
              <a:t>4K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分辨率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65760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7293"/>
                </a:solidFill>
                <a:latin typeface="Calibri"/>
              </a:defRPr>
            </a:pPr>
            <a:r>
              <a:t>&lt;50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40690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ms 延迟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70916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7293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51206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可用率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760720"/>
            <a:ext cx="10698480" cy="45720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alibri"/>
              </a:defRPr>
            </a:pPr>
            <a:r>
              <a:t>端到端解决方案：从无人机采集 &gt; AI 实时处理 &gt; 数据持久化 &gt; 可视化展示，全链路自主可控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两种飞行模式详解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CRUISE MODE vs HOVER MODE -- DUAL-MODE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3035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4630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630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巡飞模式  CRUISE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286000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覆盖范围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146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路段级 -- 城市干道、快速路、高架桥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53512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9535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飞行特征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82112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沿预设航线匀速飞行，覆盖 2-5 km 路段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621024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62102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49624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运动补偿 + GPS 世界坐标锚定，消除无人机自身运动干扰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288536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28853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检测指标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17136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车流量、平均速度、密度、道路占有率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956048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95604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特殊挑战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84648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传统标注模式失效，采用自研在线校准算法替代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623560"/>
            <a:ext cx="5486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623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数据输出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8521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Kafka &gt; InfluxDB &gt; Grafana 实时路段交通态势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1371600"/>
            <a:ext cx="5303520" cy="6400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4630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悬停模式  HOVER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286000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覆盖范围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5146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交叉口级 -- 信号控制交叉口、环形交叉口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953512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29535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飞行特征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182112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定点悬停于交叉口上方 80-120m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621024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362102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849624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单应性矩阵标定 + 世界坐标转换，支持有/无标注两种方式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288536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28853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检测指标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517136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转向车流、车道级流量/速度/排队/车头时距、机非冲突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956048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495604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特殊优势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184648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视角稳定、标定精度高，可实现亚米级轨迹重建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623560"/>
            <a:ext cx="54864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80" y="5623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C7293"/>
                </a:solidFill>
                <a:latin typeface="Calibri"/>
              </a:defRPr>
            </a:pPr>
            <a:r>
              <a:t>数据输出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58521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完整交叉口交通画像：转向矩阵 + 车道级指标 + 冲突热力图</a:t>
            </a:r>
          </a:p>
        </p:txBody>
      </p:sp>
      <p:sp>
        <p:nvSpPr>
          <p:cNvPr id="53" name="Oval 52"/>
          <p:cNvSpPr/>
          <p:nvPr/>
        </p:nvSpPr>
        <p:spPr>
          <a:xfrm>
            <a:off x="5577840" y="3474720"/>
            <a:ext cx="731520" cy="7315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核心检测能力拆解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CORE DETECTION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5486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447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转向车流统计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TURNING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8132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49961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C7293"/>
                </a:solidFill>
                <a:latin typeface="Calibri"/>
              </a:defRPr>
            </a:pPr>
            <a:r>
              <a:t>Heading+WorldCoord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0312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基于世界坐标航向角的四方向分类</a:t>
            </a:r>
            <a:br/>
            <a:r>
              <a:t>（直行/左转/右转/掉头），</a:t>
            </a:r>
            <a:br/>
            <a:r>
              <a:t>输出转向流量矩阵。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37160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59" y="1371600"/>
            <a:ext cx="347472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645920"/>
            <a:ext cx="347472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14447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车道级流量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6916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LANE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79" y="148132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149961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5A82"/>
                </a:solidFill>
                <a:latin typeface="Calibri"/>
              </a:defRPr>
            </a:pPr>
            <a:r>
              <a:t>Shapely Polygon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10312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基于车道多边形区域判定，</a:t>
            </a:r>
            <a:br/>
            <a:r>
              <a:t>统计每条车道的通过车辆数，</a:t>
            </a:r>
            <a:br/>
            <a:r>
              <a:t>支持动态车道配置。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137160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8" y="1371600"/>
            <a:ext cx="3474720" cy="5486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598" y="1645920"/>
            <a:ext cx="34747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14447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车道级车速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16916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LANE SPEED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18" y="148132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8" y="149961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C7293"/>
                </a:solidFill>
                <a:latin typeface="Calibri"/>
              </a:defRPr>
            </a:pPr>
            <a:r>
              <a:t>Homography+EMA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210312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单应性矩阵像素-米转换，</a:t>
            </a:r>
            <a:br/>
            <a:r>
              <a:t>结合帧间位移计算瞬时速度，</a:t>
            </a:r>
            <a:br/>
            <a:r>
              <a:t>EMA 平滑输出 km/h。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7764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3977640"/>
            <a:ext cx="347472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05079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排队长度检测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29768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QUEUE LENGTH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408736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10565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5A82"/>
                </a:solidFill>
                <a:latin typeface="Calibri"/>
              </a:defRPr>
            </a:pPr>
            <a:r>
              <a:t>Speed Clustering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70916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低速目标聚类识别排队车辆，</a:t>
            </a:r>
            <a:br/>
            <a:r>
              <a:t>实时计算各车道最大排队长度，</a:t>
            </a:r>
            <a:br/>
            <a:r>
              <a:t>支持溢出预警。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397764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80559" y="3977640"/>
            <a:ext cx="3474720" cy="5486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251960"/>
            <a:ext cx="34747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39" y="405079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车头时距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39" y="429768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HEADWAY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79" y="408736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79" y="410565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C7293"/>
                </a:solidFill>
                <a:latin typeface="Calibri"/>
              </a:defRPr>
            </a:pPr>
            <a:r>
              <a:t>Time Gap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79" y="470916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连续通过车辆的时间间隔统计，</a:t>
            </a:r>
            <a:br/>
            <a:r>
              <a:t>评估车道服务水平(LOS)，</a:t>
            </a:r>
            <a:br/>
            <a:r>
              <a:t>输出 PHF 峰值小时系数。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598" y="397764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598" y="3977640"/>
            <a:ext cx="347472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598" y="4251960"/>
            <a:ext cx="347472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78" y="405079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机非冲突检测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8" y="429768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CONFLICT DETECT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18" y="4087368"/>
            <a:ext cx="11887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18" y="410565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5A82"/>
                </a:solidFill>
                <a:latin typeface="Calibri"/>
              </a:defRPr>
            </a:pPr>
            <a:r>
              <a:t>TTC+Proximity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8" y="4709160"/>
            <a:ext cx="29260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TTC (碰撞时间) + 空间接近度</a:t>
            </a:r>
            <a:br/>
            <a:r>
              <a:t>双重判定，识别机动车与</a:t>
            </a:r>
            <a:br/>
            <a:r>
              <a:t>非机动车/行人冲突事件。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系统技术架构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SYSTEM ARCHITECTURE -- 4-LAYER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9748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感知层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PERCEPTION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64408" y="1600200"/>
            <a:ext cx="164592" cy="32004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54864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56032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8775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DJI M300 无人机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54864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33756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4K 视频采集 30fps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4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54864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11480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4223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DJI Cloud API 遥测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54864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489204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91947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SRT 字幕遥测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3212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532120"/>
            <a:ext cx="54864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66928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69671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MQTT 实时遥测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1371600"/>
            <a:ext cx="269748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1828800"/>
            <a:ext cx="269748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14173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传输层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18288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TRANSPORT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144768" y="1600200"/>
            <a:ext cx="164592" cy="32004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20440" y="242316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2423160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03320" y="256032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258775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Kafka 消息队列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40" y="320040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0440" y="3200400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03320" y="333756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36499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多 Topic 分区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40" y="397764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20440" y="3977640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03320" y="411480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14223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SRT 实时传输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0440" y="475488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20440" y="4754880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03320" y="489204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491947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RESTful API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20440" y="553212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20440" y="5532120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703320" y="566928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569671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1371600"/>
            <a:ext cx="2697480" cy="822960"/>
          </a:xfrm>
          <a:prstGeom prst="round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1828800"/>
            <a:ext cx="2697480" cy="36576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14173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计算层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18288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COMPUTING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025128" y="1600200"/>
            <a:ext cx="164592" cy="32004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00800" y="242316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2423160"/>
            <a:ext cx="54864" cy="64008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83680" y="2560320"/>
            <a:ext cx="347472" cy="347472"/>
          </a:xfrm>
          <a:prstGeom prst="ellipse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258775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YOLOv8 推理引擎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320040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200400"/>
            <a:ext cx="54864" cy="64008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0" y="3337560"/>
            <a:ext cx="347472" cy="347472"/>
          </a:xfrm>
          <a:prstGeom prst="ellipse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336499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ByteTrack 跟踪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397764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977640"/>
            <a:ext cx="54864" cy="64008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83680" y="4114800"/>
            <a:ext cx="347472" cy="347472"/>
          </a:xfrm>
          <a:prstGeom prst="ellipse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414223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单应性标定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0" y="475488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4754880"/>
            <a:ext cx="54864" cy="64008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583680" y="4892040"/>
            <a:ext cx="347472" cy="347472"/>
          </a:xfrm>
          <a:prstGeom prst="ellipse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0" y="491947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运动补偿算法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0" y="553212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5532120"/>
            <a:ext cx="54864" cy="64008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583680" y="5669280"/>
            <a:ext cx="347472" cy="347472"/>
          </a:xfrm>
          <a:prstGeom prst="ellipse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569671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TTC 冲突检测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89720" y="1371600"/>
            <a:ext cx="2697480" cy="822960"/>
          </a:xfrm>
          <a:prstGeom prst="round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89720" y="1828800"/>
            <a:ext cx="2697480" cy="36576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89720" y="14173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应用层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89720" y="18288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DDEE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281160" y="242316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81160" y="2423160"/>
            <a:ext cx="54864" cy="64008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64040" y="2560320"/>
            <a:ext cx="347472" cy="347472"/>
          </a:xfrm>
          <a:prstGeom prst="ellipse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21240" y="258775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Grafana 实时看板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281160" y="320040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81160" y="3200400"/>
            <a:ext cx="54864" cy="64008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464040" y="3337560"/>
            <a:ext cx="347472" cy="347472"/>
          </a:xfrm>
          <a:prstGeom prst="ellipse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21240" y="336499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FastAPI 管理平台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281160" y="397764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81160" y="3977640"/>
            <a:ext cx="54864" cy="64008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464040" y="4114800"/>
            <a:ext cx="347472" cy="347472"/>
          </a:xfrm>
          <a:prstGeom prst="ellipse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21240" y="414223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WebSocket 实时推送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81160" y="475488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81160" y="4754880"/>
            <a:ext cx="54864" cy="64008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464040" y="4892040"/>
            <a:ext cx="347472" cy="347472"/>
          </a:xfrm>
          <a:prstGeom prst="ellipse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921240" y="491947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HLS 视频流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281160" y="553212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281160" y="5532120"/>
            <a:ext cx="54864" cy="640080"/>
          </a:xfrm>
          <a:prstGeom prst="rect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464040" y="5669280"/>
            <a:ext cx="347472" cy="347472"/>
          </a:xfrm>
          <a:prstGeom prst="ellipse">
            <a:avLst/>
          </a:prstGeom>
          <a:solidFill>
            <a:srgbClr val="03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21240" y="5696712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告警引擎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315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 3.10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1031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031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PyTorch 2.3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747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747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8463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8463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179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179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Kafka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5895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5895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InfluxDB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9611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9611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332720" y="6016752"/>
            <a:ext cx="118872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332720" y="60350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关键算法能力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KEY ALGORITHM CAPABILITIES</a:t>
            </a:r>
          </a:p>
        </p:txBody>
      </p:sp>
      <p:sp>
        <p:nvSpPr>
          <p:cNvPr id="7" name="Hexagon 6"/>
          <p:cNvSpPr/>
          <p:nvPr/>
        </p:nvSpPr>
        <p:spPr>
          <a:xfrm>
            <a:off x="1417320" y="1371600"/>
            <a:ext cx="914400" cy="914400"/>
          </a:xfrm>
          <a:prstGeom prst="hexagon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目标检测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YOLOv8 + UAV 微调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108960"/>
            <a:ext cx="178308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1012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自研 UAV 航拍数据集训练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448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COCO 2-9 类目标检测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8056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9884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4K 分辨率 30fps 实时推理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7492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9320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GPU 加速 / CPU 兼容部署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60720"/>
            <a:ext cx="2148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8815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精度: 95%+  |  延迟: &lt;33ms</a:t>
            </a:r>
          </a:p>
        </p:txBody>
      </p:sp>
      <p:sp>
        <p:nvSpPr>
          <p:cNvPr id="21" name="Hexagon 20"/>
          <p:cNvSpPr/>
          <p:nvPr/>
        </p:nvSpPr>
        <p:spPr>
          <a:xfrm>
            <a:off x="4297680" y="1371600"/>
            <a:ext cx="914400" cy="914400"/>
          </a:xfrm>
          <a:prstGeom prst="hexag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3774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多目标跟踪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7432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ByteTrack 深度关联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108960"/>
            <a:ext cx="1783080" cy="27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11880" y="329184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31012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外观特征 + 运动模型融合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388620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90448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遮挡恢复与 ID 保持</a:t>
            </a:r>
          </a:p>
        </p:txBody>
      </p:sp>
      <p:sp>
        <p:nvSpPr>
          <p:cNvPr id="29" name="Oval 28"/>
          <p:cNvSpPr/>
          <p:nvPr/>
        </p:nvSpPr>
        <p:spPr>
          <a:xfrm>
            <a:off x="3611880" y="44805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49884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轨迹生命周期管理</a:t>
            </a:r>
          </a:p>
        </p:txBody>
      </p:sp>
      <p:sp>
        <p:nvSpPr>
          <p:cNvPr id="31" name="Oval 30"/>
          <p:cNvSpPr/>
          <p:nvPr/>
        </p:nvSpPr>
        <p:spPr>
          <a:xfrm>
            <a:off x="3611880" y="507492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09320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完成轨迹世界坐标输出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5760720"/>
            <a:ext cx="2148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578815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精度: 95%+  |  延迟: &lt;33ms</a:t>
            </a:r>
          </a:p>
        </p:txBody>
      </p:sp>
      <p:sp>
        <p:nvSpPr>
          <p:cNvPr id="35" name="Hexagon 34"/>
          <p:cNvSpPr/>
          <p:nvPr/>
        </p:nvSpPr>
        <p:spPr>
          <a:xfrm>
            <a:off x="7178040" y="1371600"/>
            <a:ext cx="914400" cy="914400"/>
          </a:xfrm>
          <a:prstGeom prst="hexagon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3774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运动补偿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7432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GPS 锚定世界坐标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108960"/>
            <a:ext cx="178308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329184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31012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无人机自身运动矢量消除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388620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90448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GPS 位置 &gt; 世界坐标系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448056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49884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单应性矩阵动态更新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507492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09320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支持巡飞 / 悬停双模式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760720"/>
            <a:ext cx="2148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78815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精度: 95%+  |  延迟: &lt;33ms</a:t>
            </a:r>
          </a:p>
        </p:txBody>
      </p:sp>
      <p:sp>
        <p:nvSpPr>
          <p:cNvPr id="49" name="Hexagon 48"/>
          <p:cNvSpPr/>
          <p:nvPr/>
        </p:nvSpPr>
        <p:spPr>
          <a:xfrm>
            <a:off x="10058400" y="1371600"/>
            <a:ext cx="914400" cy="914400"/>
          </a:xfrm>
          <a:prstGeom prst="hexag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23774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冲突判定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274320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TTC + 空间分析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3108960"/>
            <a:ext cx="1783080" cy="27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72600" y="329184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331012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碰撞时间 (TTC) 实时计算</a:t>
            </a:r>
          </a:p>
        </p:txBody>
      </p:sp>
      <p:sp>
        <p:nvSpPr>
          <p:cNvPr id="55" name="Oval 54"/>
          <p:cNvSpPr/>
          <p:nvPr/>
        </p:nvSpPr>
        <p:spPr>
          <a:xfrm>
            <a:off x="9372600" y="388620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390448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空间接近度双重验证</a:t>
            </a:r>
          </a:p>
        </p:txBody>
      </p:sp>
      <p:sp>
        <p:nvSpPr>
          <p:cNvPr id="57" name="Oval 56"/>
          <p:cNvSpPr/>
          <p:nvPr/>
        </p:nvSpPr>
        <p:spPr>
          <a:xfrm>
            <a:off x="9372600" y="44805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49884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机动车-非机动车分类</a:t>
            </a:r>
          </a:p>
        </p:txBody>
      </p:sp>
      <p:sp>
        <p:nvSpPr>
          <p:cNvPr id="59" name="Oval 58"/>
          <p:cNvSpPr/>
          <p:nvPr/>
        </p:nvSpPr>
        <p:spPr>
          <a:xfrm>
            <a:off x="9372600" y="507492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093208"/>
            <a:ext cx="1874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冲突事件链式上报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64040" y="5760720"/>
            <a:ext cx="2148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578815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精度: 95%+  |  延迟: &lt;33ms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数据输出与平台接口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DATA OUTPUT &amp; PLATFORM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数据流转架构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1783080"/>
            <a:ext cx="1234440" cy="457200"/>
          </a:xfrm>
          <a:prstGeom prst="chevr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检测管道输出</a:t>
            </a:r>
            <a:br/>
            <a:r>
              <a:t>JSON 格式数据</a:t>
            </a:r>
          </a:p>
        </p:txBody>
      </p:sp>
      <p:sp>
        <p:nvSpPr>
          <p:cNvPr id="11" name="Chevron 10"/>
          <p:cNvSpPr/>
          <p:nvPr/>
        </p:nvSpPr>
        <p:spPr>
          <a:xfrm>
            <a:off x="2148840" y="1783080"/>
            <a:ext cx="1234440" cy="457200"/>
          </a:xfrm>
          <a:prstGeom prst="chevron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8105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33172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消息队列缓冲</a:t>
            </a:r>
            <a:br/>
            <a:r>
              <a:t>多 Topic 分区</a:t>
            </a:r>
          </a:p>
        </p:txBody>
      </p:sp>
      <p:sp>
        <p:nvSpPr>
          <p:cNvPr id="14" name="Chevron 13"/>
          <p:cNvSpPr/>
          <p:nvPr/>
        </p:nvSpPr>
        <p:spPr>
          <a:xfrm>
            <a:off x="3566160" y="1783080"/>
            <a:ext cx="1234440" cy="457200"/>
          </a:xfrm>
          <a:prstGeom prst="chevron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105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InfluxDB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时序数据存储</a:t>
            </a:r>
            <a:br/>
            <a:r>
              <a:t>高效查询</a:t>
            </a:r>
          </a:p>
        </p:txBody>
      </p:sp>
      <p:sp>
        <p:nvSpPr>
          <p:cNvPr id="17" name="Chevron 16"/>
          <p:cNvSpPr/>
          <p:nvPr/>
        </p:nvSpPr>
        <p:spPr>
          <a:xfrm>
            <a:off x="4983480" y="1783080"/>
            <a:ext cx="1234440" cy="457200"/>
          </a:xfrm>
          <a:prstGeom prst="chevron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8105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33172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REST API 服务</a:t>
            </a:r>
            <a:br/>
            <a:r>
              <a:t>WebSocket 推送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Kafka Topic 设计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31927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Topic 名称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319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数据内容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1927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推送频率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03320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3075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7293"/>
                </a:solidFill>
                <a:latin typeface="Calibri"/>
              </a:defRPr>
            </a:pPr>
            <a:r>
              <a:t>statistics_{n}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30752"/>
            <a:ext cx="1645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实时交通统计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307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每秒推送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69080"/>
            <a:ext cx="5486400" cy="3474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9651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7293"/>
                </a:solidFill>
                <a:latin typeface="Calibri"/>
              </a:defRPr>
            </a:pPr>
            <a:r>
              <a:t>track_complete_{n}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96512"/>
            <a:ext cx="1645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完成轨迹数据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09651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每车触发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34840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46227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7293"/>
                </a:solidFill>
                <a:latin typeface="Calibri"/>
              </a:defRPr>
            </a:pPr>
            <a:r>
              <a:t>conflicts_{n}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462272"/>
            <a:ext cx="1645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冲突事件记录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6227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事件触发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800600"/>
            <a:ext cx="5486400" cy="3474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82803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7293"/>
                </a:solidFill>
                <a:latin typeface="Calibri"/>
              </a:defRPr>
            </a:pPr>
            <a:r>
              <a:t>telemetry_{n}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28032"/>
            <a:ext cx="1645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无人机遥测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2803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实时推送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平台 REST API (43 条路由)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173736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1737360"/>
            <a:ext cx="54864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1783080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/api/v1/pipelines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178308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管道生命周期管理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2039112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启动/停止/监控/状态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2395728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2395728"/>
            <a:ext cx="54864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2441448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/api/v1/drones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2441448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无人机舰队管理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269748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注册/遥测/状态/控制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3054096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3054096"/>
            <a:ext cx="54864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3099816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/api/v1/intersections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099816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交叉口管理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355848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配置/车道/信号/标定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3712464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0" y="3712464"/>
            <a:ext cx="54864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3758184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/api/v1/trajectories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3758184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车辆轨迹查询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014216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时空检索/导出/可视化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0" y="4370832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4370832"/>
            <a:ext cx="54864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0" y="441655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/api/v1/alerts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4416552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告警规则与历史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4672584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配置/触发/确认/统计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0" y="5029200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0" y="5029200"/>
            <a:ext cx="54864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60" y="5074920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/api/v1/video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07492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视频流管理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5330952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HLS 播放/录制/回放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0" y="5687568"/>
            <a:ext cx="5029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0" y="5687568"/>
            <a:ext cx="54864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0" y="5733288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7293"/>
                </a:solidFill>
                <a:latin typeface="Calibri"/>
              </a:defRPr>
            </a:pPr>
            <a:r>
              <a:t>/api/v1/system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5733288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系统监控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598932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健康检查/管道状态/日志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5394960"/>
            <a:ext cx="10881360" cy="822960"/>
          </a:xfrm>
          <a:prstGeom prst="roundRect">
            <a:avLst/>
          </a:prstGeom>
          <a:noFill/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" y="54406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可视化能力</a:t>
            </a:r>
          </a:p>
        </p:txBody>
      </p:sp>
      <p:sp>
        <p:nvSpPr>
          <p:cNvPr id="79" name="Oval 78"/>
          <p:cNvSpPr/>
          <p:nvPr/>
        </p:nvSpPr>
        <p:spPr>
          <a:xfrm>
            <a:off x="914400" y="576072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578815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Grafana 实时看板</a:t>
            </a:r>
          </a:p>
        </p:txBody>
      </p:sp>
      <p:sp>
        <p:nvSpPr>
          <p:cNvPr id="81" name="Oval 80"/>
          <p:cNvSpPr/>
          <p:nvPr/>
        </p:nvSpPr>
        <p:spPr>
          <a:xfrm>
            <a:off x="3017520" y="57607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0" y="578815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轨迹热力图</a:t>
            </a:r>
          </a:p>
        </p:txBody>
      </p:sp>
      <p:sp>
        <p:nvSpPr>
          <p:cNvPr id="83" name="Oval 82"/>
          <p:cNvSpPr/>
          <p:nvPr/>
        </p:nvSpPr>
        <p:spPr>
          <a:xfrm>
            <a:off x="5120640" y="576072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77840" y="578815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冲突事件回放</a:t>
            </a:r>
          </a:p>
        </p:txBody>
      </p:sp>
      <p:sp>
        <p:nvSpPr>
          <p:cNvPr id="85" name="Oval 84"/>
          <p:cNvSpPr/>
          <p:nvPr/>
        </p:nvSpPr>
        <p:spPr>
          <a:xfrm>
            <a:off x="7223760" y="57607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80960" y="578815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转向矩阵图</a:t>
            </a:r>
          </a:p>
        </p:txBody>
      </p:sp>
      <p:sp>
        <p:nvSpPr>
          <p:cNvPr id="87" name="Oval 86"/>
          <p:cNvSpPr/>
          <p:nvPr/>
        </p:nvSpPr>
        <p:spPr>
          <a:xfrm>
            <a:off x="9326880" y="576072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578815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排队长度趋势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典型应用场景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TYPICAL APPLICATION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城市干道监测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B8D"/>
                </a:solidFill>
                <a:latin typeface="Calibri"/>
              </a:defRPr>
            </a:pPr>
            <a:r>
              <a:t>URBAN ARTERIAL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巡飞模式覆盖 2-5km 城市主干道，</a:t>
            </a:r>
            <a:br/>
            <a:r>
              <a:t>实时采集车流量、速度、密度等</a:t>
            </a:r>
            <a:br/>
            <a:r>
              <a:t>宏观交通流参数。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交通拥堵预警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OD 矩阵估计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信号配时优化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37160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5087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枢纽交叉口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7830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B8D"/>
                </a:solidFill>
                <a:latin typeface="Calibri"/>
              </a:defRPr>
            </a:pPr>
            <a:r>
              <a:t>KEY INTERSECTION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031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悬停模式精细化检测信号控制</a:t>
            </a:r>
            <a:br/>
            <a:r>
              <a:t>交叉口，输出转向矩阵、车道级</a:t>
            </a:r>
            <a:br/>
            <a:r>
              <a:t>指标和排队长度。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15468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信号方案评估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15468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渠化优化建议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15468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服务水平评级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37160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15087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施工绕行评估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7830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B8D"/>
                </a:solidFill>
                <a:latin typeface="Calibri"/>
              </a:defRPr>
            </a:pPr>
            <a:r>
              <a:t>DETOUR 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1031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快速部署无人机对施工区域</a:t>
            </a:r>
            <a:br/>
            <a:r>
              <a:t>周边路网进行交通影响评估，</a:t>
            </a:r>
            <a:br/>
            <a:r>
              <a:t>量化绕行方案效果。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交通影响分析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绕行效率评估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315468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318211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公众出行引导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02336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68880" y="41605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41605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大型活动保障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4348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B8D"/>
                </a:solidFill>
                <a:latin typeface="Calibri"/>
              </a:defRPr>
            </a:pPr>
            <a:r>
              <a:t>EVENT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75488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赛事/展会/演唱会等场景，</a:t>
            </a:r>
            <a:br/>
            <a:r>
              <a:t>无人机实时监控周边交通，</a:t>
            </a:r>
            <a:br/>
            <a:r>
              <a:t>支撑交通疏导决策。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68880" y="580644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实时态势监控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580644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应急调度支撑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5806440"/>
            <a:ext cx="100584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事后复盘分析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402336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09360" y="41605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1605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交通安全审计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4348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B8D"/>
                </a:solidFill>
                <a:latin typeface="Calibri"/>
              </a:defRPr>
            </a:pPr>
            <a:r>
              <a:t>SAFETY AUDIT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75488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机非冲突检测能力支撑交通</a:t>
            </a:r>
            <a:br/>
            <a:r>
              <a:t>安全审计，量化安全风险，</a:t>
            </a:r>
            <a:br/>
            <a:r>
              <a:t>输出改善建议依据。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580644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冲突热点识别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06640" y="580644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安全改善评估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03920" y="5806440"/>
            <a:ext cx="100584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0" y="5833872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事故预防预警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项目价值与差异化优势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PROJECT VALUE &amp; COMPETITIVE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核心价值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303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8B57"/>
                </a:solidFill>
                <a:latin typeface="Calibri"/>
              </a:defRPr>
            </a:pPr>
            <a:r>
              <a:t>降本 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相比传统人工路测 + 固定摄像头方案，</a:t>
            </a:r>
            <a:br/>
            <a:r>
              <a:t>综合采集成本降低 70% 以上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5303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73152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C7293"/>
                </a:solidFill>
                <a:latin typeface="Calibri"/>
              </a:defRPr>
            </a:pPr>
            <a:r>
              <a:t>提效 10x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单架无人机日覆盖 50+ 交叉口，</a:t>
            </a:r>
            <a:br/>
            <a:r>
              <a:t>效率是传统人工巡检的 10 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303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731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全要素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6 大类 20+ 交通指标一次采集，</a:t>
            </a:r>
            <a:br/>
            <a:r>
              <a:t>打破传统设备单一维度限制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80"/>
            <a:ext cx="5303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983480"/>
            <a:ext cx="73152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6C00"/>
                </a:solidFill>
                <a:latin typeface="Calibri"/>
              </a:defRPr>
            </a:pPr>
            <a:r>
              <a:t>零基建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无需安装路侧设备/地磁/线圈，</a:t>
            </a:r>
            <a:br/>
            <a:r>
              <a:t>即飞即用、灵活部署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差异化对比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28800"/>
            <a:ext cx="53035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856231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对比维度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856231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传统方案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1856231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本方案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3591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部署成本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591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高（路侧设备）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3591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低（即飞即用）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788920"/>
            <a:ext cx="5303520" cy="4572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覆盖范围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固定点位/局部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路段+交叉口全域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29184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数据维度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流量/速度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20+ 全要素指标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94760"/>
            <a:ext cx="5303520" cy="4572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679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机动性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8679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固定安装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8679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按需灵活调度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3708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机非冲突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3708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无法检测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3708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TTC 主动预警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800600"/>
            <a:ext cx="5303520" cy="4572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8737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扩展性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737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逐点扩建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8737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8B57"/>
                </a:solidFill>
                <a:latin typeface="Calibri"/>
              </a:defRPr>
            </a:pPr>
            <a:r>
              <a:t>增机即扩展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943600"/>
            <a:ext cx="10972800" cy="502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971032"/>
            <a:ext cx="106070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核心价值主张：用 1/3 的成本，获取 10 倍的数据覆盖与维度，实现交通态势的全要素智能感知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实施路径与交付里程碑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IMPLEMENTATION ROADMAP &amp;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106984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32004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C7293"/>
                </a:solidFill>
                <a:latin typeface="Calibri"/>
              </a:defRPr>
            </a:pPr>
            <a:r>
              <a:t>第1-2周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01168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需求确认</a:t>
            </a:r>
            <a:br/>
            <a:r>
              <a:t>&amp; 方案设计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606040"/>
            <a:ext cx="27432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2011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23360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4164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需求规格冻结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62272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系统架构评审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901184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1947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测试场景定义</a:t>
            </a:r>
          </a:p>
        </p:txBody>
      </p:sp>
      <p:sp>
        <p:nvSpPr>
          <p:cNvPr id="21" name="Oval 20"/>
          <p:cNvSpPr/>
          <p:nvPr/>
        </p:nvSpPr>
        <p:spPr>
          <a:xfrm>
            <a:off x="3566160" y="32004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1371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第3-5周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1737360"/>
            <a:ext cx="201168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17830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核心算法</a:t>
            </a:r>
            <a:br/>
            <a:r>
              <a:t>开发联调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606040"/>
            <a:ext cx="2743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2608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26080" y="3840480"/>
            <a:ext cx="2011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3240" y="4023360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04164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YOLO 模型训练</a:t>
            </a:r>
          </a:p>
        </p:txBody>
      </p:sp>
      <p:sp>
        <p:nvSpPr>
          <p:cNvPr id="30" name="Oval 29"/>
          <p:cNvSpPr/>
          <p:nvPr/>
        </p:nvSpPr>
        <p:spPr>
          <a:xfrm>
            <a:off x="3063240" y="4462272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480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跟踪算法集成</a:t>
            </a:r>
          </a:p>
        </p:txBody>
      </p:sp>
      <p:sp>
        <p:nvSpPr>
          <p:cNvPr id="32" name="Oval 31"/>
          <p:cNvSpPr/>
          <p:nvPr/>
        </p:nvSpPr>
        <p:spPr>
          <a:xfrm>
            <a:off x="3063240" y="4901184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91947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运动补偿验证</a:t>
            </a:r>
          </a:p>
        </p:txBody>
      </p:sp>
      <p:sp>
        <p:nvSpPr>
          <p:cNvPr id="34" name="Oval 33"/>
          <p:cNvSpPr/>
          <p:nvPr/>
        </p:nvSpPr>
        <p:spPr>
          <a:xfrm>
            <a:off x="5760720" y="32004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1371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C7293"/>
                </a:solidFill>
                <a:latin typeface="Calibri"/>
              </a:defRPr>
            </a:pPr>
            <a:r>
              <a:t>第6-8周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1737360"/>
            <a:ext cx="201168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7830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平台集成</a:t>
            </a:r>
            <a:br/>
            <a:r>
              <a:t>&amp; 端到端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606040"/>
            <a:ext cx="27432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2064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3840480"/>
            <a:ext cx="2011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7800" y="4023360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04164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Kafka 管道对接</a:t>
            </a:r>
          </a:p>
        </p:txBody>
      </p:sp>
      <p:sp>
        <p:nvSpPr>
          <p:cNvPr id="43" name="Oval 42"/>
          <p:cNvSpPr/>
          <p:nvPr/>
        </p:nvSpPr>
        <p:spPr>
          <a:xfrm>
            <a:off x="5257800" y="4462272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4480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API 接口开发</a:t>
            </a:r>
          </a:p>
        </p:txBody>
      </p:sp>
      <p:sp>
        <p:nvSpPr>
          <p:cNvPr id="45" name="Oval 44"/>
          <p:cNvSpPr/>
          <p:nvPr/>
        </p:nvSpPr>
        <p:spPr>
          <a:xfrm>
            <a:off x="5257800" y="4901184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491947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前端看板搭建</a:t>
            </a:r>
          </a:p>
        </p:txBody>
      </p:sp>
      <p:sp>
        <p:nvSpPr>
          <p:cNvPr id="47" name="Oval 46"/>
          <p:cNvSpPr/>
          <p:nvPr/>
        </p:nvSpPr>
        <p:spPr>
          <a:xfrm>
            <a:off x="7955280" y="32004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1371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alibri"/>
              </a:defRPr>
            </a:pPr>
            <a:r>
              <a:t>第9-10周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1737360"/>
            <a:ext cx="201168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17830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现场部署</a:t>
            </a:r>
            <a:br/>
            <a:r>
              <a:t>&amp; 验收测试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20" y="2606040"/>
            <a:ext cx="2743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1520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0" y="3840480"/>
            <a:ext cx="2011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52360" y="4023360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404164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真实场景试飞</a:t>
            </a:r>
          </a:p>
        </p:txBody>
      </p:sp>
      <p:sp>
        <p:nvSpPr>
          <p:cNvPr id="56" name="Oval 55"/>
          <p:cNvSpPr/>
          <p:nvPr/>
        </p:nvSpPr>
        <p:spPr>
          <a:xfrm>
            <a:off x="7452360" y="4462272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4480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性能基准测试</a:t>
            </a:r>
          </a:p>
        </p:txBody>
      </p:sp>
      <p:sp>
        <p:nvSpPr>
          <p:cNvPr id="58" name="Oval 57"/>
          <p:cNvSpPr/>
          <p:nvPr/>
        </p:nvSpPr>
        <p:spPr>
          <a:xfrm>
            <a:off x="7452360" y="4901184"/>
            <a:ext cx="228600" cy="228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491947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49项 E2E 测试</a:t>
            </a:r>
          </a:p>
        </p:txBody>
      </p:sp>
      <p:sp>
        <p:nvSpPr>
          <p:cNvPr id="60" name="Oval 59"/>
          <p:cNvSpPr/>
          <p:nvPr/>
        </p:nvSpPr>
        <p:spPr>
          <a:xfrm>
            <a:off x="10149840" y="32004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1371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C7293"/>
                </a:solidFill>
                <a:latin typeface="Calibri"/>
              </a:defRPr>
            </a:pPr>
            <a:r>
              <a:t>第11-12周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1737360"/>
            <a:ext cx="201168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17830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交付上线</a:t>
            </a:r>
            <a:br/>
            <a:r>
              <a:t>&amp; 运维交接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2606040"/>
            <a:ext cx="27432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0976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09760" y="3840480"/>
            <a:ext cx="2011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646920" y="4023360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66960" y="404164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正式交付部署</a:t>
            </a:r>
          </a:p>
        </p:txBody>
      </p:sp>
      <p:sp>
        <p:nvSpPr>
          <p:cNvPr id="69" name="Oval 68"/>
          <p:cNvSpPr/>
          <p:nvPr/>
        </p:nvSpPr>
        <p:spPr>
          <a:xfrm>
            <a:off x="9646920" y="4462272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66960" y="44805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运维培训交接</a:t>
            </a:r>
          </a:p>
        </p:txBody>
      </p:sp>
      <p:sp>
        <p:nvSpPr>
          <p:cNvPr id="71" name="Oval 70"/>
          <p:cNvSpPr/>
          <p:nvPr/>
        </p:nvSpPr>
        <p:spPr>
          <a:xfrm>
            <a:off x="9646920" y="4901184"/>
            <a:ext cx="228600" cy="228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66960" y="491947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SLA 运维保障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noFill/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58064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质量保障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60350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49 项端到端测试用例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66160" y="58064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性能基线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66160" y="60350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CPU 3min / GPU 1min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58064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可用率 SLA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60350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99.9% 平台可用性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58064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交付标准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60350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全量 PASS 方可上线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技术验证与测试成果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TECHNICAL VALIDATION &amp; TEST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端到端测试验证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246888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E8B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测试用例全通过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920240"/>
            <a:ext cx="24688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C729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零失败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24688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65A82"/>
                </a:solidFill>
                <a:latin typeface="Calibri"/>
              </a:defRPr>
            </a:pPr>
            <a:r>
              <a:t>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30fps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视频分辨率帧率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47472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474720"/>
            <a:ext cx="24688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61188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C7293"/>
                </a:solidFill>
                <a:latin typeface="Calibri"/>
              </a:defRPr>
            </a:pPr>
            <a:r>
              <a:t>29,741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1148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3891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SRT 遥测记录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测试覆盖维度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92024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201168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965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视频检测管道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19456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YOLO 推理 &gt; ByteTrack 跟踪 &gt; 坐标转换 &gt; 指标计算全链路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56032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265176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6060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SRT 遥测解析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83464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29,741 条遥测记录精准匹配，帧级同步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0040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0" y="329184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2461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运动补偿算法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47472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GPS 锚定世界坐标，消除无人机运动干扰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84048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0" y="393192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88620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Kafka 数据管道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11480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多 Topic 消息生产/消费，InfluxDB 写入验证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48056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83680" y="457200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45262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平台 API 接口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75488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43 条 REST 路由，WebSocket 实时推送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12064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83680" y="521208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51663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冲突检测引擎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39496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TTC 计算 + 空间接近度，事件链式上报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76072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83680" y="585216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58064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Grafana 看板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603504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数据端到端可视化，实时刷新验证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943600"/>
            <a:ext cx="10972800" cy="502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" y="6016752"/>
            <a:ext cx="19202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60350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DJI M300 无人机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08960" y="6016752"/>
            <a:ext cx="19202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60350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4K@30fps 视频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0" y="6016752"/>
            <a:ext cx="19202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60350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SRT 遥测字幕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80" y="6016752"/>
            <a:ext cx="19202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60350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16.5 分钟测试片段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6016752"/>
            <a:ext cx="19202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60350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inter_xqh 交叉口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商业模式与合作方式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BUSINESS MODEL &amp; COOPERATION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66160" cy="9144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661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C729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项目制交付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28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EE"/>
                </a:solidFill>
                <a:latin typeface="Calibri"/>
              </a:defRPr>
            </a:pPr>
            <a:r>
              <a:t>PROJECT-BASED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针对单个城市/区域的交通检测项目，</a:t>
            </a:r>
            <a:br/>
            <a:r>
              <a:t>一次性交付完整的系统部署与</a:t>
            </a:r>
            <a:br/>
            <a:r>
              <a:t>技术转移。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47472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9300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需求调研 &gt; 方案设计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2336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4164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系统开发 &gt; 现场部署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7200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验收测试 &gt; 培训交接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12064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3892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质保期运维保障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1371600"/>
            <a:ext cx="3566160" cy="9144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6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65A8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SaaS 订阅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1828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EE"/>
                </a:solidFill>
                <a:latin typeface="Calibri"/>
              </a:defRPr>
            </a:pPr>
            <a:r>
              <a:t>SUBSCRIPTION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平台化运营模式，按需订阅</a:t>
            </a:r>
            <a:br/>
            <a:r>
              <a:t>无人机交通检测服务，</a:t>
            </a:r>
            <a:br/>
            <a:r>
              <a:t>弹性扩缩容。</a:t>
            </a:r>
          </a:p>
        </p:txBody>
      </p:sp>
      <p:sp>
        <p:nvSpPr>
          <p:cNvPr id="29" name="Oval 28"/>
          <p:cNvSpPr/>
          <p:nvPr/>
        </p:nvSpPr>
        <p:spPr>
          <a:xfrm>
            <a:off x="4526280" y="347472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49300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按月/按次计费</a:t>
            </a:r>
          </a:p>
        </p:txBody>
      </p:sp>
      <p:sp>
        <p:nvSpPr>
          <p:cNvPr id="31" name="Oval 30"/>
          <p:cNvSpPr/>
          <p:nvPr/>
        </p:nvSpPr>
        <p:spPr>
          <a:xfrm>
            <a:off x="4526280" y="40233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04164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多租户隔离部署</a:t>
            </a:r>
          </a:p>
        </p:txBody>
      </p:sp>
      <p:sp>
        <p:nvSpPr>
          <p:cNvPr id="33" name="Oval 32"/>
          <p:cNvSpPr/>
          <p:nvPr/>
        </p:nvSpPr>
        <p:spPr>
          <a:xfrm>
            <a:off x="4526280" y="457200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59028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持续迭代升级</a:t>
            </a:r>
          </a:p>
        </p:txBody>
      </p:sp>
      <p:sp>
        <p:nvSpPr>
          <p:cNvPr id="35" name="Oval 34"/>
          <p:cNvSpPr/>
          <p:nvPr/>
        </p:nvSpPr>
        <p:spPr>
          <a:xfrm>
            <a:off x="4526280" y="512064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13892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7x24 技术支持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1371600"/>
            <a:ext cx="3566160" cy="9144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C729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技术授权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1828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EE"/>
                </a:solidFill>
                <a:latin typeface="Calibri"/>
              </a:defRPr>
            </a:pPr>
            <a:r>
              <a:t>LICENSE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46888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核心算法与平台技术授权，</a:t>
            </a:r>
            <a:br/>
            <a:r>
              <a:t>支持合作伙伴二次开发，</a:t>
            </a:r>
            <a:br/>
            <a:r>
              <a:t>快速构建行业解决方案。</a:t>
            </a:r>
          </a:p>
        </p:txBody>
      </p:sp>
      <p:sp>
        <p:nvSpPr>
          <p:cNvPr id="44" name="Oval 43"/>
          <p:cNvSpPr/>
          <p:nvPr/>
        </p:nvSpPr>
        <p:spPr>
          <a:xfrm>
            <a:off x="8366760" y="347472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49300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核心算法 SDK 授权</a:t>
            </a:r>
          </a:p>
        </p:txBody>
      </p:sp>
      <p:sp>
        <p:nvSpPr>
          <p:cNvPr id="46" name="Oval 45"/>
          <p:cNvSpPr/>
          <p:nvPr/>
        </p:nvSpPr>
        <p:spPr>
          <a:xfrm>
            <a:off x="8366760" y="402336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04164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平台源码定制授权</a:t>
            </a:r>
          </a:p>
        </p:txBody>
      </p:sp>
      <p:sp>
        <p:nvSpPr>
          <p:cNvPr id="48" name="Oval 47"/>
          <p:cNvSpPr/>
          <p:nvPr/>
        </p:nvSpPr>
        <p:spPr>
          <a:xfrm>
            <a:off x="8366760" y="457200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59028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技术培训与赋能</a:t>
            </a:r>
          </a:p>
        </p:txBody>
      </p:sp>
      <p:sp>
        <p:nvSpPr>
          <p:cNvPr id="50" name="Oval 49"/>
          <p:cNvSpPr/>
          <p:nvPr/>
        </p:nvSpPr>
        <p:spPr>
          <a:xfrm>
            <a:off x="8366760" y="512064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138928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联合品牌合作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6263640"/>
            <a:ext cx="1124712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281928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灵活的合作模式  /  成熟的技术底座  /  丰富的行业经验  /  完善的交付保障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8D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914400"/>
            <a:ext cx="2286000" cy="2286000"/>
          </a:xfrm>
          <a:prstGeom prst="rect">
            <a:avLst/>
          </a:prstGeom>
          <a:solidFill>
            <a:srgbClr val="08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371600"/>
            <a:ext cx="1828800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966960" y="1691640"/>
            <a:ext cx="1097280" cy="109728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UAV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携手共建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C7293"/>
                </a:solidFill>
                <a:latin typeface="Calibri"/>
              </a:defRPr>
            </a:pPr>
            <a:r>
              <a:t>智慧交通新生态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3657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以无人机 + AI 技术为核心，打造城市交通全要素智能感知平台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赋能交通管理决策，推动智慧城市建设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1737360" cy="5029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73752"/>
            <a:ext cx="17373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技术共创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846320"/>
            <a:ext cx="1737360" cy="5029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873752"/>
            <a:ext cx="17373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场景共建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846320"/>
            <a:ext cx="1737360" cy="5029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873752"/>
            <a:ext cx="17373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数据共享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846320"/>
            <a:ext cx="1737360" cy="5029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873752"/>
            <a:ext cx="17373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价值共赢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914400"/>
          </a:xfrm>
          <a:prstGeom prst="rect">
            <a:avLst/>
          </a:prstGeom>
          <a:solidFill>
            <a:srgbClr val="0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C7293"/>
                </a:solidFill>
                <a:latin typeface="Calibri"/>
              </a:defRPr>
            </a:pPr>
            <a:r>
              <a:t>THANK YOU  |  期待与您深入探讨合作机会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943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无人机交通态势感知系统  | 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6575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