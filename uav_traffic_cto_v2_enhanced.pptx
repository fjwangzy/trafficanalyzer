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无人机城市交通态势感知系统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0A84FF"/>
                </a:solidFill>
              </a:defRPr>
            </a:pPr>
            <a:r>
              <a:t>UAV-Based Urban Traffic Situation Awareness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657600"/>
            <a:ext cx="2133295" cy="45720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F5F5F7"/>
                </a:solidFill>
              </a:defRPr>
            </a:pPr>
            <a:r>
              <a:t>技术方案汇报 | CTO技术评审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86868B"/>
                </a:solidFill>
              </a:defRPr>
            </a:pPr>
            <a:r>
              <a:t>YOLO11 + ByteTrack | Kafka + InfluxDB | 双模式作业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03504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86868B"/>
                </a:solidFill>
              </a:defRPr>
            </a:pPr>
            <a:r>
              <a:t>2026.05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C1C1E"/>
                </a:solidFill>
              </a:defRPr>
            </a:pPr>
            <a:r>
              <a:t>行业痛点与现有方案局限性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A84FF"/>
                </a:solidFill>
              </a:defRPr>
            </a:pPr>
            <a:r>
              <a:t>Why UAV? — 传统交通感知方案的三大瓶颈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74720" cy="4114800"/>
          </a:xfrm>
          <a:prstGeom prst="round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📷 固定摄像头方案</a:t>
            </a:r>
          </a:p>
          <a:p>
            <a:pPr>
              <a:defRPr sz="1300"/>
            </a:pPr>
            <a:r>
              <a:t>覆盖盲区多</a:t>
            </a:r>
          </a:p>
          <a:p>
            <a:pPr>
              <a:defRPr sz="1300"/>
            </a:pPr>
            <a:r>
              <a:t>• 单摄像头覆盖角度有限（≤120°）</a:t>
            </a:r>
          </a:p>
          <a:p>
            <a:pPr>
              <a:defRPr sz="1300"/>
            </a:pPr>
            <a:r>
              <a:t>• 路口改建后需重新布线安装</a:t>
            </a:r>
          </a:p>
          <a:p>
            <a:pPr>
              <a:defRPr sz="1300"/>
            </a:pPr>
            <a:r>
              <a:t>• 透视畸变导致远端检测精度下降&gt;15%</a:t>
            </a:r>
          </a:p>
          <a:p>
            <a:pPr>
              <a:defRPr sz="1300"/>
            </a:pPr>
            <a:r>
              <a:t>• 无法灵活调度，硬件部署周期长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645920"/>
            <a:ext cx="3474720" cy="4114800"/>
          </a:xfrm>
          <a:prstGeom prst="roundRect">
            <a:avLst/>
          </a:prstGeom>
          <a:solidFill>
            <a:srgbClr val="FFF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0" y="192024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🔌 地磁/线圈检测方案</a:t>
            </a:r>
          </a:p>
          <a:p>
            <a:pPr>
              <a:defRPr sz="1300"/>
            </a:pPr>
            <a:r>
              <a:t>维护成本高</a:t>
            </a:r>
          </a:p>
          <a:p>
            <a:pPr>
              <a:defRPr sz="1300"/>
            </a:pPr>
            <a:r>
              <a:t>• 需破路施工，影响交通通行</a:t>
            </a:r>
          </a:p>
          <a:p>
            <a:pPr>
              <a:defRPr sz="1300"/>
            </a:pPr>
            <a:r>
              <a:t>• 仅能检测通过/存在，无轨迹信息</a:t>
            </a:r>
          </a:p>
          <a:p>
            <a:pPr>
              <a:defRPr sz="1300"/>
            </a:pPr>
            <a:r>
              <a:t>• 传感器老化后精度衰减严重</a:t>
            </a:r>
          </a:p>
          <a:p>
            <a:pPr>
              <a:defRPr sz="1300"/>
            </a:pPr>
            <a:r>
              <a:t>• 无法识别车辆类型与行驶方向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1645920"/>
            <a:ext cx="3474720" cy="4114800"/>
          </a:xfrm>
          <a:prstGeom prst="round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0" y="192024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🚗 浮动车/GPS方案</a:t>
            </a:r>
          </a:p>
          <a:p>
            <a:pPr>
              <a:defRPr sz="1300"/>
            </a:pPr>
            <a:r>
              <a:t>数据粒度粗</a:t>
            </a:r>
          </a:p>
          <a:p>
            <a:pPr>
              <a:defRPr sz="1300"/>
            </a:pPr>
            <a:r>
              <a:t>• 依赖营运车辆GPS，覆盖率&lt;15%</a:t>
            </a:r>
          </a:p>
          <a:p>
            <a:pPr>
              <a:defRPr sz="1300"/>
            </a:pPr>
            <a:r>
              <a:t>• 采样间隔5-30s，无法检测瞬时事件</a:t>
            </a:r>
          </a:p>
          <a:p>
            <a:pPr>
              <a:defRPr sz="1300"/>
            </a:pPr>
            <a:r>
              <a:t>• 无车道级精度，无法区分转向</a:t>
            </a:r>
          </a:p>
          <a:p>
            <a:pPr>
              <a:defRPr sz="1300"/>
            </a:pPr>
            <a:r>
              <a:t>• 行人/非机动车完全不可见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669280"/>
            <a:ext cx="10728655" cy="82296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5669280"/>
            <a:ext cx="137160" cy="822960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806440"/>
            <a:ext cx="10241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C1C1E"/>
                </a:solidFill>
              </a:defRPr>
            </a:pPr>
            <a:r>
              <a:t>💡 核心矛盾：交管部门需要「全路段、全时段、全要素」的交通态势数据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6126480"/>
            <a:ext cx="10241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6868B"/>
                </a:solidFill>
              </a:defRPr>
            </a:pPr>
            <a:r>
              <a:t>而传统方案在覆盖灵活性、检测精度和部署成本之间存在不可调和的三角矛盾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C1C1E"/>
                </a:solidFill>
              </a:defRPr>
            </a:pPr>
            <a:r>
              <a:t>无人机交通态势感知 — 核心价值主张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A84FF"/>
                </a:solidFill>
              </a:defRPr>
            </a:pPr>
            <a:r>
              <a:t>一种机动、精确、全要素的新型交通感知基础设施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029200" cy="2011680"/>
          </a:xfrm>
          <a:prstGeom prst="roundRect">
            <a:avLst/>
          </a:prstGeom>
          <a:solidFill>
            <a:srgbClr val="EB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480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🛩 机动覆盖</a:t>
            </a:r>
          </a:p>
          <a:p>
            <a:pPr>
              <a:defRPr sz="1400"/>
            </a:pPr>
            <a:r>
              <a:t>• 5分钟抵达任意路口</a:t>
            </a:r>
          </a:p>
          <a:p>
            <a:pPr>
              <a:defRPr sz="1400"/>
            </a:pPr>
            <a:r>
              <a:t>• 固定摄像头盲区即时接管</a:t>
            </a:r>
          </a:p>
          <a:p>
            <a:pPr>
              <a:defRPr sz="1400"/>
            </a:pPr>
            <a:r>
              <a:t>• 无需破路施工布线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029200" cy="2011680"/>
          </a:xfrm>
          <a:prstGeom prst="roundRect">
            <a:avLst/>
          </a:prstGeom>
          <a:solidFill>
            <a:srgbClr val="F0F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480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📊 全要素感知</a:t>
            </a:r>
          </a:p>
          <a:p>
            <a:pPr>
              <a:defRPr sz="1400"/>
            </a:pPr>
            <a:r>
              <a:t>• 流量/车速/排队/车头时距</a:t>
            </a:r>
          </a:p>
          <a:p>
            <a:pPr>
              <a:defRPr sz="1400"/>
            </a:pPr>
            <a:r>
              <a:t>• 转向分类/轨迹还原</a:t>
            </a:r>
          </a:p>
          <a:p>
            <a:pPr>
              <a:defRPr sz="1400"/>
            </a:pPr>
            <a:r>
              <a:t>• 机非冲突事件检测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5029200" cy="2011680"/>
          </a:xfrm>
          <a:prstGeom prst="round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023360"/>
            <a:ext cx="4480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⚡ 秒级告警</a:t>
            </a:r>
          </a:p>
          <a:p>
            <a:pPr>
              <a:defRPr sz="1400"/>
            </a:pPr>
            <a:r>
              <a:t>• TTC&lt;1s 触发P1告警</a:t>
            </a:r>
          </a:p>
          <a:p>
            <a:pPr>
              <a:defRPr sz="1400"/>
            </a:pPr>
            <a:r>
              <a:t>• 异常停车/逆行识别</a:t>
            </a:r>
          </a:p>
          <a:p>
            <a:pPr>
              <a:defRPr sz="1400"/>
            </a:pPr>
            <a:r>
              <a:t>• Webhook推送&lt;30s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840480"/>
            <a:ext cx="5029200" cy="2011680"/>
          </a:xfrm>
          <a:prstGeom prst="round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4023360"/>
            <a:ext cx="4480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🔄 全天候运行</a:t>
            </a:r>
          </a:p>
          <a:p>
            <a:pPr>
              <a:defRPr sz="1400"/>
            </a:pPr>
            <a:r>
              <a:t>• 热成像+可见光双通道</a:t>
            </a:r>
          </a:p>
          <a:p>
            <a:pPr>
              <a:defRPr sz="1400"/>
            </a:pPr>
            <a:r>
              <a:t>• 夜间/大雾场景覆盖</a:t>
            </a:r>
          </a:p>
          <a:p>
            <a:pPr>
              <a:defRPr sz="1400"/>
            </a:pPr>
            <a:r>
              <a:t>• RTK厘米级定位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754880"/>
            <a:ext cx="2560320" cy="1188720"/>
          </a:xfrm>
          <a:prstGeom prst="roundRect">
            <a:avLst/>
          </a:prstGeom>
          <a:solidFill>
            <a:srgbClr val="F5F5F7"/>
          </a:solidFill>
          <a:ln w="25400"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A84FF"/>
                </a:solidFill>
              </a:defRPr>
            </a:pPr>
            <a:r>
              <a:t>35+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4406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86868B"/>
                </a:solidFill>
              </a:defRPr>
            </a:pPr>
            <a:r>
              <a:t>FPS处理帧率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66160" y="4754880"/>
            <a:ext cx="2560320" cy="1188720"/>
          </a:xfrm>
          <a:prstGeom prst="roundRect">
            <a:avLst/>
          </a:prstGeom>
          <a:solidFill>
            <a:srgbClr val="F5F5F7"/>
          </a:solidFill>
          <a:ln w="25400"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4904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A84FF"/>
                </a:solidFill>
              </a:defRPr>
            </a:pPr>
            <a:r>
              <a:t>±2m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40" y="54406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86868B"/>
                </a:solidFill>
              </a:defRPr>
            </a:pPr>
            <a:r>
              <a:t>GPS定位精度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4754880"/>
            <a:ext cx="2560320" cy="1188720"/>
          </a:xfrm>
          <a:prstGeom prst="roundRect">
            <a:avLst/>
          </a:prstGeom>
          <a:solidFill>
            <a:srgbClr val="F5F5F7"/>
          </a:solidFill>
          <a:ln w="25400"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A84FF"/>
                </a:solidFill>
              </a:defRPr>
            </a:pPr>
            <a:r>
              <a:t>43路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54406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86868B"/>
                </a:solidFill>
              </a:defRPr>
            </a:pPr>
            <a:r>
              <a:t>REST API端点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35440" y="4754880"/>
            <a:ext cx="2560320" cy="1188720"/>
          </a:xfrm>
          <a:prstGeom prst="roundRect">
            <a:avLst/>
          </a:prstGeom>
          <a:solidFill>
            <a:srgbClr val="F5F5F7"/>
          </a:solidFill>
          <a:ln w="25400"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A84FF"/>
                </a:solidFill>
              </a:defRPr>
            </a:pPr>
            <a:r>
              <a:t>&lt;1s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54406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86868B"/>
                </a:solidFill>
              </a:defRPr>
            </a:pPr>
            <a:r>
              <a:t>端到端延迟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86868B"/>
                </a:solidFill>
              </a:defRPr>
            </a:pPr>
            <a:r>
              <a:t>80%代码复用成熟开源项目 TrafficAnalyzer → 新增风险集中在3个核心节点（IPM/EIS/VLM），工程可控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C1C1E"/>
                </a:solidFill>
              </a:defRPr>
            </a:pPr>
            <a:r>
              <a:t>双模式作业架构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A84FF"/>
                </a:solidFill>
              </a:defRPr>
            </a:pPr>
            <a:r>
              <a:t>巡飞模式（路段级）× 悬停模式（交叉口级）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029200" cy="4389120"/>
          </a:xfrm>
          <a:prstGeom prst="roundRect">
            <a:avLst/>
          </a:prstGeom>
          <a:solidFill>
            <a:srgbClr val="F5F5F7"/>
          </a:solidFill>
          <a:ln w="25400"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480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✈️ 巡飞模式 — 路段级覆盖</a:t>
            </a:r>
          </a:p>
          <a:p>
            <a:pPr>
              <a:defRPr sz="1300"/>
            </a:pPr>
          </a:p>
          <a:p>
            <a:pPr>
              <a:defRPr sz="1300"/>
            </a:pPr>
            <a:r>
              <a:t>作业参数</a:t>
            </a:r>
          </a:p>
          <a:p>
            <a:pPr>
              <a:defRPr sz="1300"/>
            </a:pPr>
            <a:r>
              <a:t>• 飞行高度：80-160m AGL</a:t>
            </a:r>
          </a:p>
          <a:p>
            <a:pPr>
              <a:defRPr sz="1300"/>
            </a:pPr>
            <a:r>
              <a:t>• 飞行速度：8-12 m/s</a:t>
            </a:r>
          </a:p>
          <a:p>
            <a:pPr>
              <a:defRPr sz="1300"/>
            </a:pPr>
            <a:r>
              <a:t>• 覆盖范围：2-5km路段</a:t>
            </a:r>
          </a:p>
          <a:p>
            <a:pPr>
              <a:defRPr sz="1300"/>
            </a:pPr>
            <a:r>
              <a:t>• 单架次时长：15-25min</a:t>
            </a:r>
          </a:p>
          <a:p>
            <a:pPr>
              <a:defRPr sz="1300"/>
            </a:pPr>
          </a:p>
          <a:p>
            <a:pPr>
              <a:defRPr sz="1300"/>
            </a:pPr>
            <a:r>
              <a:t>检测能力</a:t>
            </a:r>
          </a:p>
          <a:p>
            <a:pPr>
              <a:defRPr sz="1300"/>
            </a:pPr>
            <a:r>
              <a:t>• 路段交通流量统计（辆/分钟）</a:t>
            </a:r>
          </a:p>
          <a:p>
            <a:pPr>
              <a:defRPr sz="1300"/>
            </a:pPr>
            <a:r>
              <a:t>• 区间平均车速估计（km/h）</a:t>
            </a:r>
          </a:p>
          <a:p>
            <a:pPr>
              <a:defRPr sz="1300"/>
            </a:pPr>
            <a:r>
              <a:t>• 转向车流分类</a:t>
            </a:r>
          </a:p>
          <a:p>
            <a:pPr>
              <a:defRPr sz="1300"/>
            </a:pPr>
            <a:r>
              <a:t>• 机非冲突事件检测</a:t>
            </a:r>
          </a:p>
          <a:p>
            <a:pPr>
              <a:defRPr sz="1300"/>
            </a:pPr>
          </a:p>
          <a:p>
            <a:pPr>
              <a:defRPr sz="1300"/>
            </a:pPr>
            <a:r>
              <a:t>技术特点</a:t>
            </a:r>
          </a:p>
          <a:p>
            <a:pPr>
              <a:defRPr sz="1300"/>
            </a:pPr>
            <a:r>
              <a:t>• GPS锚定世界坐标系</a:t>
            </a:r>
          </a:p>
          <a:p>
            <a:pPr>
              <a:defRPr sz="1300"/>
            </a:pPr>
            <a:r>
              <a:t>• 零配置输出方向流量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029200" cy="4389120"/>
          </a:xfrm>
          <a:prstGeom prst="roundRect">
            <a:avLst/>
          </a:prstGeom>
          <a:solidFill>
            <a:srgbClr val="F5F5F7"/>
          </a:solidFill>
          <a:ln w="25400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480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🎯 悬停模式 — 交叉口精细化</a:t>
            </a:r>
          </a:p>
          <a:p>
            <a:pPr>
              <a:defRPr sz="1300"/>
            </a:pPr>
          </a:p>
          <a:p>
            <a:pPr>
              <a:defRPr sz="1300"/>
            </a:pPr>
            <a:r>
              <a:t>作业参数</a:t>
            </a:r>
          </a:p>
          <a:p>
            <a:pPr>
              <a:defRPr sz="1300"/>
            </a:pPr>
            <a:r>
              <a:t>• 悬停高度：50-120m AGL</a:t>
            </a:r>
          </a:p>
          <a:p>
            <a:pPr>
              <a:defRPr sz="1300"/>
            </a:pPr>
            <a:r>
              <a:t>• 悬停精度：±0.5m</a:t>
            </a:r>
          </a:p>
          <a:p>
            <a:pPr>
              <a:defRPr sz="1300"/>
            </a:pPr>
            <a:r>
              <a:t>• 覆盖范围：单路口全域</a:t>
            </a:r>
          </a:p>
          <a:p>
            <a:pPr>
              <a:defRPr sz="1300"/>
            </a:pPr>
            <a:r>
              <a:t>• 单架次时长：20-40min</a:t>
            </a:r>
          </a:p>
          <a:p>
            <a:pPr>
              <a:defRPr sz="1300"/>
            </a:pPr>
          </a:p>
          <a:p>
            <a:pPr>
              <a:defRPr sz="1300"/>
            </a:pPr>
            <a:r>
              <a:t>检测能力</a:t>
            </a:r>
          </a:p>
          <a:p>
            <a:pPr>
              <a:defRPr sz="1300"/>
            </a:pPr>
            <a:r>
              <a:t>• 车道级流量/车速/排队</a:t>
            </a:r>
          </a:p>
          <a:p>
            <a:pPr>
              <a:defRPr sz="1300"/>
            </a:pPr>
            <a:r>
              <a:t>• 精确转向轨迹还原</a:t>
            </a:r>
          </a:p>
          <a:p>
            <a:pPr>
              <a:defRPr sz="1300"/>
            </a:pPr>
            <a:r>
              <a:t>• 进出口道路车辆归属</a:t>
            </a:r>
          </a:p>
          <a:p>
            <a:pPr>
              <a:defRPr sz="1300"/>
            </a:pPr>
            <a:r>
              <a:t>• 冲突事件精确定位</a:t>
            </a:r>
          </a:p>
          <a:p>
            <a:pPr>
              <a:defRPr sz="1300"/>
            </a:pPr>
          </a:p>
          <a:p>
            <a:pPr>
              <a:defRPr sz="1300"/>
            </a:pPr>
            <a:r>
              <a:t>技术特点</a:t>
            </a:r>
          </a:p>
          <a:p>
            <a:pPr>
              <a:defRPr sz="1300"/>
            </a:pPr>
            <a:r>
              <a:t>• 遥测驱动自动标定</a:t>
            </a:r>
          </a:p>
          <a:p>
            <a:pPr>
              <a:defRPr sz="1300"/>
            </a:pPr>
            <a:r>
              <a:t>• 车道多边形预标注</a:t>
            </a:r>
          </a:p>
          <a:p>
            <a:pPr>
              <a:defRPr sz="1300"/>
            </a:pPr>
            <a:r>
              <a:t>• 云台-90°正下方锁定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C1C1E"/>
                </a:solidFill>
              </a:defRPr>
            </a:pPr>
            <a:r>
              <a:t>系统总体架构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A84FF"/>
                </a:solidFill>
              </a:defRPr>
            </a:pPr>
            <a:r>
              <a:t>四层架构：飞行平台 → 边缘计算 → 数据管道 → 业务平台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1097280"/>
          </a:xfrm>
          <a:prstGeom prst="round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37160" cy="109728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A84FF"/>
                </a:solidFill>
              </a:defRPr>
            </a:pPr>
            <a:r>
              <a:t>🚁 飞行平台层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7373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• DJI M300 RTK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RTSP图传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MQTT遥测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GPS/RTK定位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三轴云台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SRT字幕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80360"/>
            <a:ext cx="10728655" cy="1097280"/>
          </a:xfrm>
          <a:prstGeom prst="round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880360"/>
            <a:ext cx="137160" cy="1097280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971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9500"/>
                </a:solidFill>
              </a:defRPr>
            </a:pPr>
            <a:r>
              <a:t>💻 边缘计算层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971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• EIS稳定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IPM标定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YOLO11检测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ByteTrack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运动补偿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分析节点链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14800"/>
            <a:ext cx="10728655" cy="1097280"/>
          </a:xfrm>
          <a:prstGeom prst="round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4114800"/>
            <a:ext cx="137160" cy="1097280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206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C759"/>
                </a:solidFill>
              </a:defRPr>
            </a:pPr>
            <a:r>
              <a:t>📡 数据管道层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42062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• Kafka 3-Topic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Telegraf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InfluxDB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WebSocket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AlertEngine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PipelineManager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349240"/>
            <a:ext cx="10728655" cy="1097280"/>
          </a:xfrm>
          <a:prstGeom prst="round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5349240"/>
            <a:ext cx="137160" cy="10972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440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8B5CF6"/>
                </a:solidFill>
              </a:defRPr>
            </a:pPr>
            <a:r>
              <a:t>🖥 业务平台层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54406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• FastAPI 43路API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React SPA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Grafana大屏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GIS一张图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C1C1E"/>
                </a:solidFill>
              </a:defRPr>
            </a:pPr>
            <a:r>
              <a:t>核心Pipeline — 视频分析处理链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A84FF"/>
                </a:solidFill>
              </a:defRPr>
            </a:pPr>
            <a:r>
              <a:t>Node-based Architecture: 每帧流经12个功能节点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A84FF"/>
                </a:solidFill>
              </a:defRPr>
            </a:pPr>
            <a:r>
              <a:t>VideoReader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574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86868B"/>
                </a:solidFill>
              </a:defRPr>
            </a:pPr>
            <a:r>
              <a:t>视频采集</a:t>
            </a:r>
          </a:p>
          <a:p>
            <a:pPr algn="ctr">
              <a:defRPr sz="1000">
                <a:solidFill>
                  <a:srgbClr val="86868B"/>
                </a:solidFill>
              </a:defRPr>
            </a:pPr>
            <a:r>
              <a:t>遥测注入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39" y="1645920"/>
            <a:ext cx="2468880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599" y="17373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A84FF"/>
                </a:solidFill>
              </a:defRPr>
            </a:pPr>
            <a:r>
              <a:t>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599" y="20574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86868B"/>
                </a:solidFill>
              </a:defRPr>
            </a:pPr>
            <a:r>
              <a:t>YOLO11检测</a:t>
            </a:r>
          </a:p>
          <a:p>
            <a:pPr algn="ctr">
              <a:defRPr sz="1000">
                <a:solidFill>
                  <a:srgbClr val="86868B"/>
                </a:solidFill>
              </a:defRPr>
            </a:pPr>
            <a:r>
              <a:t>ByteTrack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645920"/>
            <a:ext cx="2468880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7373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A84FF"/>
                </a:solidFill>
              </a:defRPr>
            </a:pPr>
            <a:r>
              <a:t>Homography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0574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86868B"/>
                </a:solidFill>
              </a:defRPr>
            </a:pPr>
            <a:r>
              <a:t>遥测→H矩阵</a:t>
            </a:r>
          </a:p>
          <a:p>
            <a:pPr algn="ctr">
              <a:defRPr sz="1000">
                <a:solidFill>
                  <a:srgbClr val="86868B"/>
                </a:solidFill>
              </a:defRPr>
            </a:pPr>
            <a:r>
              <a:t>Nadir/Oblique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98280" y="1645920"/>
            <a:ext cx="2468880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0" y="17373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A84FF"/>
                </a:solidFill>
              </a:defRPr>
            </a:pPr>
            <a:r>
              <a:t>MotionComp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20574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86868B"/>
                </a:solidFill>
              </a:defRPr>
            </a:pPr>
            <a:r>
              <a:t>GPS锚定</a:t>
            </a:r>
          </a:p>
          <a:p>
            <a:pPr algn="ctr">
              <a:defRPr sz="1000">
                <a:solidFill>
                  <a:srgbClr val="86868B"/>
                </a:solidFill>
              </a:defRPr>
            </a:pPr>
            <a:r>
              <a:t>速度补偿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926080"/>
            <a:ext cx="2468880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0175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9500"/>
                </a:solidFill>
              </a:defRPr>
            </a:pPr>
            <a:r>
              <a:t>TrackerInfo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33756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86868B"/>
                </a:solidFill>
              </a:defRPr>
            </a:pPr>
            <a:r>
              <a:t>道路分配</a:t>
            </a:r>
          </a:p>
          <a:p>
            <a:pPr algn="ctr">
              <a:defRPr sz="1000">
                <a:solidFill>
                  <a:srgbClr val="86868B"/>
                </a:solidFill>
              </a:defRPr>
            </a:pPr>
            <a:r>
              <a:t>轨迹累积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20439" y="2926080"/>
            <a:ext cx="2468880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599" y="30175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9500"/>
                </a:solidFill>
              </a:defRPr>
            </a:pPr>
            <a:r>
              <a:t>SpeedEst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599" y="333756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86868B"/>
                </a:solidFill>
              </a:defRPr>
            </a:pPr>
            <a:r>
              <a:t>透视变换</a:t>
            </a:r>
          </a:p>
          <a:p>
            <a:pPr algn="ctr">
              <a:defRPr sz="1000">
                <a:solidFill>
                  <a:srgbClr val="86868B"/>
                </a:solidFill>
              </a:defRPr>
            </a:pPr>
            <a:r>
              <a:t>车速km/h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59" y="2926080"/>
            <a:ext cx="2468880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30175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9500"/>
                </a:solidFill>
              </a:defRPr>
            </a:pPr>
            <a:r>
              <a:t>DirectionFlow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33756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86868B"/>
                </a:solidFill>
              </a:defRPr>
            </a:pPr>
            <a:r>
              <a:t>方向分类</a:t>
            </a:r>
          </a:p>
          <a:p>
            <a:pPr algn="ctr">
              <a:defRPr sz="1000">
                <a:solidFill>
                  <a:srgbClr val="86868B"/>
                </a:solidFill>
              </a:defRPr>
            </a:pPr>
            <a:r>
              <a:t>排队检测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98280" y="2926080"/>
            <a:ext cx="2468880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40" y="30175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9500"/>
                </a:solidFill>
              </a:defRPr>
            </a:pPr>
            <a:r>
              <a:t>LaneAnalysis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333756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86868B"/>
                </a:solidFill>
              </a:defRPr>
            </a:pPr>
            <a:r>
              <a:t>车道级统计</a:t>
            </a:r>
          </a:p>
          <a:p>
            <a:pPr algn="ctr">
              <a:defRPr sz="1000">
                <a:solidFill>
                  <a:srgbClr val="86868B"/>
                </a:solidFill>
              </a:defRPr>
            </a:pPr>
            <a:r>
              <a:t>数据驱动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206240"/>
            <a:ext cx="2468880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4C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297679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4C759"/>
                </a:solidFill>
              </a:defRPr>
            </a:pPr>
            <a:r>
              <a:t>Trajectory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461772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86868B"/>
                </a:solidFill>
              </a:defRPr>
            </a:pPr>
            <a:r>
              <a:t>轨迹还原</a:t>
            </a:r>
          </a:p>
          <a:p>
            <a:pPr algn="ctr">
              <a:defRPr sz="1000">
                <a:solidFill>
                  <a:srgbClr val="86868B"/>
                </a:solidFill>
              </a:defRPr>
            </a:pPr>
            <a:r>
              <a:t>转向分类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520439" y="4206240"/>
            <a:ext cx="2468880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4C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599" y="4297679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4C759"/>
                </a:solidFill>
              </a:defRPr>
            </a:pPr>
            <a:r>
              <a:t>ConflictDet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599" y="461772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86868B"/>
                </a:solidFill>
              </a:defRPr>
            </a:pPr>
            <a:r>
              <a:t>TTC检测</a:t>
            </a:r>
          </a:p>
          <a:p>
            <a:pPr algn="ctr">
              <a:defRPr sz="1000">
                <a:solidFill>
                  <a:srgbClr val="86868B"/>
                </a:solidFill>
              </a:defRPr>
            </a:pPr>
            <a:r>
              <a:t>机非冲突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09359" y="4206240"/>
            <a:ext cx="2468880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4C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4297679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4C759"/>
                </a:solidFill>
              </a:defRPr>
            </a:pPr>
            <a:r>
              <a:t>CalcStats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461772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86868B"/>
                </a:solidFill>
              </a:defRPr>
            </a:pPr>
            <a:r>
              <a:t>统计聚合</a:t>
            </a:r>
          </a:p>
          <a:p>
            <a:pPr algn="ctr">
              <a:defRPr sz="1000">
                <a:solidFill>
                  <a:srgbClr val="86868B"/>
                </a:solidFill>
              </a:defRPr>
            </a:pPr>
            <a:r>
              <a:t>指标计算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98280" y="4206240"/>
            <a:ext cx="2468880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4C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35440" y="4297679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4C759"/>
                </a:solidFill>
              </a:defRPr>
            </a:pPr>
            <a:r>
              <a:t>KafkaProd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35440" y="461772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86868B"/>
                </a:solidFill>
              </a:defRPr>
            </a:pPr>
            <a:r>
              <a:t>多Topic</a:t>
            </a:r>
          </a:p>
          <a:p>
            <a:pPr algn="ctr">
              <a:defRPr sz="1000">
                <a:solidFill>
                  <a:srgbClr val="86868B"/>
                </a:solidFill>
              </a:defRPr>
            </a:pPr>
            <a:r>
              <a:t>消息发布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1520" y="5303520"/>
            <a:ext cx="10728655" cy="1188720"/>
          </a:xfrm>
          <a:prstGeom prst="rect">
            <a:avLst/>
          </a:prstGeom>
          <a:solidFill>
            <a:srgbClr val="FFF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5303520"/>
            <a:ext cx="137160" cy="1188720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5840" y="5440680"/>
            <a:ext cx="10241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C1C1E"/>
                </a:solidFill>
              </a:defRPr>
            </a:pPr>
            <a:r>
              <a:t>🔧 三进程并行架构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" y="576072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Process1(采集+GPU推理) | Process2(CPU计算链+Kafka) | Process3(渲染+IO)</a:t>
            </a:r>
          </a:p>
          <a:p>
            <a:pPr>
              <a:defRPr sz="1200"/>
            </a:pPr>
            <a:r>
              <a:t>队列maxsize=50，进程健康检查：is_alive() + Queue.get(timeout=10)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C1C1E"/>
                </a:solidFill>
              </a:defRPr>
            </a:pPr>
            <a:r>
              <a:t>目标检测与多目标跟踪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A84FF"/>
                </a:solidFill>
              </a:defRPr>
            </a:pPr>
            <a:r>
              <a:t>YOLO11自训练模型 + ByteTrack多目标跟踪器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029200" cy="4389120"/>
          </a:xfrm>
          <a:prstGeom prst="roundRect">
            <a:avLst/>
          </a:prstGeom>
          <a:solidFill>
            <a:srgbClr val="F5F5F7"/>
          </a:solidFill>
          <a:ln w="25400"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480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🎯 YOLO11 检测器</a:t>
            </a:r>
          </a:p>
          <a:p>
            <a:pPr>
              <a:defRPr sz="1300"/>
            </a:pPr>
          </a:p>
          <a:p>
            <a:pPr>
              <a:defRPr sz="1300"/>
            </a:pPr>
            <a:r>
              <a:t>模型特性</a:t>
            </a:r>
          </a:p>
          <a:p>
            <a:pPr>
              <a:defRPr sz="1300"/>
            </a:pPr>
            <a:r>
              <a:t>• 自训练UAV视角专用模型 (uav_best.pt)</a:t>
            </a:r>
          </a:p>
          <a:p>
            <a:pPr>
              <a:defRPr sz="1300"/>
            </a:pPr>
            <a:r>
              <a:t>• 检测COCO类别2-9（车辆相关）</a:t>
            </a:r>
          </a:p>
          <a:p>
            <a:pPr>
              <a:defRPr sz="1300"/>
            </a:pPr>
            <a:r>
              <a:t>• mAP@0.5: 0.89+（验证集）</a:t>
            </a:r>
          </a:p>
          <a:p>
            <a:pPr>
              <a:defRPr sz="1300"/>
            </a:pPr>
            <a:r>
              <a:t>• 推理速度：35+ FPS (RTX 3090)</a:t>
            </a:r>
          </a:p>
          <a:p>
            <a:pPr>
              <a:defRPr sz="1300"/>
            </a:pPr>
          </a:p>
          <a:p>
            <a:pPr>
              <a:defRPr sz="1300"/>
            </a:pPr>
            <a:r>
              <a:t>优化策略</a:t>
            </a:r>
          </a:p>
          <a:p>
            <a:pPr>
              <a:defRPr sz="1300"/>
            </a:pPr>
            <a:r>
              <a:t>• TensorRT加速（可选）</a:t>
            </a:r>
          </a:p>
          <a:p>
            <a:pPr>
              <a:defRPr sz="1300"/>
            </a:pPr>
            <a:r>
              <a:t>• 动态batch size调整</a:t>
            </a:r>
          </a:p>
          <a:p>
            <a:pPr>
              <a:defRPr sz="1300"/>
            </a:pPr>
            <a:r>
              <a:t>• 置信度阈值自适应</a:t>
            </a:r>
          </a:p>
          <a:p>
            <a:pPr>
              <a:defRPr sz="1300"/>
            </a:pPr>
            <a:r>
              <a:t>• NMS IoU阈值：0.45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029200" cy="4389120"/>
          </a:xfrm>
          <a:prstGeom prst="roundRect">
            <a:avLst/>
          </a:prstGeom>
          <a:solidFill>
            <a:srgbClr val="F5F5F7"/>
          </a:solidFill>
          <a:ln w="25400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480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🔗 ByteTrack 跟踪器</a:t>
            </a:r>
          </a:p>
          <a:p>
            <a:pPr>
              <a:defRPr sz="1300"/>
            </a:pPr>
          </a:p>
          <a:p>
            <a:pPr>
              <a:defRPr sz="1300"/>
            </a:pPr>
            <a:r>
              <a:t>核心优势</a:t>
            </a:r>
          </a:p>
          <a:p>
            <a:pPr>
              <a:defRPr sz="1300"/>
            </a:pPr>
            <a:r>
              <a:t>• 关联低置信度检测框</a:t>
            </a:r>
          </a:p>
          <a:p>
            <a:pPr>
              <a:defRPr sz="1300"/>
            </a:pPr>
            <a:r>
              <a:t>• 保持ID一致性&gt;95%</a:t>
            </a:r>
          </a:p>
          <a:p>
            <a:pPr>
              <a:defRPr sz="1300"/>
            </a:pPr>
            <a:r>
              <a:t>• 处理遮挡场景能力强</a:t>
            </a:r>
          </a:p>
          <a:p>
            <a:pPr>
              <a:defRPr sz="1300"/>
            </a:pPr>
            <a:r>
              <a:t>• track_buffer: 250帧容忍丢失</a:t>
            </a:r>
          </a:p>
          <a:p>
            <a:pPr>
              <a:defRPr sz="1300"/>
            </a:pPr>
          </a:p>
          <a:p>
            <a:pPr>
              <a:defRPr sz="1300"/>
            </a:pPr>
            <a:r>
              <a:t>跟踪流程</a:t>
            </a:r>
          </a:p>
          <a:p>
            <a:pPr>
              <a:defRPr sz="1300"/>
            </a:pPr>
            <a:r>
              <a:t>1. 高置信度检测框匹配</a:t>
            </a:r>
          </a:p>
          <a:p>
            <a:pPr>
              <a:defRPr sz="1300"/>
            </a:pPr>
            <a:r>
              <a:t>2. 低置信度检测框二次关联</a:t>
            </a:r>
          </a:p>
          <a:p>
            <a:pPr>
              <a:defRPr sz="1300"/>
            </a:pPr>
            <a:r>
              <a:t>3. 未匹配轨迹标记为lost</a:t>
            </a:r>
          </a:p>
          <a:p>
            <a:pPr>
              <a:defRPr sz="1300"/>
            </a:pPr>
            <a:r>
              <a:t>4. 超过buffer阈值则删除</a:t>
            </a:r>
          </a:p>
          <a:p>
            <a:pPr>
              <a:defRPr sz="1300"/>
            </a:pPr>
          </a:p>
          <a:p>
            <a:pPr>
              <a:defRPr sz="1300"/>
            </a:pPr>
            <a:r>
              <a:t>性能指标</a:t>
            </a:r>
          </a:p>
          <a:p>
            <a:pPr>
              <a:defRPr sz="1300"/>
            </a:pPr>
            <a:r>
              <a:t>• MOTA: 78.5%</a:t>
            </a:r>
          </a:p>
          <a:p>
            <a:pPr>
              <a:defRPr sz="1300"/>
            </a:pPr>
            <a:r>
              <a:t>• IDF1: 82.3%</a:t>
            </a:r>
          </a:p>
          <a:p>
            <a:pPr>
              <a:defRPr sz="1300"/>
            </a:pPr>
            <a:r>
              <a:t>• ID切换率：&lt;5%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C1C1E"/>
                </a:solidFill>
              </a:defRPr>
            </a:pPr>
            <a:r>
              <a:t>运动补偿与相机标定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A84FF"/>
                </a:solidFill>
              </a:defRPr>
            </a:pPr>
            <a:r>
              <a:t>GPS锚定世界坐标系 + 遥测驱动单应性变换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74720" cy="4572000"/>
          </a:xfrm>
          <a:prstGeom prst="roundRect">
            <a:avLst/>
          </a:prstGeom>
          <a:solidFill>
            <a:srgbClr val="F5F5F7"/>
          </a:solidFill>
          <a:ln w="25400"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📐 IPM标定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单应性矩阵计算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输入数据</a:t>
            </a:r>
          </a:p>
          <a:p>
            <a:pPr>
              <a:defRPr sz="1200"/>
            </a:pPr>
            <a:r>
              <a:t>• GPS经纬度</a:t>
            </a:r>
          </a:p>
          <a:p>
            <a:pPr>
              <a:defRPr sz="1200"/>
            </a:pPr>
            <a:r>
              <a:t>• 云台俯仰角</a:t>
            </a:r>
          </a:p>
          <a:p>
            <a:pPr>
              <a:defRPr sz="1200"/>
            </a:pPr>
            <a:r>
              <a:t>• 无人机高度</a:t>
            </a:r>
          </a:p>
          <a:p>
            <a:pPr>
              <a:defRPr sz="1200"/>
            </a:pPr>
            <a:r>
              <a:t>• 焦距参数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双模式支持</a:t>
            </a:r>
          </a:p>
          <a:p>
            <a:pPr>
              <a:defRPr sz="1200"/>
            </a:pPr>
            <a:r>
              <a:t>• Nadir（正下视）</a:t>
            </a:r>
          </a:p>
          <a:p>
            <a:pPr>
              <a:defRPr sz="1200"/>
            </a:pPr>
            <a:r>
              <a:t>• Oblique（斜视）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输出</a:t>
            </a:r>
          </a:p>
          <a:p>
            <a:pPr>
              <a:defRPr sz="1200"/>
            </a:pPr>
            <a:r>
              <a:t>• 4×4单应性矩阵H</a:t>
            </a:r>
          </a:p>
          <a:p>
            <a:pPr>
              <a:defRPr sz="1200"/>
            </a:pPr>
            <a:r>
              <a:t>• 像素→世界坐标映射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26280" y="1645920"/>
            <a:ext cx="3474720" cy="4572000"/>
          </a:xfrm>
          <a:prstGeom prst="roundRect">
            <a:avLst/>
          </a:prstGeom>
          <a:solidFill>
            <a:srgbClr val="F5F5F7"/>
          </a:solidFill>
          <a:ln w="25400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🛰 运动补偿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GPS锚定世界帧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核心算法</a:t>
            </a:r>
          </a:p>
          <a:p>
            <a:pPr>
              <a:defRPr sz="1200"/>
            </a:pPr>
            <a:r>
              <a:t>• 首10帧GPS锚点初始化</a:t>
            </a:r>
          </a:p>
          <a:p>
            <a:pPr>
              <a:defRPr sz="1200"/>
            </a:pPr>
            <a:r>
              <a:t>• 帧间位移增量累积</a:t>
            </a:r>
          </a:p>
          <a:p>
            <a:pPr>
              <a:defRPr sz="1200"/>
            </a:pPr>
            <a:r>
              <a:t>• 无人机速度矢量估计</a:t>
            </a:r>
          </a:p>
          <a:p>
            <a:pPr>
              <a:defRPr sz="1200"/>
            </a:pPr>
            <a:r>
              <a:t>• gimbal_yaw_delta校正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输出指标</a:t>
            </a:r>
          </a:p>
          <a:p>
            <a:pPr>
              <a:defRPr sz="1200"/>
            </a:pPr>
            <a:r>
              <a:t>• drone_displacement_m</a:t>
            </a:r>
          </a:p>
          <a:p>
            <a:pPr>
              <a:defRPr sz="1200"/>
            </a:pPr>
            <a:r>
              <a:t>• drone_velocity_ms</a:t>
            </a:r>
          </a:p>
          <a:p>
            <a:pPr>
              <a:defRPr sz="1200"/>
            </a:pPr>
            <a:r>
              <a:t>• is_hovering状态</a:t>
            </a:r>
          </a:p>
          <a:p>
            <a:pPr>
              <a:defRPr sz="1200"/>
            </a:pPr>
            <a:r>
              <a:t>• 世界坐标轨迹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1645920"/>
            <a:ext cx="3474720" cy="4572000"/>
          </a:xfrm>
          <a:prstGeom prst="roundRect">
            <a:avLst/>
          </a:prstGeom>
          <a:solidFill>
            <a:srgbClr val="F5F5F7"/>
          </a:solidFill>
          <a:ln w="25400">
            <a:solidFill>
              <a:srgbClr val="34C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4964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🎥 EIS稳定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电子图像稳定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技术方案</a:t>
            </a:r>
          </a:p>
          <a:p>
            <a:pPr>
              <a:defRPr sz="1200"/>
            </a:pPr>
            <a:r>
              <a:t>• ORB特征点匹配</a:t>
            </a:r>
          </a:p>
          <a:p>
            <a:pPr>
              <a:defRPr sz="1200"/>
            </a:pPr>
            <a:r>
              <a:t>• 帧间仿射变换估计</a:t>
            </a:r>
          </a:p>
          <a:p>
            <a:pPr>
              <a:defRPr sz="1200"/>
            </a:pPr>
            <a:r>
              <a:t>• 滚动快门校正</a:t>
            </a:r>
          </a:p>
          <a:p>
            <a:pPr>
              <a:defRPr sz="1200"/>
            </a:pPr>
            <a:r>
              <a:t>• 三轴云台硬件防抖为主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容错机制</a:t>
            </a:r>
          </a:p>
          <a:p>
            <a:pPr>
              <a:defRPr sz="1200"/>
            </a:pPr>
            <a:r>
              <a:t>• track_buffer=250帧</a:t>
            </a:r>
          </a:p>
          <a:p>
            <a:pPr>
              <a:defRPr sz="1200"/>
            </a:pPr>
            <a:r>
              <a:t>• 特征点不足时降级</a:t>
            </a:r>
          </a:p>
          <a:p>
            <a:pPr>
              <a:defRPr sz="1200"/>
            </a:pPr>
            <a:r>
              <a:t>• 风速&gt;6m/s告警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C1C1E"/>
                </a:solidFill>
              </a:defRPr>
            </a:pPr>
            <a:r>
              <a:t>车速估计与方向流量分析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A84FF"/>
                </a:solidFill>
              </a:defRPr>
            </a:pPr>
            <a:r>
              <a:t>透视变换速度计算 + 世界坐标方向分类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029200" cy="4572000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480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⚡ SpeedEstimationNode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速度计算原理</a:t>
            </a:r>
          </a:p>
          <a:p>
            <a:pPr>
              <a:defRPr sz="1200"/>
            </a:pPr>
            <a:r>
              <a:t>1. 通过单应性矩阵将像素坐标转换为世界坐标（米）</a:t>
            </a:r>
          </a:p>
          <a:p>
            <a:pPr>
              <a:defRPr sz="1200"/>
            </a:pPr>
            <a:r>
              <a:t>2. 计算相邻帧间的位移距离 Δd</a:t>
            </a:r>
          </a:p>
          <a:p>
            <a:pPr>
              <a:defRPr sz="1200"/>
            </a:pPr>
            <a:r>
              <a:t>3. 速度 = Δd / Δt × 3.6（转换为km/h）</a:t>
            </a:r>
          </a:p>
          <a:p>
            <a:pPr>
              <a:defRPr sz="1200"/>
            </a:pPr>
            <a:r>
              <a:t>4. 减去无人机速度矢量（运动补偿）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EMA平滑</a:t>
            </a:r>
          </a:p>
          <a:p>
            <a:pPr>
              <a:defRPr sz="1200"/>
            </a:pPr>
            <a:r>
              <a:t>• α = 0.3（指数移动平均系数）</a:t>
            </a:r>
          </a:p>
          <a:p>
            <a:pPr>
              <a:defRPr sz="1200"/>
            </a:pPr>
            <a:r>
              <a:t>• 减少抖动，提高稳定性</a:t>
            </a:r>
          </a:p>
          <a:p>
            <a:pPr>
              <a:defRPr sz="1200"/>
            </a:pPr>
            <a:r>
              <a:t>• 保留真实加减速趋势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精度验证</a:t>
            </a:r>
          </a:p>
          <a:p>
            <a:pPr>
              <a:defRPr sz="1200"/>
            </a:pPr>
            <a:r>
              <a:t>• 悬停模式：误差 &lt;±3 km/h</a:t>
            </a:r>
          </a:p>
          <a:p>
            <a:pPr>
              <a:defRPr sz="1200"/>
            </a:pPr>
            <a:r>
              <a:t>• 巡飞模式：误差 &lt;±5 km/h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029200" cy="4572000"/>
          </a:xfrm>
          <a:prstGeom prst="roundRect">
            <a:avLst/>
          </a:prstGeom>
          <a:solidFill>
            <a:srgbClr val="FFF9E6"/>
          </a:solidFill>
          <a:ln w="25400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480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🧭 DirectionFlowNode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方向分类算法</a:t>
            </a:r>
          </a:p>
          <a:p>
            <a:pPr>
              <a:defRPr sz="1200"/>
            </a:pPr>
            <a:r>
              <a:t>基于世界坐标heading角度：</a:t>
            </a:r>
          </a:p>
          <a:p>
            <a:pPr>
              <a:defRPr sz="1200"/>
            </a:pPr>
            <a:r>
              <a:t>• 左转 (L): heading ∈ [225°, 315°)</a:t>
            </a:r>
          </a:p>
          <a:p>
            <a:pPr>
              <a:defRPr sz="1200"/>
            </a:pPr>
            <a:r>
              <a:t>• 直行 (S): heading ∈ [315°, 45°)</a:t>
            </a:r>
          </a:p>
          <a:p>
            <a:pPr>
              <a:defRPr sz="1200"/>
            </a:pPr>
            <a:r>
              <a:t>• 右转 (R): heading ∈ [45°, 135°)</a:t>
            </a:r>
          </a:p>
          <a:p>
            <a:pPr>
              <a:defRPr sz="1200"/>
            </a:pPr>
            <a:r>
              <a:t>• 掉头 (U): heading ∈ [135°, 225°)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排队检测</a:t>
            </a:r>
          </a:p>
          <a:p>
            <a:pPr>
              <a:defRPr sz="1200"/>
            </a:pPr>
            <a:r>
              <a:t>• 车头时距 &lt;2s 判定为排队</a:t>
            </a:r>
          </a:p>
          <a:p>
            <a:pPr>
              <a:defRPr sz="1200"/>
            </a:pPr>
            <a:r>
              <a:t>• 连续3帧满足条件触发</a:t>
            </a:r>
          </a:p>
          <a:p>
            <a:pPr>
              <a:defRPr sz="1200"/>
            </a:pPr>
            <a:r>
              <a:t>• 输出排队长度（车辆数）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车道级统计（LaneAnalysisNode）</a:t>
            </a:r>
          </a:p>
          <a:p>
            <a:pPr>
              <a:defRPr sz="1200"/>
            </a:pPr>
            <a:r>
              <a:t>• 自动跳过无车道多边形场景</a:t>
            </a:r>
          </a:p>
          <a:p>
            <a:pPr>
              <a:defRPr sz="1200"/>
            </a:pPr>
            <a:r>
              <a:t>• 每车道独立流量/速度/排队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C1C1E"/>
                </a:solidFill>
              </a:defRPr>
            </a:pPr>
            <a:r>
              <a:t>轨迹还原与冲突检测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A84FF"/>
                </a:solidFill>
              </a:defRPr>
            </a:pPr>
            <a:r>
              <a:t>世界坐标轨迹输出 + TTC机非冲突预警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2103120"/>
          </a:xfrm>
          <a:prstGeom prst="roundRect">
            <a:avLst/>
          </a:prstGeom>
          <a:solidFill>
            <a:srgbClr val="F5F5F7"/>
          </a:solidFill>
          <a:ln w="25400">
            <a:solidFill>
              <a:srgbClr val="34C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10149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🛤 TrajectoryNode — 轨迹还原与转向分类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世界坐标轨迹输出</a:t>
            </a:r>
          </a:p>
          <a:p>
            <a:pPr>
              <a:defRPr sz="1200"/>
            </a:pPr>
            <a:r>
              <a:t>• trajectory_world_m: [(x1,y1,t1), (x2,y2,t2), ...]</a:t>
            </a:r>
          </a:p>
          <a:p>
            <a:pPr>
              <a:defRPr sz="1200"/>
            </a:pPr>
            <a:r>
              <a:t>• 单位：米，时间戳对齐</a:t>
            </a:r>
          </a:p>
          <a:p>
            <a:pPr>
              <a:defRPr sz="1200"/>
            </a:pPr>
            <a:r>
              <a:t>• 采样频率：10Hz（可配置）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转向行为分类</a:t>
            </a:r>
          </a:p>
          <a:p>
            <a:pPr>
              <a:defRPr sz="1200"/>
            </a:pPr>
            <a:r>
              <a:t>• 基于轨迹曲率变化率</a:t>
            </a:r>
          </a:p>
          <a:p>
            <a:pPr>
              <a:defRPr sz="1200"/>
            </a:pPr>
            <a:r>
              <a:t>• 结合进出口道路归属</a:t>
            </a:r>
          </a:p>
          <a:p>
            <a:pPr>
              <a:defRPr sz="1200"/>
            </a:pPr>
            <a:r>
              <a:t>• 输出：左转/直行/右转/掉头/未知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应用场景</a:t>
            </a:r>
          </a:p>
          <a:p>
            <a:pPr>
              <a:defRPr sz="1200"/>
            </a:pPr>
            <a:r>
              <a:t>• OD矩阵估计（起终点分析）</a:t>
            </a:r>
          </a:p>
          <a:p>
            <a:pPr>
              <a:defRPr sz="1200"/>
            </a:pPr>
            <a:r>
              <a:t>• 转弯半径统计</a:t>
            </a:r>
          </a:p>
          <a:p>
            <a:pPr>
              <a:defRPr sz="1200"/>
            </a:pPr>
            <a:r>
              <a:t>• 异常轨迹检测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10728655" cy="2103120"/>
          </a:xfrm>
          <a:prstGeom prst="roundRect">
            <a:avLst/>
          </a:prstGeom>
          <a:solidFill>
            <a:srgbClr val="FFF5F5"/>
          </a:solidFill>
          <a:ln w="25400">
            <a:solidFill>
              <a:srgbClr val="FF3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114800"/>
            <a:ext cx="10149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⚠️ ConflictDetectionNode — 机非冲突检测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TTC (Time To Collision) 模型</a:t>
            </a:r>
          </a:p>
          <a:p>
            <a:pPr>
              <a:defRPr sz="1200"/>
            </a:pPr>
            <a:r>
              <a:t>• 计算机动车与非机动车的预计碰撞时间</a:t>
            </a:r>
          </a:p>
          <a:p>
            <a:pPr>
              <a:defRPr sz="1200"/>
            </a:pPr>
            <a:r>
              <a:t>• TTC &lt; 1.0s → P1级告警（紧急）</a:t>
            </a:r>
          </a:p>
          <a:p>
            <a:pPr>
              <a:defRPr sz="1200"/>
            </a:pPr>
            <a:r>
              <a:t>• TTC &lt; 2.0s → P2级告警（警告）</a:t>
            </a:r>
          </a:p>
          <a:p>
            <a:pPr>
              <a:defRPr sz="1200"/>
            </a:pPr>
            <a:r>
              <a:t>• 基于世界坐标位置和速度矢量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proximity检测</a:t>
            </a:r>
          </a:p>
          <a:p>
            <a:pPr>
              <a:defRPr sz="1200"/>
            </a:pPr>
            <a:r>
              <a:t>• 最小距离 &lt; 1.5m 触发近距离告警</a:t>
            </a:r>
          </a:p>
          <a:p>
            <a:pPr>
              <a:defRPr sz="1200"/>
            </a:pPr>
            <a:r>
              <a:t>• 持续时长 &gt; 0.5s 确认为有效事件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输出字段</a:t>
            </a:r>
          </a:p>
          <a:p>
            <a:pPr>
              <a:defRPr sz="1200"/>
            </a:pPr>
            <a:r>
              <a:t>• conflict_type, ttc_value, min_distance</a:t>
            </a:r>
          </a:p>
          <a:p>
            <a:pPr>
              <a:defRPr sz="1200"/>
            </a:pPr>
            <a:r>
              <a:t>• world_positions, timestamp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C1C1E"/>
                </a:solidFill>
              </a:defRPr>
            </a:pPr>
            <a:r>
              <a:t>统计聚合与Kafka消息发布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A84FF"/>
                </a:solidFill>
              </a:defRPr>
            </a:pPr>
            <a:r>
              <a:t>CalcStatisticsNode + KafkaProducerNode 多Topic架构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029200" cy="4572000"/>
          </a:xfrm>
          <a:prstGeom prst="roundRect">
            <a:avLst/>
          </a:prstGeom>
          <a:solidFill>
            <a:srgbClr val="F5F5F7"/>
          </a:solidFill>
          <a:ln w="25400"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480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📊 CalcStatisticsNode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核心指标</a:t>
            </a:r>
          </a:p>
          <a:p>
            <a:pPr>
              <a:defRPr sz="1200"/>
            </a:pPr>
            <a:r>
              <a:t>cars_amount（平滑车流量）</a:t>
            </a:r>
          </a:p>
          <a:p>
            <a:pPr>
              <a:defRPr sz="1200"/>
            </a:pPr>
            <a:r>
              <a:t>• EMA平滑，α=0.2</a:t>
            </a:r>
          </a:p>
          <a:p>
            <a:pPr>
              <a:defRPr sz="1200"/>
            </a:pPr>
            <a:r>
              <a:t>• 单位：辆/分钟</a:t>
            </a:r>
          </a:p>
          <a:p>
            <a:pPr>
              <a:defRPr sz="1200"/>
            </a:pPr>
            <a:r>
              <a:t>• 按道路分别统计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roads_activity（道路活跃度）</a:t>
            </a:r>
          </a:p>
          <a:p>
            <a:pPr>
              <a:defRPr sz="1200"/>
            </a:pPr>
            <a:r>
              <a:t>• vehicles_per_minute per road</a:t>
            </a:r>
          </a:p>
          <a:p>
            <a:pPr>
              <a:defRPr sz="1200"/>
            </a:pPr>
            <a:r>
              <a:t>• 反映各道路负载情况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direction_flow（方向流量）</a:t>
            </a:r>
          </a:p>
          <a:p>
            <a:pPr>
              <a:defRPr sz="1200"/>
            </a:pPr>
            <a:r>
              <a:t>• 左转/直行/右转/掉头计数</a:t>
            </a:r>
          </a:p>
          <a:p>
            <a:pPr>
              <a:defRPr sz="1200"/>
            </a:pPr>
            <a:r>
              <a:t>• 每小时聚合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drone_position（无人机位置）</a:t>
            </a:r>
          </a:p>
          <a:p>
            <a:pPr>
              <a:defRPr sz="1200"/>
            </a:pPr>
            <a:r>
              <a:t>• GPS经纬度、高度AGL</a:t>
            </a:r>
          </a:p>
          <a:p>
            <a:pPr>
              <a:defRPr sz="1200"/>
            </a:pPr>
            <a:r>
              <a:t>• is_hovering状态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029200" cy="4572000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480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📨 KafkaProducerNode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三Topic架构</a:t>
            </a:r>
          </a:p>
          <a:p>
            <a:pPr>
              <a:defRPr sz="1200"/>
            </a:pPr>
            <a:r>
              <a:t>statistics_{camera_id}</a:t>
            </a:r>
          </a:p>
          <a:p>
            <a:pPr>
              <a:defRPr sz="1200"/>
            </a:pPr>
            <a:r>
              <a:t>• 每秒统计数据</a:t>
            </a:r>
          </a:p>
          <a:p>
            <a:pPr>
              <a:defRPr sz="1200"/>
            </a:pPr>
            <a:r>
              <a:t>• cars_amount, roads_activity</a:t>
            </a:r>
          </a:p>
          <a:p>
            <a:pPr>
              <a:defRPr sz="1200"/>
            </a:pPr>
            <a:r>
              <a:t>• direction_flow, drone_position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track_complete_{camera_id}</a:t>
            </a:r>
          </a:p>
          <a:p>
            <a:pPr>
              <a:defRPr sz="1200"/>
            </a:pPr>
            <a:r>
              <a:t>• 完整轨迹事件</a:t>
            </a:r>
          </a:p>
          <a:p>
            <a:pPr>
              <a:defRPr sz="1200"/>
            </a:pPr>
            <a:r>
              <a:t>• 车辆离开视野时触发</a:t>
            </a:r>
          </a:p>
          <a:p>
            <a:pPr>
              <a:defRPr sz="1200"/>
            </a:pPr>
            <a:r>
              <a:t>• 含起点/终点/时长/速度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conflicts_{camera_id}</a:t>
            </a:r>
          </a:p>
          <a:p>
            <a:pPr>
              <a:defRPr sz="1200"/>
            </a:pPr>
            <a:r>
              <a:t>• 冲突事件（如启用）</a:t>
            </a:r>
          </a:p>
          <a:p>
            <a:pPr>
              <a:defRPr sz="1200"/>
            </a:pPr>
            <a:r>
              <a:t>• TTC值 + 坐标 + 类型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发送策略</a:t>
            </a:r>
          </a:p>
          <a:p>
            <a:pPr>
              <a:defRPr sz="1200"/>
            </a:pPr>
            <a:r>
              <a:t>• how_often_sec: 发送间隔（默认1s）</a:t>
            </a:r>
          </a:p>
          <a:p>
            <a:pPr>
              <a:defRPr sz="1200"/>
            </a:pPr>
            <a:r>
              <a:t>• JSON格式序列化</a:t>
            </a:r>
          </a:p>
          <a:p>
            <a:pPr>
              <a:defRPr sz="1200"/>
            </a:pPr>
            <a:r>
              <a:t>• 自动重连机制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C1C1E"/>
                </a:solidFill>
              </a:defRPr>
            </a:pPr>
            <a:r>
              <a:t>遥测数据源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A84FF"/>
                </a:solidFill>
              </a:defRPr>
            </a:pPr>
            <a:r>
              <a:t>三种遥测接入方式，统一get_nearest(timestamp)接口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74720" cy="4572000"/>
          </a:xfrm>
          <a:prstGeom prst="roundRect">
            <a:avLst/>
          </a:prstGeom>
          <a:solidFill>
            <a:srgbClr val="F5F5F7"/>
          </a:solidFill>
          <a:ln w="25400">
            <a:solidFill>
              <a:srgbClr val="34C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📡 MQTT实时遥测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DJI Cloud API JSON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优势</a:t>
            </a:r>
          </a:p>
          <a:p>
            <a:pPr>
              <a:defRPr sz="1200"/>
            </a:pPr>
            <a:r>
              <a:t>• 生产环境首选</a:t>
            </a:r>
          </a:p>
          <a:p>
            <a:pPr>
              <a:defRPr sz="1200"/>
            </a:pPr>
            <a:r>
              <a:t>• 实时性最佳</a:t>
            </a:r>
          </a:p>
          <a:p>
            <a:pPr>
              <a:defRPr sz="1200"/>
            </a:pPr>
            <a:r>
              <a:t>• 数据完整性高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实现</a:t>
            </a:r>
          </a:p>
          <a:p>
            <a:pPr>
              <a:defRPr sz="1200"/>
            </a:pPr>
            <a:r>
              <a:t>• services/TelemetrySubscriber.py</a:t>
            </a:r>
          </a:p>
          <a:p>
            <a:pPr>
              <a:defRPr sz="1200"/>
            </a:pPr>
            <a:r>
              <a:t>• 订阅MQTT topic</a:t>
            </a:r>
          </a:p>
          <a:p>
            <a:pPr>
              <a:defRPr sz="1200"/>
            </a:pPr>
            <a:r>
              <a:t>• 解析JSON遥测数据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26280" y="1645920"/>
            <a:ext cx="3474720" cy="4572000"/>
          </a:xfrm>
          <a:prstGeom prst="roundRect">
            <a:avLst/>
          </a:prstGeom>
          <a:solidFill>
            <a:srgbClr val="F5F5F7"/>
          </a:solidFill>
          <a:ln w="25400"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📄 JSON文件回放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DJI Cloud API JSON export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优势</a:t>
            </a:r>
          </a:p>
          <a:p>
            <a:pPr>
              <a:defRPr sz="1200"/>
            </a:pPr>
            <a:r>
              <a:t>• 离线测试便捷</a:t>
            </a:r>
          </a:p>
          <a:p>
            <a:pPr>
              <a:defRPr sz="1200"/>
            </a:pPr>
            <a:r>
              <a:t>• 数据可重复</a:t>
            </a:r>
          </a:p>
          <a:p>
            <a:pPr>
              <a:defRPr sz="1200"/>
            </a:pPr>
            <a:r>
              <a:t>• 便于调试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实现</a:t>
            </a:r>
          </a:p>
          <a:p>
            <a:pPr>
              <a:defRPr sz="1200"/>
            </a:pPr>
            <a:r>
              <a:t>• services/TelemetryFileReader.py</a:t>
            </a:r>
          </a:p>
          <a:p>
            <a:pPr>
              <a:defRPr sz="1200"/>
            </a:pPr>
            <a:r>
              <a:t>• 读取JSON文件</a:t>
            </a:r>
          </a:p>
          <a:p>
            <a:pPr>
              <a:defRPr sz="1200"/>
            </a:pPr>
            <a:r>
              <a:t>• 时间戳索引查询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1645920"/>
            <a:ext cx="3474720" cy="4572000"/>
          </a:xfrm>
          <a:prstGeom prst="roundRect">
            <a:avLst/>
          </a:prstGeom>
          <a:solidFill>
            <a:srgbClr val="F5F5F7"/>
          </a:solidFill>
          <a:ln w="25400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4964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🎬 SRT字幕解析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DJI视频字幕 (.srt)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优势</a:t>
            </a:r>
          </a:p>
          <a:p>
            <a:pPr>
              <a:defRPr sz="1200"/>
            </a:pPr>
            <a:r>
              <a:t>• 帧级精确对齐</a:t>
            </a:r>
          </a:p>
          <a:p>
            <a:pPr>
              <a:defRPr sz="1200"/>
            </a:pPr>
            <a:r>
              <a:t>• 无需额外数据源</a:t>
            </a:r>
          </a:p>
          <a:p>
            <a:pPr>
              <a:defRPr sz="1200"/>
            </a:pPr>
            <a:r>
              <a:t>• 适合历史视频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实现</a:t>
            </a:r>
          </a:p>
          <a:p>
            <a:pPr>
              <a:defRPr sz="1200"/>
            </a:pPr>
            <a:r>
              <a:t>• services/SrtTelemetryParser.py</a:t>
            </a:r>
          </a:p>
          <a:p>
            <a:pPr>
              <a:defRPr sz="1200"/>
            </a:pPr>
            <a:r>
              <a:t>• 解析SRT时间戳</a:t>
            </a:r>
          </a:p>
          <a:p>
            <a:pPr>
              <a:defRPr sz="1200"/>
            </a:pPr>
            <a:r>
              <a:t>• 提取GPS/姿态数据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C1C1E"/>
                </a:solidFill>
              </a:defRPr>
            </a:pPr>
            <a:r>
              <a:t>Platform平台架构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A84FF"/>
                </a:solidFill>
              </a:defRPr>
            </a:pPr>
            <a:r>
              <a:t>FastAPI单体应用 + Kafka消费者 + WebSocket实时推送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029200" cy="2194560"/>
          </a:xfrm>
          <a:prstGeom prst="roundRect">
            <a:avLst/>
          </a:prstGeom>
          <a:solidFill>
            <a:srgbClr val="F5F5F7"/>
          </a:solidFill>
          <a:ln w="25400"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480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🌐 FastAPI应用</a:t>
            </a:r>
          </a:p>
          <a:p>
            <a:pPr>
              <a:defRPr sz="1300"/>
            </a:pPr>
          </a:p>
          <a:p>
            <a:pPr>
              <a:defRPr sz="1300"/>
            </a:pPr>
            <a:r>
              <a:t>• 43条REST API路由</a:t>
            </a:r>
          </a:p>
          <a:p>
            <a:pPr>
              <a:defRPr sz="1300"/>
            </a:pPr>
            <a:r>
              <a:t>• JWT认证中间件</a:t>
            </a:r>
          </a:p>
          <a:p>
            <a:pPr>
              <a:defRPr sz="1300"/>
            </a:pPr>
            <a:r>
              <a:t>• SQLAlchemy异步ORM</a:t>
            </a:r>
          </a:p>
          <a:p>
            <a:pPr>
              <a:defRPr sz="1300"/>
            </a:pPr>
            <a:r>
              <a:t>• Pydantic Settings配置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029200" cy="2194560"/>
          </a:xfrm>
          <a:prstGeom prst="roundRect">
            <a:avLst/>
          </a:prstGeom>
          <a:solidFill>
            <a:srgbClr val="F5F5F7"/>
          </a:solidFill>
          <a:ln w="25400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480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📨 Kafka消费者</a:t>
            </a:r>
          </a:p>
          <a:p>
            <a:pPr>
              <a:defRPr sz="1300"/>
            </a:pPr>
          </a:p>
          <a:p>
            <a:pPr>
              <a:defRPr sz="1300"/>
            </a:pPr>
            <a:r>
              <a:t>• aiokafka异步消费</a:t>
            </a:r>
          </a:p>
          <a:p>
            <a:pPr>
              <a:defRPr sz="1300"/>
            </a:pPr>
            <a:r>
              <a:t>• 正则topic匹配</a:t>
            </a:r>
          </a:p>
          <a:p>
            <a:pPr>
              <a:defRPr sz="1300"/>
            </a:pPr>
            <a:r>
              <a:t>• 4种消息类型路由</a:t>
            </a:r>
          </a:p>
          <a:p>
            <a:pPr>
              <a:defRPr sz="1300"/>
            </a:pPr>
            <a:r>
              <a:t>• WebSocket频道分发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5029200" cy="2194560"/>
          </a:xfrm>
          <a:prstGeom prst="roundRect">
            <a:avLst/>
          </a:prstGeom>
          <a:solidFill>
            <a:srgbClr val="F5F5F7"/>
          </a:solidFill>
          <a:ln w="25400">
            <a:solidFill>
              <a:srgbClr val="FF3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206240"/>
            <a:ext cx="4480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🔔 AlertEngine</a:t>
            </a:r>
          </a:p>
          <a:p>
            <a:pPr>
              <a:defRPr sz="1300"/>
            </a:pPr>
          </a:p>
          <a:p>
            <a:pPr>
              <a:defRPr sz="1300"/>
            </a:pPr>
            <a:r>
              <a:t>• 告警规则引擎</a:t>
            </a:r>
          </a:p>
          <a:p>
            <a:pPr>
              <a:defRPr sz="1300"/>
            </a:pPr>
            <a:r>
              <a:t>• TTC/P1/P2分级</a:t>
            </a:r>
          </a:p>
          <a:p>
            <a:pPr>
              <a:defRPr sz="1300"/>
            </a:pPr>
            <a:r>
              <a:t>• Webhook推送&lt;30s</a:t>
            </a:r>
          </a:p>
          <a:p>
            <a:pPr>
              <a:defRPr sz="1300"/>
            </a:pPr>
            <a:r>
              <a:t>• 告警历史记录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023360"/>
            <a:ext cx="5029200" cy="2194560"/>
          </a:xfrm>
          <a:prstGeom prst="roundRect">
            <a:avLst/>
          </a:prstGeom>
          <a:solidFill>
            <a:srgbClr val="F5F5F7"/>
          </a:solidFill>
          <a:ln w="25400">
            <a:solidFill>
              <a:srgbClr val="34C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4206240"/>
            <a:ext cx="4480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🚀 PipelineManager</a:t>
            </a:r>
          </a:p>
          <a:p>
            <a:pPr>
              <a:defRPr sz="1300"/>
            </a:pPr>
          </a:p>
          <a:p>
            <a:pPr>
              <a:defRPr sz="1300"/>
            </a:pPr>
            <a:r>
              <a:t>• 子进程生命周期管理</a:t>
            </a:r>
          </a:p>
          <a:p>
            <a:pPr>
              <a:defRPr sz="1300"/>
            </a:pPr>
            <a:r>
              <a:t>• SIGTERM优雅关闭</a:t>
            </a:r>
          </a:p>
          <a:p>
            <a:pPr>
              <a:defRPr sz="1300"/>
            </a:pPr>
            <a:r>
              <a:t>• 健康监控后台任务</a:t>
            </a:r>
          </a:p>
          <a:p>
            <a:pPr>
              <a:defRPr sz="1300"/>
            </a:pPr>
            <a:r>
              <a:t>• 自动重启机制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C1C1E"/>
                </a:solidFill>
              </a:defRPr>
            </a:pPr>
            <a:r>
              <a:t>REST API端点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A84FF"/>
                </a:solidFill>
              </a:defRPr>
            </a:pPr>
            <a:r>
              <a:t>43条路由覆盖完整业务场景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029200" cy="1554480"/>
          </a:xfrm>
          <a:prstGeom prst="roundRect">
            <a:avLst/>
          </a:prstGeom>
          <a:solidFill>
            <a:srgbClr val="F5F5F7"/>
          </a:solidFill>
          <a:ln w="25400"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A84FF"/>
                </a:solidFill>
              </a:defRPr>
            </a:pPr>
            <a:r>
              <a:t>认证与用户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4480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/api/v1/auth/login</a:t>
            </a:r>
          </a:p>
          <a:p>
            <a:pPr>
              <a:defRPr sz="1100"/>
            </a:pPr>
            <a:r>
              <a:t>/api/v1/auth/register</a:t>
            </a:r>
          </a:p>
          <a:p>
            <a:pPr>
              <a:defRPr sz="1100"/>
            </a:pPr>
            <a:r>
              <a:t>/api/v1/users/profile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029200" cy="1554480"/>
          </a:xfrm>
          <a:prstGeom prst="roundRect">
            <a:avLst/>
          </a:prstGeom>
          <a:solidFill>
            <a:srgbClr val="F5F5F7"/>
          </a:solidFill>
          <a:ln w="25400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8308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9500"/>
                </a:solidFill>
              </a:defRPr>
            </a:pPr>
            <a:r>
              <a:t>路口管理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03120"/>
            <a:ext cx="4480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/api/v1/intersections</a:t>
            </a:r>
          </a:p>
          <a:p>
            <a:pPr>
              <a:defRPr sz="1100"/>
            </a:pPr>
            <a:r>
              <a:t>/api/v1/intersections/{id}</a:t>
            </a:r>
          </a:p>
          <a:p>
            <a:pPr>
              <a:defRPr sz="1100"/>
            </a:pPr>
            <a:r>
              <a:t>/api/v1/intersections/{id}/drones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383280"/>
            <a:ext cx="5029200" cy="1554480"/>
          </a:xfrm>
          <a:prstGeom prst="roundRect">
            <a:avLst/>
          </a:prstGeom>
          <a:solidFill>
            <a:srgbClr val="F5F5F7"/>
          </a:solidFill>
          <a:ln w="25400">
            <a:solidFill>
              <a:srgbClr val="34C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52044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C759"/>
                </a:solidFill>
              </a:defRPr>
            </a:pPr>
            <a:r>
              <a:t>无人机管理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840480"/>
            <a:ext cx="4480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/api/v1/drones</a:t>
            </a:r>
          </a:p>
          <a:p>
            <a:pPr>
              <a:defRPr sz="1100"/>
            </a:pPr>
            <a:r>
              <a:t>/api/v1/drones/{id}</a:t>
            </a:r>
          </a:p>
          <a:p>
            <a:pPr>
              <a:defRPr sz="1100"/>
            </a:pPr>
            <a:r>
              <a:t>/api/v1/drones/{id}/telemetry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383280"/>
            <a:ext cx="5029200" cy="1554480"/>
          </a:xfrm>
          <a:prstGeom prst="roundRect">
            <a:avLst/>
          </a:prstGeom>
          <a:solidFill>
            <a:srgbClr val="F5F5F7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52044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8B5CF6"/>
                </a:solidFill>
              </a:defRPr>
            </a:pPr>
            <a:r>
              <a:t>管道管理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840480"/>
            <a:ext cx="4480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/api/v1/pipelines</a:t>
            </a:r>
          </a:p>
          <a:p>
            <a:pPr>
              <a:defRPr sz="1100"/>
            </a:pPr>
            <a:r>
              <a:t>/api/v1/pipelines/{id}/start</a:t>
            </a:r>
          </a:p>
          <a:p>
            <a:pPr>
              <a:defRPr sz="1100"/>
            </a:pPr>
            <a:r>
              <a:t>/api/v1/pipelines/{id}/stop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120640"/>
            <a:ext cx="5029200" cy="1554480"/>
          </a:xfrm>
          <a:prstGeom prst="roundRect">
            <a:avLst/>
          </a:prstGeom>
          <a:solidFill>
            <a:srgbClr val="F5F5F7"/>
          </a:solidFill>
          <a:ln w="25400"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25780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A84FF"/>
                </a:solidFill>
              </a:defRPr>
            </a:pPr>
            <a:r>
              <a:t>轨迹查询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577840"/>
            <a:ext cx="4480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/api/v1/trajectories</a:t>
            </a:r>
          </a:p>
          <a:p>
            <a:pPr>
              <a:defRPr sz="1100"/>
            </a:pPr>
            <a:r>
              <a:t>/api/v1/trajectories/{id}</a:t>
            </a:r>
          </a:p>
          <a:p>
            <a:pPr>
              <a:defRPr sz="1100"/>
            </a:pPr>
            <a:r>
              <a:t>/api/v1/trajectories/export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5120640"/>
            <a:ext cx="5029200" cy="1554480"/>
          </a:xfrm>
          <a:prstGeom prst="roundRect">
            <a:avLst/>
          </a:prstGeom>
          <a:solidFill>
            <a:srgbClr val="F5F5F7"/>
          </a:solidFill>
          <a:ln w="25400">
            <a:solidFill>
              <a:srgbClr val="FF3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525780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3B30"/>
                </a:solidFill>
              </a:defRPr>
            </a:pPr>
            <a:r>
              <a:t>告警管理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5577840"/>
            <a:ext cx="4480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/api/v1/alerts/rules</a:t>
            </a:r>
          </a:p>
          <a:p>
            <a:pPr>
              <a:defRPr sz="1100"/>
            </a:pPr>
            <a:r>
              <a:t>/api/v1/alerts/history</a:t>
            </a:r>
          </a:p>
          <a:p>
            <a:pPr>
              <a:defRPr sz="1100"/>
            </a:pPr>
            <a:r>
              <a:t>/api/v1/alerts/{id}/acknowledge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C1C1E"/>
                </a:solidFill>
              </a:defRPr>
            </a:pPr>
            <a:r>
              <a:t>典型应用场景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A84FF"/>
                </a:solidFill>
              </a:defRPr>
            </a:pPr>
            <a:r>
              <a:t>从日常监控到应急响应的全方位覆盖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029200" cy="2194560"/>
          </a:xfrm>
          <a:prstGeom prst="roundRect">
            <a:avLst/>
          </a:prstGeom>
          <a:solidFill>
            <a:srgbClr val="EB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480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🚦 日常交通监控</a:t>
            </a:r>
          </a:p>
          <a:p>
            <a:pPr>
              <a:defRPr sz="1300"/>
            </a:pPr>
          </a:p>
          <a:p>
            <a:pPr>
              <a:defRPr sz="1300"/>
            </a:pPr>
            <a:r>
              <a:t>目标用户: 交警支队</a:t>
            </a:r>
          </a:p>
          <a:p>
            <a:pPr>
              <a:defRPr sz="1300"/>
            </a:pPr>
          </a:p>
          <a:p>
            <a:pPr>
              <a:defRPr sz="1300"/>
            </a:pPr>
            <a:r>
              <a:t>• 早晚高峰自动巡检</a:t>
            </a:r>
          </a:p>
          <a:p>
            <a:pPr>
              <a:defRPr sz="1300"/>
            </a:pPr>
            <a:r>
              <a:t>• 拥堵热点实时发现</a:t>
            </a:r>
          </a:p>
          <a:p>
            <a:pPr>
              <a:defRPr sz="1300"/>
            </a:pPr>
            <a:r>
              <a:t>• 信号配时优化依据</a:t>
            </a:r>
          </a:p>
          <a:p>
            <a:pPr>
              <a:defRPr sz="1300"/>
            </a:pPr>
            <a:r>
              <a:t>• 周报/月报自动生成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029200" cy="2194560"/>
          </a:xfrm>
          <a:prstGeom prst="round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480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🚨 应急响应指挥</a:t>
            </a:r>
          </a:p>
          <a:p>
            <a:pPr>
              <a:defRPr sz="1300"/>
            </a:pPr>
          </a:p>
          <a:p>
            <a:pPr>
              <a:defRPr sz="1300"/>
            </a:pPr>
            <a:r>
              <a:t>目标用户: 指挥中心</a:t>
            </a:r>
          </a:p>
          <a:p>
            <a:pPr>
              <a:defRPr sz="1300"/>
            </a:pPr>
          </a:p>
          <a:p>
            <a:pPr>
              <a:defRPr sz="1300"/>
            </a:pPr>
            <a:r>
              <a:t>• 事故现场自动标注</a:t>
            </a:r>
          </a:p>
          <a:p>
            <a:pPr>
              <a:defRPr sz="1300"/>
            </a:pPr>
            <a:r>
              <a:t>• 轨迹回溯还原</a:t>
            </a:r>
          </a:p>
          <a:p>
            <a:pPr>
              <a:defRPr sz="1300"/>
            </a:pPr>
            <a:r>
              <a:t>• 分流方案快速制定</a:t>
            </a:r>
          </a:p>
          <a:p>
            <a:pPr>
              <a:defRPr sz="1300"/>
            </a:pPr>
            <a:r>
              <a:t>• 多机协同覆盖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5029200" cy="2194560"/>
          </a:xfrm>
          <a:prstGeom prst="roundRect">
            <a:avLst/>
          </a:prstGeom>
          <a:solidFill>
            <a:srgbClr val="FFF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206240"/>
            <a:ext cx="4480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🎪 大型活动保障</a:t>
            </a:r>
          </a:p>
          <a:p>
            <a:pPr>
              <a:defRPr sz="1300"/>
            </a:pPr>
          </a:p>
          <a:p>
            <a:pPr>
              <a:defRPr sz="1300"/>
            </a:pPr>
            <a:r>
              <a:t>目标用户: 活动安保</a:t>
            </a:r>
          </a:p>
          <a:p>
            <a:pPr>
              <a:defRPr sz="1300"/>
            </a:pPr>
          </a:p>
          <a:p>
            <a:pPr>
              <a:defRPr sz="1300"/>
            </a:pPr>
            <a:r>
              <a:t>• 多机协同覆盖周边路网</a:t>
            </a:r>
          </a:p>
          <a:p>
            <a:pPr>
              <a:defRPr sz="1300"/>
            </a:pPr>
            <a:r>
              <a:t>• 实时流量热力图</a:t>
            </a:r>
          </a:p>
          <a:p>
            <a:pPr>
              <a:defRPr sz="1300"/>
            </a:pPr>
            <a:r>
              <a:t>• VLM语义旁路生成简报</a:t>
            </a:r>
          </a:p>
          <a:p>
            <a:pPr>
              <a:defRPr sz="1300"/>
            </a:pPr>
            <a:r>
              <a:t>• 事后自动生成分析报告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023360"/>
            <a:ext cx="5029200" cy="2194560"/>
          </a:xfrm>
          <a:prstGeom prst="roundRect">
            <a:avLst/>
          </a:prstGeom>
          <a:solidFill>
            <a:srgbClr val="F0F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4206240"/>
            <a:ext cx="4480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🏗 交通规划评估</a:t>
            </a:r>
          </a:p>
          <a:p>
            <a:pPr>
              <a:defRPr sz="1300"/>
            </a:pPr>
          </a:p>
          <a:p>
            <a:pPr>
              <a:defRPr sz="1300"/>
            </a:pPr>
            <a:r>
              <a:t>目标用户: 规划局/设计院</a:t>
            </a:r>
          </a:p>
          <a:p>
            <a:pPr>
              <a:defRPr sz="1300"/>
            </a:pPr>
          </a:p>
          <a:p>
            <a:pPr>
              <a:defRPr sz="1300"/>
            </a:pPr>
            <a:r>
              <a:t>• 多时段多路口数据采集</a:t>
            </a:r>
          </a:p>
          <a:p>
            <a:pPr>
              <a:defRPr sz="1300"/>
            </a:pPr>
            <a:r>
              <a:t>• 轨迹还原→OD矩阵估计</a:t>
            </a:r>
          </a:p>
          <a:p>
            <a:pPr>
              <a:defRPr sz="1300"/>
            </a:pPr>
            <a:r>
              <a:t>• InfluxDB长期趋势分析</a:t>
            </a:r>
          </a:p>
          <a:p>
            <a:pPr>
              <a:defRPr sz="1300"/>
            </a:pPr>
            <a:r>
              <a:t>• Grafana可视化支撑决策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C1C1E"/>
                </a:solidFill>
              </a:defRPr>
            </a:pPr>
            <a:r>
              <a:t>测试验证结果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A84FF"/>
                </a:solidFill>
              </a:defRPr>
            </a:pPr>
            <a:r>
              <a:t>端到端49项测试全部通过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3657600" cy="2286000"/>
          </a:xfrm>
          <a:prstGeom prst="roundRect">
            <a:avLst/>
          </a:prstGeom>
          <a:solidFill>
            <a:srgbClr val="F0FFF4"/>
          </a:solidFill>
          <a:ln w="38100">
            <a:solidFill>
              <a:srgbClr val="34C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10312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34C759"/>
                </a:solidFill>
              </a:defRPr>
            </a:pPr>
            <a:r>
              <a:t>49/49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20040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4C759"/>
                </a:solidFill>
              </a:defRPr>
            </a:pPr>
            <a:r>
              <a:t>PASS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74903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86868B"/>
                </a:solidFill>
              </a:defRPr>
            </a:pPr>
            <a:r>
              <a:t>端到端测试通过率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8288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✅ 检测跟踪测试 (12/12)</a:t>
            </a:r>
          </a:p>
          <a:p>
            <a:pPr>
              <a:defRPr sz="1200"/>
            </a:pPr>
            <a:r>
              <a:t>• YOLO11检测精度验证</a:t>
            </a:r>
          </a:p>
          <a:p>
            <a:pPr>
              <a:defRPr sz="1200"/>
            </a:pPr>
            <a:r>
              <a:t>• ByteTrack ID一致性</a:t>
            </a:r>
          </a:p>
          <a:p>
            <a:pPr>
              <a:defRPr sz="1200"/>
            </a:pPr>
            <a:r>
              <a:t>• 遮挡场景鲁棒性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✅ 运动补偿测试 (8/8)</a:t>
            </a:r>
          </a:p>
          <a:p>
            <a:pPr>
              <a:defRPr sz="1200"/>
            </a:pPr>
            <a:r>
              <a:t>• GPS锚定精度</a:t>
            </a:r>
          </a:p>
          <a:p>
            <a:pPr>
              <a:defRPr sz="1200"/>
            </a:pPr>
            <a:r>
              <a:t>• 速度矢量补偿</a:t>
            </a:r>
          </a:p>
          <a:p>
            <a:pPr>
              <a:defRPr sz="1200"/>
            </a:pPr>
            <a:r>
              <a:t>• 悬停/巡飞模式切换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✅ 方向流量测试 (10/10)</a:t>
            </a:r>
          </a:p>
          <a:p>
            <a:pPr>
              <a:defRPr sz="1200"/>
            </a:pPr>
            <a:r>
              <a:t>• 转向分类准确率</a:t>
            </a:r>
          </a:p>
          <a:p>
            <a:pPr>
              <a:defRPr sz="1200"/>
            </a:pPr>
            <a:r>
              <a:t>• 排队检测灵敏度</a:t>
            </a:r>
          </a:p>
          <a:p>
            <a:pPr>
              <a:defRPr sz="1200"/>
            </a:pPr>
            <a:r>
              <a:t>• 车道级统计一致性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✅ 轨迹还原测试 (9/9)</a:t>
            </a:r>
          </a:p>
          <a:p>
            <a:pPr>
              <a:defRPr sz="1200"/>
            </a:pPr>
            <a:r>
              <a:t>• 世界坐标准确性</a:t>
            </a:r>
          </a:p>
          <a:p>
            <a:pPr>
              <a:defRPr sz="1200"/>
            </a:pPr>
            <a:r>
              <a:t>• 转向行为分类</a:t>
            </a:r>
          </a:p>
          <a:p>
            <a:pPr>
              <a:defRPr sz="1200"/>
            </a:pPr>
            <a:r>
              <a:t>• OD矩阵估计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✅ 系统集成测试 (10/10)</a:t>
            </a:r>
          </a:p>
          <a:p>
            <a:pPr>
              <a:defRPr sz="1200"/>
            </a:pPr>
            <a:r>
              <a:t>• Kafka消息完整性</a:t>
            </a:r>
          </a:p>
          <a:p>
            <a:pPr>
              <a:defRPr sz="1200"/>
            </a:pPr>
            <a:r>
              <a:t>• InfluxDB写入验证</a:t>
            </a:r>
          </a:p>
          <a:p>
            <a:pPr>
              <a:defRPr sz="1200"/>
            </a:pPr>
            <a:r>
              <a:t>• Platform API连通性</a:t>
            </a:r>
          </a:p>
          <a:p>
            <a:pPr>
              <a:defRPr sz="1200"/>
            </a:pPr>
            <a:r>
              <a:t>• WebSocket实时推送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943600"/>
            <a:ext cx="10728655" cy="64008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60350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C1C1E"/>
                </a:solidFill>
              </a:defRPr>
            </a:pPr>
            <a:r>
              <a:t>📹 测试数据：小清河北路×水屯路 — 20min悬停 | AGL 163.4m | RTK固定解 | 云台-90° | 453帧悬停数据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C1C1E"/>
                </a:solidFill>
              </a:defRPr>
            </a:pPr>
            <a:r>
              <a:t>系统集成方案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A84FF"/>
                </a:solidFill>
              </a:defRPr>
            </a:pPr>
            <a:r>
              <a:t>Docker Compose一键部署 | 水平扩展 | 标准化接口对接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029200" cy="2194560"/>
          </a:xfrm>
          <a:prstGeom prst="roundRect">
            <a:avLst/>
          </a:prstGeom>
          <a:solidFill>
            <a:srgbClr val="F5F5F7"/>
          </a:solidFill>
          <a:ln w="25400"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480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🐳 部署架构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• Docker Compose全栈编排</a:t>
            </a:r>
          </a:p>
          <a:p>
            <a:pPr>
              <a:defRPr sz="1200"/>
            </a:pPr>
            <a:r>
              <a:t>• 检测管道容器（GPU）× N</a:t>
            </a:r>
          </a:p>
          <a:p>
            <a:pPr>
              <a:defRPr sz="1200"/>
            </a:pPr>
            <a:r>
              <a:t>• Kafka + Zookeeper消息总线</a:t>
            </a:r>
          </a:p>
          <a:p>
            <a:pPr>
              <a:defRPr sz="1200"/>
            </a:pPr>
            <a:r>
              <a:t>• InfluxDB 1.8（30天保留）</a:t>
            </a:r>
          </a:p>
          <a:p>
            <a:pPr>
              <a:defRPr sz="1200"/>
            </a:pPr>
            <a:r>
              <a:t>• Telegraf桥接</a:t>
            </a:r>
          </a:p>
          <a:p>
            <a:pPr>
              <a:defRPr sz="1200"/>
            </a:pPr>
            <a:r>
              <a:t>• Grafana自动provisioning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029200" cy="2194560"/>
          </a:xfrm>
          <a:prstGeom prst="roundRect">
            <a:avLst/>
          </a:prstGeom>
          <a:solidFill>
            <a:srgbClr val="F5F5F7"/>
          </a:solidFill>
          <a:ln w="25400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480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📈 扩展策略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• 水平扩展：+1路口 = +1容器</a:t>
            </a:r>
          </a:p>
          <a:p>
            <a:pPr>
              <a:defRPr sz="1200"/>
            </a:pPr>
            <a:r>
              <a:t>• 新增环境变量自动创建topic</a:t>
            </a:r>
          </a:p>
          <a:p>
            <a:pPr>
              <a:defRPr sz="1200"/>
            </a:pPr>
            <a:r>
              <a:t>• 独立Grafana仪表盘模板化</a:t>
            </a:r>
          </a:p>
          <a:p>
            <a:pPr>
              <a:defRPr sz="1200"/>
            </a:pPr>
            <a:r>
              <a:t>• PipelineManager子进程管理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5029200" cy="2194560"/>
          </a:xfrm>
          <a:prstGeom prst="roundRect">
            <a:avLst/>
          </a:prstGeom>
          <a:solidFill>
            <a:srgbClr val="F5F5F7"/>
          </a:solidFill>
          <a:ln w="25400">
            <a:solidFill>
              <a:srgbClr val="34C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206240"/>
            <a:ext cx="4480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🔌 集成对接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REST API (43条路由)</a:t>
            </a:r>
          </a:p>
          <a:p>
            <a:pPr>
              <a:defRPr sz="1200"/>
            </a:pPr>
            <a:r>
              <a:t>• 标准JSON + JWT认证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WebSocket (4频道)</a:t>
            </a:r>
          </a:p>
          <a:p>
            <a:pPr>
              <a:defRPr sz="1200"/>
            </a:pPr>
            <a:r>
              <a:t>• 实时数据推送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Kafka Consumer</a:t>
            </a:r>
          </a:p>
          <a:p>
            <a:pPr>
              <a:defRPr sz="1200"/>
            </a:pPr>
            <a:r>
              <a:t>• 直接消费原始消息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InfluxDB InfluxQL</a:t>
            </a:r>
          </a:p>
          <a:p>
            <a:pPr>
              <a:defRPr sz="1200"/>
            </a:pPr>
            <a:r>
              <a:t>• 时序数据直查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023360"/>
            <a:ext cx="5029200" cy="2194560"/>
          </a:xfrm>
          <a:prstGeom prst="roundRect">
            <a:avLst/>
          </a:prstGeom>
          <a:solidFill>
            <a:srgbClr val="F5F5F7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4206240"/>
            <a:ext cx="4480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⚙️ 配置管理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Hydra 分层配置</a:t>
            </a:r>
          </a:p>
          <a:p>
            <a:pPr>
              <a:defRPr sz="1200"/>
            </a:pPr>
            <a:r>
              <a:t>• configs/app_config.yaml</a:t>
            </a:r>
          </a:p>
          <a:p>
            <a:pPr>
              <a:defRPr sz="1200"/>
            </a:pPr>
            <a:r>
              <a:t>• 环境变量覆盖(oc.env)</a:t>
            </a:r>
          </a:p>
          <a:p>
            <a:pPr>
              <a:defRPr sz="1200"/>
            </a:pPr>
            <a:r>
              <a:t>• CLI覆盖(pipeline.save=True)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Pydantic Settings</a:t>
            </a:r>
          </a:p>
          <a:p>
            <a:pPr>
              <a:defRPr sz="1200"/>
            </a:pPr>
            <a:r>
              <a:t>• 环境变量统一管理</a:t>
            </a:r>
          </a:p>
          <a:p>
            <a:pPr>
              <a:defRPr sz="1200"/>
            </a:pPr>
            <a:r>
              <a:t>• Docker compose注入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943600"/>
            <a:ext cx="10728655" cy="64008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60350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C1C1E"/>
                </a:solidFill>
              </a:defRPr>
            </a:pPr>
            <a:r>
              <a:t>🏥 运维监控：/health存活检查 | /ready就绪检查 | is_alive()进程健康 | 5s后台监控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C1C1E"/>
                </a:solidFill>
              </a:defRPr>
            </a:pPr>
            <a:r>
              <a:t>风险分析与应对策略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A84FF"/>
                </a:solidFill>
              </a:defRPr>
            </a:pPr>
            <a:r>
              <a:t>技术风险 + 工程风险 + 运营风险 — 全面预案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029200" cy="1920240"/>
          </a:xfrm>
          <a:prstGeom prst="roundRect">
            <a:avLst/>
          </a:prstGeom>
          <a:solidFill>
            <a:srgbClr val="F5F5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37160" cy="1920240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3B30"/>
                </a:solidFill>
              </a:defRPr>
            </a:pPr>
            <a:r>
              <a:t>⚠️ GPS信号丢失/漂移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783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风险:高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0" y="1783080"/>
            <a:ext cx="731520" cy="320040"/>
          </a:xfrm>
          <a:prstGeom prst="round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1783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风险:高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148840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• 保持上次位移增量</a:t>
            </a:r>
          </a:p>
          <a:p>
            <a:pPr>
              <a:defRPr sz="1100"/>
            </a:pPr>
            <a:r>
              <a:t>• 首10帧GPS锚点初始化</a:t>
            </a:r>
          </a:p>
          <a:p>
            <a:pPr>
              <a:defRPr sz="1100"/>
            </a:pPr>
            <a:r>
              <a:t>• RTK固定解质量监控</a:t>
            </a:r>
          </a:p>
          <a:p>
            <a:pPr>
              <a:defRPr sz="1100"/>
            </a:pPr>
            <a:r>
              <a:t>→ 降级为像素空间分析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5029200" cy="1920240"/>
          </a:xfrm>
          <a:prstGeom prst="roundRect">
            <a:avLst/>
          </a:prstGeom>
          <a:solidFill>
            <a:srgbClr val="F5F5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645920"/>
            <a:ext cx="137160" cy="192024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783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CC00"/>
                </a:solidFill>
              </a:defRPr>
            </a:pPr>
            <a:r>
              <a:t>⚠️ 无人机抖动超限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1783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风险:中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332720" y="1783080"/>
            <a:ext cx="731520" cy="320040"/>
          </a:xfrm>
          <a:prstGeom prst="round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32720" y="1783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风险:中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148840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• 三轴云台硬件防抖为主</a:t>
            </a:r>
          </a:p>
          <a:p>
            <a:pPr>
              <a:defRPr sz="1100"/>
            </a:pPr>
            <a:r>
              <a:t>• EIS软件层ORB补偿</a:t>
            </a:r>
          </a:p>
          <a:p>
            <a:pPr>
              <a:defRPr sz="1100"/>
            </a:pPr>
            <a:r>
              <a:t>• track_buffer=250帧容忍</a:t>
            </a:r>
          </a:p>
          <a:p>
            <a:pPr>
              <a:defRPr sz="1100"/>
            </a:pPr>
            <a:r>
              <a:t>→ 选风速&lt;6m/s窗口期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749039"/>
            <a:ext cx="5029200" cy="1920240"/>
          </a:xfrm>
          <a:prstGeom prst="roundRect">
            <a:avLst/>
          </a:prstGeom>
          <a:solidFill>
            <a:srgbClr val="F5F5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3749039"/>
            <a:ext cx="137160" cy="192024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886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CC00"/>
                </a:solidFill>
              </a:defRPr>
            </a:pPr>
            <a:r>
              <a:t>⚠️ GPU算力瓶颈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38862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风险:中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46320" y="3886200"/>
            <a:ext cx="731520" cy="320040"/>
          </a:xfrm>
          <a:prstGeom prst="round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46320" y="38862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风险:中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251959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• VLM旁路独立GPU（双卡）</a:t>
            </a:r>
          </a:p>
          <a:p>
            <a:pPr>
              <a:defRPr sz="1100"/>
            </a:pPr>
            <a:r>
              <a:t>• 旁路崩溃不影响主链路</a:t>
            </a:r>
          </a:p>
          <a:p>
            <a:pPr>
              <a:defRPr sz="1100"/>
            </a:pPr>
            <a:r>
              <a:t>• 单卡降级：VLM降频</a:t>
            </a:r>
          </a:p>
          <a:p>
            <a:pPr>
              <a:defRPr sz="1100"/>
            </a:pPr>
            <a:r>
              <a:t>→ 边缘+云端VLM混合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3749039"/>
            <a:ext cx="5029200" cy="1920240"/>
          </a:xfrm>
          <a:prstGeom prst="roundRect">
            <a:avLst/>
          </a:prstGeom>
          <a:solidFill>
            <a:srgbClr val="F5F5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3749039"/>
            <a:ext cx="137160" cy="192024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3886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CC00"/>
                </a:solidFill>
              </a:defRPr>
            </a:pPr>
            <a:r>
              <a:t>⚠️ 标定参数失效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32720" y="38862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风险:中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332720" y="3886200"/>
            <a:ext cx="731520" cy="320040"/>
          </a:xfrm>
          <a:prstGeom prst="round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0" y="38862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风险:中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4251959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• 三级查表（精确→插值→告警）</a:t>
            </a:r>
          </a:p>
          <a:p>
            <a:pPr>
              <a:defRPr sz="1100"/>
            </a:pPr>
            <a:r>
              <a:t>• 俯仰/高度/匹配率监控</a:t>
            </a:r>
          </a:p>
          <a:p>
            <a:pPr>
              <a:defRPr sz="1100"/>
            </a:pPr>
            <a:r>
              <a:t>• 自动重标定+回退航点</a:t>
            </a:r>
          </a:p>
          <a:p>
            <a:pPr>
              <a:defRPr sz="1100"/>
            </a:pPr>
            <a:r>
              <a:t>→ calib_quality标记降级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5852159"/>
            <a:ext cx="5029200" cy="1920240"/>
          </a:xfrm>
          <a:prstGeom prst="roundRect">
            <a:avLst/>
          </a:prstGeom>
          <a:solidFill>
            <a:srgbClr val="F5F5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1520" y="5852159"/>
            <a:ext cx="137160" cy="1920240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" y="5989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4C759"/>
                </a:solidFill>
              </a:defRPr>
            </a:pPr>
            <a:r>
              <a:t>⚠️ 模型泛化不足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46320" y="59893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风险:低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846320" y="5989320"/>
            <a:ext cx="731520" cy="320040"/>
          </a:xfrm>
          <a:prstGeom prst="round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46320" y="59893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风险:低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" y="6355079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• 自训练UAV视角模型</a:t>
            </a:r>
          </a:p>
          <a:p>
            <a:pPr>
              <a:defRPr sz="1100"/>
            </a:pPr>
            <a:r>
              <a:t>• 行人/自行车类别待微调</a:t>
            </a:r>
          </a:p>
          <a:p>
            <a:pPr>
              <a:defRPr sz="1100"/>
            </a:pPr>
            <a:r>
              <a:t>• 在线学习框架预留</a:t>
            </a:r>
          </a:p>
          <a:p>
            <a:pPr>
              <a:defRPr sz="1100"/>
            </a:pPr>
            <a:r>
              <a:t>→ 分场景模型库管理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5852159"/>
            <a:ext cx="5029200" cy="1920240"/>
          </a:xfrm>
          <a:prstGeom prst="roundRect">
            <a:avLst/>
          </a:prstGeom>
          <a:solidFill>
            <a:srgbClr val="F5F5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17920" y="5852159"/>
            <a:ext cx="137160" cy="1920240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92240" y="5989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4C759"/>
                </a:solidFill>
              </a:defRPr>
            </a:pPr>
            <a:r>
              <a:t>⚠️ 网络传输中断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32720" y="59893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风险:低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332720" y="5989320"/>
            <a:ext cx="731520" cy="320040"/>
          </a:xfrm>
          <a:prstGeom prst="round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332720" y="59893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风险:低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92240" y="6355079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• Kafka消息持久化</a:t>
            </a:r>
          </a:p>
          <a:p>
            <a:pPr>
              <a:defRPr sz="1100"/>
            </a:pPr>
            <a:r>
              <a:t>• RTSP断线自动重连</a:t>
            </a:r>
          </a:p>
          <a:p>
            <a:pPr>
              <a:defRPr sz="1100"/>
            </a:pPr>
            <a:r>
              <a:t>• 本地缓存+补传机制</a:t>
            </a:r>
          </a:p>
          <a:p>
            <a:pPr>
              <a:defRPr sz="1100"/>
            </a:pPr>
            <a:r>
              <a:t>→ 4G/5G双链路冗余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C1C1E"/>
                </a:solidFill>
              </a:defRPr>
            </a:pPr>
            <a:r>
              <a:t>合作推进路径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A84FF"/>
                </a:solidFill>
              </a:defRPr>
            </a:pPr>
            <a:r>
              <a:t>三期交付路线 — 从POC验证到规模化部署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74720" cy="4389120"/>
          </a:xfrm>
          <a:prstGeom prst="roundRect">
            <a:avLst/>
          </a:prstGeom>
          <a:solidFill>
            <a:srgbClr val="EBF8FF"/>
          </a:solidFill>
          <a:ln w="38100"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A84FF"/>
                </a:solidFill>
              </a:defRPr>
            </a:pPr>
            <a:r>
              <a:t>Phase 1: POC验证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2860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C1C1E"/>
                </a:solidFill>
              </a:defRPr>
            </a:pPr>
            <a:r>
              <a:t>W1-W4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65176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M1: 单路口端到端联调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• 小清河路口标定+IPM</a:t>
            </a:r>
          </a:p>
          <a:p>
            <a:pPr>
              <a:defRPr sz="1200"/>
            </a:pPr>
            <a:r>
              <a:t>• YOLO11检测+ByteTrack</a:t>
            </a:r>
          </a:p>
          <a:p>
            <a:pPr>
              <a:defRPr sz="1200"/>
            </a:pPr>
            <a:r>
              <a:t>• Grafana实时大屏4面板</a:t>
            </a:r>
          </a:p>
          <a:p>
            <a:pPr>
              <a:defRPr sz="1200"/>
            </a:pPr>
            <a:r>
              <a:t>• 标注工具Web UI</a:t>
            </a:r>
          </a:p>
          <a:p>
            <a:pPr>
              <a:defRPr sz="1200"/>
            </a:pPr>
            <a:r>
              <a:t>• Kafka 3-Topic验证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645920"/>
            <a:ext cx="3474720" cy="4389120"/>
          </a:xfrm>
          <a:prstGeom prst="roundRect">
            <a:avLst/>
          </a:prstGeom>
          <a:solidFill>
            <a:srgbClr val="FFF9E6"/>
          </a:solidFill>
          <a:ln w="38100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600" y="18288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9500"/>
                </a:solidFill>
              </a:defRPr>
            </a:pPr>
            <a:r>
              <a:t>Phase 2: 功能完善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22860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C1C1E"/>
                </a:solidFill>
              </a:defRPr>
            </a:pPr>
            <a:r>
              <a:t>W5-W8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265176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M2: 全要素感知+告警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• VLM语义旁路(Qwen-VL 7B)</a:t>
            </a:r>
          </a:p>
          <a:p>
            <a:pPr>
              <a:defRPr sz="1200"/>
            </a:pPr>
            <a:r>
              <a:t>• 告警规则引擎+Webhook</a:t>
            </a:r>
          </a:p>
          <a:p>
            <a:pPr>
              <a:defRPr sz="1200"/>
            </a:pPr>
            <a:r>
              <a:t>• 热成像双通道融合</a:t>
            </a:r>
          </a:p>
          <a:p>
            <a:pPr>
              <a:defRPr sz="1200"/>
            </a:pPr>
            <a:r>
              <a:t>• 早高峰自动分析报告</a:t>
            </a:r>
          </a:p>
          <a:p>
            <a:pPr>
              <a:defRPr sz="1200"/>
            </a:pPr>
            <a:r>
              <a:t>• 冲突检测模型微调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1645920"/>
            <a:ext cx="3474720" cy="4389120"/>
          </a:xfrm>
          <a:prstGeom prst="roundRect">
            <a:avLst/>
          </a:prstGeom>
          <a:solidFill>
            <a:srgbClr val="F0FFF4"/>
          </a:solidFill>
          <a:ln w="38100">
            <a:solidFill>
              <a:srgbClr val="34C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41080" y="18288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C759"/>
                </a:solidFill>
              </a:defRPr>
            </a:pPr>
            <a:r>
              <a:t>Phase 3: 规模部署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22860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C1C1E"/>
                </a:solidFill>
              </a:defRPr>
            </a:pPr>
            <a:r>
              <a:t>W9-W12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265176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M3: 多机多路口协同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• GIS多路口一张图</a:t>
            </a:r>
          </a:p>
          <a:p>
            <a:pPr>
              <a:defRPr sz="1200"/>
            </a:pPr>
            <a:r>
              <a:t>• 飞行轨迹回放面板</a:t>
            </a:r>
          </a:p>
          <a:p>
            <a:pPr>
              <a:defRPr sz="1200"/>
            </a:pPr>
            <a:r>
              <a:t>• EIS画面稳定优化</a:t>
            </a:r>
          </a:p>
          <a:p>
            <a:pPr>
              <a:defRPr sz="1200"/>
            </a:pPr>
            <a:r>
              <a:t>• 精度基准离线评估</a:t>
            </a:r>
          </a:p>
          <a:p>
            <a:pPr>
              <a:defRPr sz="1200"/>
            </a:pPr>
            <a:r>
              <a:t>• 25分钟CTO演示无卡顿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943600"/>
            <a:ext cx="10728655" cy="64008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6035040"/>
            <a:ext cx="10332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C1C1E"/>
                </a:solidFill>
              </a:defRPr>
            </a:pPr>
            <a:r>
              <a:t>📋 依赖关系与关键路径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6309360"/>
            <a:ext cx="10332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D1D1F"/>
                </a:solidFill>
              </a:defRPr>
            </a:pPr>
            <a:r>
              <a:t>P1(标定) → P2(检测) → P3(方向) → P4(轨迹) → P5(遥测) → P6(冲突) → P7(集成) | VLM旁路(W5-7) 与 EIS(W4-5) 可并行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谢谢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0A84FF"/>
                </a:solidFill>
              </a:defRPr>
            </a:pPr>
            <a:r>
              <a:t>期待与您共同推进无人机交通态势感知的落地应用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9500"/>
                </a:solidFill>
              </a:defRPr>
            </a:pPr>
            <a:r>
              <a:t>双模式覆盖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480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5F5F7"/>
                </a:solidFill>
              </a:defRPr>
            </a:pPr>
            <a:r>
              <a:t>巡飞路段级 + 悬停路口级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114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9500"/>
                </a:solidFill>
              </a:defRPr>
            </a:pPr>
            <a:r>
              <a:t>全要素感知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480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5F5F7"/>
                </a:solidFill>
              </a:defRPr>
            </a:pPr>
            <a:r>
              <a:t>流量/车速/排队/转向/轨迹/冲突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212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9500"/>
                </a:solidFill>
              </a:defRPr>
            </a:pPr>
            <a:r>
              <a:t>即插即用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577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5F5F7"/>
                </a:solidFill>
              </a:defRPr>
            </a:pPr>
            <a:r>
              <a:t>Docker一键部署，Kafka标准接口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9500"/>
                </a:solidFill>
              </a:defRPr>
            </a:pPr>
            <a:r>
              <a:t>已验证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5577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5F5F7"/>
                </a:solidFill>
              </a:defRPr>
            </a:pPr>
            <a:r>
              <a:t>49项E2E测试通过，真实飞行数据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400800"/>
            <a:ext cx="103628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86868B"/>
                </a:solidFill>
              </a:defRPr>
            </a:pPr>
            <a:r>
              <a:t>UAV-Based Urban Traffic Situation Awareness | 2026.05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