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0F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73152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无人机城市交通态势感知系统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A"/>
                </a:solidFill>
                <a:latin typeface="Microsoft YaHei"/>
              </a:defRPr>
            </a:pPr>
            <a:r>
              <a:t>UAV-Based Urban Traffic Situation Awareness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0"/>
                </a:solidFill>
                <a:latin typeface="Microsoft YaHei"/>
              </a:defRPr>
            </a:pPr>
            <a:r>
              <a:t>技术方案汇报  |  CTO技术评审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8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8AA0"/>
                </a:solidFill>
                <a:latin typeface="Microsoft YaHei"/>
              </a:defRPr>
            </a:pPr>
            <a:r>
              <a:t>YOLO11 + ByteTrack  |  Kafka + InfluxDB  |  双模式作业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263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7A8AA0"/>
                </a:solidFill>
                <a:latin typeface="Microsoft YaHei"/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行业痛点与现有方案局限性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Why UAV? — 传统交通感知方案的三大瓶颈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2/20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329184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45920"/>
            <a:ext cx="36576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固定摄像头方案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26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覆盖盲区多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单摄像头覆盖角度有限（≤120°）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路口改建后需重新布线安装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透视畸变导致远端检测精度下降&gt;15%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无法灵活调度，硬件部署周期长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383280" cy="329184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19" y="1645920"/>
            <a:ext cx="365760" cy="508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600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地磁/线圈检测方案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057400"/>
            <a:ext cx="2926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维护成本高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需破路施工，影响交通通行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仅能检测通过/存在，无轨迹信息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传感器老化后精度衰减严重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无法识别车辆类型与行驶方向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383280" cy="329184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645920"/>
            <a:ext cx="36576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600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浮动车/GPS方案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57400"/>
            <a:ext cx="2926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数据粒度粗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依赖营运车辆GPS，覆盖率&lt;15%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采样间隔5-30s，无法检测瞬时事件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无车道级精度，无法区分转向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行人/非机动车完全不可见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核心矛盾：交管部门需要「全路段、全时段、全要素」的交通态势数据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而传统方案在覆盖灵活性、检测精度和部署成本之间存在不可调和的三角矛盾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无人机交通态势感知 — 核心价值主张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一种机动、精确、全要素的新型交通感知基础设施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3/20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2560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🛩  机动覆盖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5分钟抵达任意路口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固定摄像头盲区即时接管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无需破路施工布线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651760" cy="2560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Microsoft YaHei"/>
              </a:defRPr>
            </a:pPr>
            <a:r>
              <a:t>📊  全要素感知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流量/车速/排队/车头时距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转向分类/轨迹还原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机非冲突事件检测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554480"/>
            <a:ext cx="2651760" cy="2560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⚡  秒级告警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TTC&lt;1s 触发P1告警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异常停车/逆行识别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Webhook推送&lt;30s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1554480"/>
            <a:ext cx="2651760" cy="2560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🔄  全天候运行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热成像+可见光双通道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夜间/大雾场景覆盖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RTK厘米级定位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72000"/>
            <a:ext cx="2468880" cy="9144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Microsoft YaHei"/>
              </a:defRPr>
            </a:pPr>
            <a:r>
              <a:t>35+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FPS处理帧率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572000"/>
            <a:ext cx="2468880" cy="9144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Microsoft YaHei"/>
              </a:defRPr>
            </a:pPr>
            <a:r>
              <a:t>±2m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GPS定位精度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572000"/>
            <a:ext cx="2468880" cy="9144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Microsoft YaHei"/>
              </a:defRPr>
            </a:pPr>
            <a:r>
              <a:t>43路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REST API端点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4572000"/>
            <a:ext cx="2468880" cy="9144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Microsoft YaHei"/>
              </a:defRPr>
            </a:pPr>
            <a:r>
              <a:t>&lt;1s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端到端延迟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80%代码复用成熟开源项目 TrafficAnalyzer  →  新增风险集中在3个核心节点（IPM/EIS/VLM），工程可控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双模式作业架构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巡飞模式（路段级）×  悬停模式（交叉口级）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4/20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Microsoft YaHei"/>
              </a:defRPr>
            </a:pPr>
            <a:r>
              <a:t>巡飞模式 — 路段级覆盖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作业参数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飞行高度：80-160m AGL  • 飞行速度：8-12 m/s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覆盖范围：2-5km路段  • 单架次时长：15-25min</a:t>
            </a:r>
          </a:p>
          <a:p>
            <a:pPr>
              <a:spcAft>
                <a:spcPts val="24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检测能力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路段交通流量统计（辆/分钟）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区间平均车速估计（km/h，运动补偿后）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转向车流分类（左转/直行/右转/掉头）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机非冲突事件检测（TTC模型）</a:t>
            </a:r>
          </a:p>
          <a:p>
            <a:pPr>
              <a:spcAft>
                <a:spcPts val="24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技术特点</a:t>
            </a:r>
          </a:p>
          <a:p>
            <a:pPr>
              <a:spcAft>
                <a:spcPts val="359"/>
              </a:spcAft>
              <a:defRPr sz="1200" b="0">
                <a:solidFill>
                  <a:srgbClr val="00D4AA"/>
                </a:solidFill>
                <a:latin typeface="Microsoft YaHei"/>
              </a:defRPr>
            </a:pPr>
            <a:r>
              <a:t>• GPS锚定世界坐标系 + 帧间运动补偿</a:t>
            </a:r>
          </a:p>
          <a:p>
            <a:pPr>
              <a:spcAft>
                <a:spcPts val="359"/>
              </a:spcAft>
              <a:defRPr sz="1200" b="0">
                <a:solidFill>
                  <a:srgbClr val="00D4AA"/>
                </a:solidFill>
                <a:latin typeface="Microsoft YaHei"/>
              </a:defRPr>
            </a:pPr>
            <a:r>
              <a:t>• 无需预标注，零配置即可输出方向流量</a:t>
            </a:r>
          </a:p>
          <a:p>
            <a:pPr>
              <a:spcAft>
                <a:spcPts val="330"/>
              </a:spcAft>
              <a:defRPr sz="1100" b="0">
                <a:solidFill>
                  <a:srgbClr val="7A8AA0"/>
                </a:solidFill>
                <a:latin typeface="Microsoft YaHei"/>
              </a:defRPr>
            </a:pPr>
            <a:r>
              <a:t>• 无人机速度&gt;5m/s时方向分类降级为像素空间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8BFD"/>
                </a:solidFill>
                <a:latin typeface="Microsoft YaHei"/>
              </a:defRPr>
            </a:pPr>
            <a:r>
              <a:t>悬停模式 — 交叉口精细化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作业参数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悬停高度：50-120m AGL  • 悬停精度：±0.5m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覆盖范围：单路口全域  • 单架次时长：20-40min</a:t>
            </a:r>
          </a:p>
          <a:p>
            <a:pPr>
              <a:spcAft>
                <a:spcPts val="24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检测能力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车道级流量/车速/排队长度/车头时距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精确转向轨迹还原（世界坐标米级）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进出口道路车辆归属判定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冲突事件精确定位（距离+TTC+坐标）</a:t>
            </a:r>
          </a:p>
          <a:p>
            <a:pPr>
              <a:spcAft>
                <a:spcPts val="24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技术特点</a:t>
            </a:r>
          </a:p>
          <a:p>
            <a:pPr>
              <a:spcAft>
                <a:spcPts val="359"/>
              </a:spcAft>
              <a:defRPr sz="1200" b="0">
                <a:solidFill>
                  <a:srgbClr val="388BFD"/>
                </a:solidFill>
                <a:latin typeface="Microsoft YaHei"/>
              </a:defRPr>
            </a:pPr>
            <a:r>
              <a:t>• 遥测驱动自动单应性标定（Nadir/Oblique双模式）</a:t>
            </a:r>
          </a:p>
          <a:p>
            <a:pPr>
              <a:spcAft>
                <a:spcPts val="359"/>
              </a:spcAft>
              <a:defRPr sz="1200" b="0">
                <a:solidFill>
                  <a:srgbClr val="388BFD"/>
                </a:solidFill>
                <a:latin typeface="Microsoft YaHei"/>
              </a:defRPr>
            </a:pPr>
            <a:r>
              <a:t>• 车道多边形预标注，数据驱动自动输出</a:t>
            </a:r>
          </a:p>
          <a:p>
            <a:pPr>
              <a:spcAft>
                <a:spcPts val="359"/>
              </a:spcAft>
              <a:defRPr sz="1200" b="0">
                <a:solidFill>
                  <a:srgbClr val="388BFD"/>
                </a:solidFill>
                <a:latin typeface="Microsoft YaHei"/>
              </a:defRPr>
            </a:pPr>
            <a:r>
              <a:t>• 云台-90°正下方锁定，GSD恒定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四层架构：飞行平台 → 边缘计算 → 数据管道 → 业务平台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5/20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solidFill>
            <a:srgbClr val="0A2E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Microsoft YaHei"/>
              </a:defRPr>
            </a:pPr>
            <a:r>
              <a:t>飞行平台层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64592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DJI M300 RTK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20240"/>
            <a:ext cx="164592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RTSP图传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920240"/>
            <a:ext cx="164592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MQTT遥测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920240"/>
            <a:ext cx="164592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GPS/RTK定位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920240"/>
            <a:ext cx="164592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三轴云台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1920240"/>
            <a:ext cx="164592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SRT字幕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2514600"/>
            <a:ext cx="548640" cy="32004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26080"/>
            <a:ext cx="11064240" cy="1005840"/>
          </a:xfrm>
          <a:prstGeom prst="rect">
            <a:avLst/>
          </a:prstGeom>
          <a:solidFill>
            <a:srgbClr val="1A1A2E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8BFD"/>
                </a:solidFill>
                <a:latin typeface="Microsoft YaHei"/>
              </a:defRPr>
            </a:pPr>
            <a:r>
              <a:t>边缘计算层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3280"/>
            <a:ext cx="146304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388BFD"/>
                </a:solidFill>
                <a:latin typeface="Microsoft YaHei"/>
              </a:defRPr>
            </a:pPr>
            <a:r>
              <a:t>EIS稳定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383280"/>
            <a:ext cx="146304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388BFD"/>
                </a:solidFill>
                <a:latin typeface="Microsoft YaHei"/>
              </a:defRPr>
            </a:pPr>
            <a:r>
              <a:t>IPM标定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383280"/>
            <a:ext cx="146304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388BFD"/>
                </a:solidFill>
                <a:latin typeface="Microsoft YaHei"/>
              </a:defRPr>
            </a:pPr>
            <a:r>
              <a:t>YOLO11检测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83280"/>
            <a:ext cx="146304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388BFD"/>
                </a:solidFill>
                <a:latin typeface="Microsoft YaHei"/>
              </a:defRPr>
            </a:pPr>
            <a:r>
              <a:t>ByteTrack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383280"/>
            <a:ext cx="146304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388BFD"/>
                </a:solidFill>
                <a:latin typeface="Microsoft YaHei"/>
              </a:defRPr>
            </a:pPr>
            <a:r>
              <a:t>运动补偿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3383280"/>
            <a:ext cx="146304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388BFD"/>
                </a:solidFill>
                <a:latin typeface="Microsoft YaHei"/>
              </a:defRPr>
            </a:pPr>
            <a:r>
              <a:t>分析节点链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69280" y="3977639"/>
            <a:ext cx="548640" cy="32004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11064240" cy="1005840"/>
          </a:xfrm>
          <a:prstGeom prst="rect">
            <a:avLst/>
          </a:prstGeom>
          <a:solidFill>
            <a:srgbClr val="2E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数据管道层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46320"/>
            <a:ext cx="128016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Kafka 3-Topic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846320"/>
            <a:ext cx="128016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Telegraf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846320"/>
            <a:ext cx="128016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InfluxDB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4846320"/>
            <a:ext cx="128016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WebSocket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4846320"/>
            <a:ext cx="128016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AlertEngine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4846320"/>
            <a:ext cx="1280160" cy="4114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PipelineManager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669280" y="5440680"/>
            <a:ext cx="548640" cy="32004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2E0A1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Microsoft YaHei"/>
              </a:defRPr>
            </a:pPr>
            <a:r>
              <a:t>业务平台层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5989320"/>
            <a:ext cx="1554480" cy="36576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A855F7"/>
                </a:solidFill>
                <a:latin typeface="Microsoft YaHei"/>
              </a:defRPr>
            </a:pPr>
            <a:r>
              <a:t>FastAPI 43路API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5989320"/>
            <a:ext cx="1554480" cy="36576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A855F7"/>
                </a:solidFill>
                <a:latin typeface="Microsoft YaHei"/>
              </a:defRPr>
            </a:pPr>
            <a:r>
              <a:t>React SPA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5989320"/>
            <a:ext cx="1554480" cy="36576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A855F7"/>
                </a:solidFill>
                <a:latin typeface="Microsoft YaHei"/>
              </a:defRPr>
            </a:pPr>
            <a:r>
              <a:t>Grafana大屏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5989320"/>
            <a:ext cx="1554480" cy="36576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A855F7"/>
                </a:solidFill>
                <a:latin typeface="Microsoft YaHei"/>
              </a:defRPr>
            </a:pPr>
            <a:r>
              <a:t>GIS一张图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核心Pipeline — 视频分析处理链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Node-based Architecture: 每帧流经12个功能节点，渐进式数据增强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6/20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VideoReader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视频采集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遥测注入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84832" y="219456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164592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8BFD"/>
                </a:solidFill>
                <a:latin typeface="Microsoft YaHei"/>
              </a:defRPr>
            </a:pPr>
            <a:r>
              <a:t>Detection+Tracking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1488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YOLO11检测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ByteTrack跟踪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05072" y="219456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164592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Microsoft YaHei"/>
              </a:defRPr>
            </a:pPr>
            <a:r>
              <a:t>Homography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488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遥测→H矩阵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Nadir/Oblique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5312" y="219456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164592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Microsoft YaHei"/>
              </a:defRPr>
            </a:pPr>
            <a:r>
              <a:t>MotionComp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GPS锚定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速度补偿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45552" y="219456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0" y="164592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TrackerInfo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道路分配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轨迹累积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765792" y="219456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66960" y="164592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8BFD"/>
                </a:solidFill>
                <a:latin typeface="Microsoft YaHei"/>
              </a:defRPr>
            </a:pPr>
            <a:r>
              <a:t>SpeedEst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1488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透视变换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车速km/h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02336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14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DirectionFlow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5262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方向分类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46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排队检测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084832" y="457200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286000" y="402336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4114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LaneAnalysis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5262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车道级统计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846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数据驱动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005072" y="457200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206240" y="402336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4114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5F7"/>
                </a:solidFill>
                <a:latin typeface="Microsoft YaHei"/>
              </a:defRPr>
            </a:pPr>
            <a:r>
              <a:t>Trajectory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5262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轨迹还原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4846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转向分类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925312" y="457200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26480" y="402336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114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ConflictDet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5262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TTC检测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846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机非冲突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845552" y="457200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46720" y="402336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0" y="4114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CalcStats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5262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统计聚合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4846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指标计算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765792" y="4572000"/>
            <a:ext cx="201168" cy="182880"/>
          </a:xfrm>
          <a:prstGeom prst="right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966960" y="4023360"/>
            <a:ext cx="16916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0" y="4114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8BFD"/>
                </a:solidFill>
                <a:latin typeface="Microsoft YaHei"/>
              </a:defRPr>
            </a:pPr>
            <a:r>
              <a:t>KafkaProd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45262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多Topic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846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消息发布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11247120" y="3063240"/>
            <a:ext cx="274320" cy="411480"/>
          </a:xfrm>
          <a:prstGeom prst="downArrow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48640" y="5760720"/>
            <a:ext cx="11064240" cy="73152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三进程并行架构：Process1(采集+GPU推理) | Process2(CPU计算链+Kafka) | Process3(渲染+IO)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队列maxsize=50，进程健康检查：is_alive() + Queue.get(timeout=10)，异常自动退出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目标检测与多目标跟踪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YOLO11 (自训练UAV模型) + ByteTrack (双阈值关联)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7/20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365760" cy="508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YOLO11 目标检测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模型：uav_best.pt — 自训练无人机视角模型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检测类别：COCO 2-9（car/bus/truck/motorcycle等）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推理分辨率：imgsz=1280（俯视角小目标优化）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置信度阈值：0.10（低阈值 → 更多候选供二轮关联）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NMS IoU阈值：0.7（允许密集场景重叠框通过）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推理速度：~15ms/帧 @ GPU（RTX 3060+）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36576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ByteTrack 多目标跟踪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核心：利用低置信度框进行第二轮关联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第一轮：高分框(&gt;0.5)与轨迹池IOU匹配(lapjv)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第二轮：低分框(&gt;0.1)与未匹配轨迹再次关联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卡尔曼滤波：8维状态空间[cx,cy,ar,h,vx,vy,va,vh]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track_buffer=250帧（容忍无人机抖动目标丢失）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纯IOU匹配，无外观特征提取，推理更快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303520" cy="22860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14800"/>
            <a:ext cx="36576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车辆分类策略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基于YOLO原始类别ID的Motor/Non-Motor二分法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Motor类：{car(2), bus(5), truck(7), motorcycle(3)}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Non-Motor类：{person(0), bicycle(1)}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ByteTrack内部统一标记为class_id=2（不影响IOU匹配）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原始YOLO类别保存在tracked_cls_ids供下游使用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23360"/>
            <a:ext cx="5303520" cy="22860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4114800"/>
            <a:ext cx="36576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无人机场景优化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针对俯视角的特殊处理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检测分辨率提升至1280（vs固定摄像头640）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track_buffer从125增至250（容忍抖动丢失）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置信度阈值从0.10调至0.18（减小俯视角误检）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三轴云台机械防抖 + EIS软件补偿双层稳定</a:t>
            </a:r>
          </a:p>
          <a:p>
            <a:pPr>
              <a:spcAft>
                <a:spcPts val="330"/>
              </a:spcAft>
              <a:defRPr sz="1100" b="0">
                <a:solidFill>
                  <a:srgbClr val="00D4AA"/>
                </a:solidFill>
                <a:latin typeface="Microsoft YaHei"/>
              </a:defRPr>
            </a:pPr>
            <a:r>
              <a:t>• 运动补偿：减去无人机速度矢量→真实地面速度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无人机运动补偿技术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GPS锚定世界坐标系 + 帧间遥测速度积分 + 悬停自动跳过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8/20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731520"/>
          </a:xfrm>
          <a:prstGeom prst="roundRect">
            <a:avLst/>
          </a:prstGeom>
          <a:solidFill>
            <a:srgbClr val="2E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核心问题：无人机巡飞速度可达12m/s (43km/h)，不减去自身速度将导致车速估计误差±43km/h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云台偏航旋转污染像素空间方向分类 | GPS提供绝对参考，帧间速度积分平滑GPS噪声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383280" cy="2560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Microsoft YaHei"/>
              </a:defRPr>
            </a:pPr>
            <a:r>
              <a:t>Step 1: GPS锚定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首10帧GPS均值 → 世界锚点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ENU坐标系（东北天，米）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lat/lon → 米级偏移量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RTK固定解精度 &lt; 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468880"/>
            <a:ext cx="3383280" cy="2560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8BFD"/>
                </a:solidFill>
                <a:latin typeface="Microsoft YaHei"/>
              </a:defRPr>
            </a:pPr>
            <a:r>
              <a:t>Step 2: 帧间补偿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遥测速度矢量投影到地面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drone_displacement_m增量累计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drone_velocity_ms实时注入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SpeedNode减去无人机速度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468880"/>
            <a:ext cx="3383280" cy="2560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Step 3: 悬停检测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horizontal_speed &lt; 0.5m/s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自动跳过运动补偿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is_hovering标记输出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Gimbal yaw delta校正方向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11064240" cy="109728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关键公式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v_vehicle = v_pixel×GSD×fps − v_drone      GSD = altitude_agl × sensor_width / (focal_length × image_width)  [m/px]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世界坐标：easting_m = (lon − anchor_lon) × 111320 × cos(anchor_lat)     northing_m = (lat − anchor_lat) × 111320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遥测驱动自动标定系统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像素→世界坐标映射：Nadir/Oblique双模式自动切换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9/20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7432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Nadir模式  |gimbal_pitch| &gt; 80°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简化2D相似变换，计算快、精度高</a:t>
            </a:r>
          </a:p>
          <a:p>
            <a:pPr>
              <a:spcAft>
                <a:spcPts val="359"/>
              </a:spcAft>
              <a:defRPr sz="1200" b="0">
                <a:solidFill>
                  <a:srgbClr val="00D4AA"/>
                </a:solidFill>
                <a:latin typeface="Microsoft YaHei"/>
              </a:defRPr>
            </a:pPr>
            <a:r>
              <a:t>GSD = AGL × sensor_width / (focal × img_width)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H = T(ground_offset) × R(yaw) × S(GSD)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适用：云台正下方(-90°)，悬停拍摄常用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精度：GSD误差&lt;2%（AGL稳定±0.3m时）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实际数据：小清河 AGL=163.4m, GSD≈0.05m/px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27432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Microsoft YaHei"/>
              </a:defRPr>
            </a:pPr>
            <a:r>
              <a:t>Oblique模式  |gimbal_pitch| ≤ 80°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完整透视变换，处理斜视畸变</a:t>
            </a:r>
          </a:p>
          <a:p>
            <a:pPr>
              <a:spcAft>
                <a:spcPts val="359"/>
              </a:spcAft>
              <a:defRPr sz="1200" b="0">
                <a:solidFill>
                  <a:srgbClr val="388BFD"/>
                </a:solidFill>
                <a:latin typeface="Microsoft YaHei"/>
              </a:defRPr>
            </a:pPr>
            <a:r>
              <a:t>R = Rz(yaw) × Ry(pitch) × Rx(roll)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P = K × [R|t] → H = P[:2,:]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适用：巡飞时云台非正下方角度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需相机内参：焦距+传感器尺寸（一次性配置）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变焦补偿：effective_fl = focal / zoom_factor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1064240" cy="201168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遥测数据源（统一接口）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0"/>
            <a:ext cx="3200400" cy="118872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Microsoft YaHei"/>
              </a:defRPr>
            </a:pPr>
            <a:r>
              <a:t>MQTT 实时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DJI Cloud API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生产环境直播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5029200"/>
            <a:ext cx="3200400" cy="118872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8BFD"/>
                </a:solidFill>
                <a:latin typeface="Microsoft YaHei"/>
              </a:defRPr>
            </a:pPr>
            <a:r>
              <a:t>SRT 字幕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DJI视频字幕(.srt)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离线逐帧精确回放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5029200"/>
            <a:ext cx="3200400" cy="118872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39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JSON 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39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遥测导出文件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39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历史数据分析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遥测数据源 — 统一 get_nearest(timestamp) → dict 接口，VideoReader透明切换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检测指标 — 方向流量与车道级分析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零标注方向分类 + 数据驱动车道增强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10/20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846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Microsoft YaHei"/>
              </a:defRPr>
            </a:pPr>
            <a:r>
              <a:t>DirectionFlowNode — 始终运行（零标注）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方向分类算法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计算轨迹前半段(entry)和后半段(exit)的运动方向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delta = exit_heading − entry_heading（归一化到±180°）</a:t>
            </a:r>
          </a:p>
          <a:p>
            <a:pPr>
              <a:spcAft>
                <a:spcPts val="359"/>
              </a:spcAft>
              <a:defRPr sz="1200" b="0">
                <a:solidFill>
                  <a:srgbClr val="00D4AA"/>
                </a:solidFill>
                <a:latin typeface="Microsoft YaHei"/>
              </a:defRPr>
            </a:pPr>
            <a:r>
              <a:t>• |delta| ≤ 25° → 直行   |delta| ≥ 120° → 掉头</a:t>
            </a:r>
          </a:p>
          <a:p>
            <a:pPr>
              <a:spcAft>
                <a:spcPts val="359"/>
              </a:spcAft>
              <a:defRPr sz="1200" b="0">
                <a:solidFill>
                  <a:srgbClr val="00D4AA"/>
                </a:solidFill>
                <a:latin typeface="Microsoft YaHei"/>
              </a:defRPr>
            </a:pPr>
            <a:r>
              <a:t>• delta &gt; 0 → 左转       delta &lt; 0 → 右转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输出指标（每秒更新）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direction_flow: {straight, left_turn, right_turn, u_turn}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queue_count: 排队车辆数（speed &lt; 5km/h）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avg_speed_by_direction: 各方向平均车速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headway_sec: 同方向连续车辆的车头时距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7A8AA0"/>
                </a:solidFill>
                <a:latin typeface="Microsoft YaHei"/>
              </a:defRPr>
            </a:pPr>
            <a:r>
              <a:t>约束：轨迹需存活≥2秒（~6帧）方可分类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84632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8BFD"/>
                </a:solidFill>
                <a:latin typeface="Microsoft YaHei"/>
              </a:defRPr>
            </a:pPr>
            <a:r>
              <a:t>LaneAnalysisNode — 数据驱动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自动启用逻辑（无需配置开关）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lane_polygons 为空？ → 自动跳过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非空 + 命中？ → 输出车道级指标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非空 + 未命中？ → 仅保留方向流量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车道级输出指标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车道级流量：各车道多边形内车辆计数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车道级车速：各车道平均/最大车速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排队长度：速度&lt;5km/h车辆到停车线距离(m)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车头时距：同车道连续车辆通过时间差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7A8AA0"/>
                </a:solidFill>
                <a:latin typeface="Microsoft YaHei"/>
              </a:defRPr>
            </a:pPr>
            <a:r>
              <a:t>分配算法：Shapely point-in-polygon (bbox中心点)</a:t>
            </a:r>
          </a:p>
          <a:p>
            <a:pPr>
              <a:spcAft>
                <a:spcPts val="330"/>
              </a:spcAft>
              <a:defRPr sz="1100" b="0">
                <a:solidFill>
                  <a:srgbClr val="7A8AA0"/>
                </a:solidFill>
                <a:latin typeface="Microsoft YaHei"/>
              </a:defRPr>
            </a:pPr>
            <a:r>
              <a:t>排队分段：相邻排队车辆间距&gt;8m视为不同队列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检测指标 — 车速估计与轨迹还原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透视变换+帧间位移 → km/h  |  世界坐标轨迹+转向分类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11/20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36576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SpeedEstimationNode 车速估计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算法流程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1. bbox中心点 → 单应性矩阵H → 世界坐标(米)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2. 最近15帧的位移向量 / dt → 瞬时速度</a:t>
            </a:r>
          </a:p>
          <a:p>
            <a:pPr>
              <a:spcAft>
                <a:spcPts val="359"/>
              </a:spcAft>
              <a:defRPr sz="1200" b="0">
                <a:solidFill>
                  <a:srgbClr val="00D4AA"/>
                </a:solidFill>
                <a:latin typeface="Microsoft YaHei"/>
              </a:defRPr>
            </a:pPr>
            <a:r>
              <a:t>3. 减去无人机速度矢量 → 真实地面速度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4. EMA平滑(窗口=5) → 消除bbox抖动噪声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5. 记录max_speed_kmh用于超速检测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365760" cy="508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TrajectoryNode 轨迹还原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轨迹构建与输出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每帧追加bbox中心到track.trajectory_points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轨迹完成时发射：像素轨迹+世界坐标轨迹</a:t>
            </a:r>
          </a:p>
          <a:p>
            <a:pPr>
              <a:spcAft>
                <a:spcPts val="359"/>
              </a:spcAft>
              <a:defRPr sz="1200" b="0">
                <a:solidFill>
                  <a:srgbClr val="388BFD"/>
                </a:solidFill>
                <a:latin typeface="Microsoft YaHei"/>
              </a:defRPr>
            </a:pPr>
            <a:r>
              <a:t>• 转向分类：entry→exit向量夹角（含掉头检测）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独立Kafka topic: track_complete_{n}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含entry/exit_point_m世界坐标（米级精度）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303520" cy="22860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14800"/>
            <a:ext cx="36576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ConflictDetectionNode 机非冲突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TTC (Time-To-Collision) 模型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仅Motor vs Non-Motor配对检测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距离计算：pixel_to_world → 米级欧式距离</a:t>
            </a:r>
          </a:p>
          <a:p>
            <a:pPr>
              <a:spcAft>
                <a:spcPts val="359"/>
              </a:spcAft>
              <a:defRPr sz="1200" b="0">
                <a:solidFill>
                  <a:srgbClr val="FF6B35"/>
                </a:solidFill>
                <a:latin typeface="Microsoft YaHei"/>
              </a:defRPr>
            </a:pPr>
            <a:r>
              <a:t>• TTC = distance_m / speed_ms（接近速度）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配对冷却5秒，避免重复告警</a:t>
            </a:r>
          </a:p>
          <a:p>
            <a:pPr>
              <a:spcAft>
                <a:spcPts val="359"/>
              </a:spcAft>
              <a:defRPr sz="1200" b="0">
                <a:solidFill>
                  <a:srgbClr val="B0BCD0"/>
                </a:solidFill>
                <a:latin typeface="Microsoft YaHei"/>
              </a:defRPr>
            </a:pPr>
            <a:r>
              <a:t>• 无标定时自动跳过（避免误报）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23360"/>
            <a:ext cx="5303520" cy="22860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冲突严重度分级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级别       TTC阈值     距离阈值    告警等级</a:t>
            </a:r>
          </a:p>
          <a:p>
            <a:pPr>
              <a:spcAft>
                <a:spcPts val="359"/>
              </a:spcAft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Critical    &lt; 1.0s       &lt; 1.5m        P1 — 即时推送</a:t>
            </a:r>
          </a:p>
          <a:p>
            <a:pPr>
              <a:spcAft>
                <a:spcPts val="359"/>
              </a:spcAft>
              <a:defRPr sz="1200" b="0">
                <a:solidFill>
                  <a:srgbClr val="FBBF24"/>
                </a:solidFill>
                <a:latin typeface="Microsoft YaHei"/>
              </a:defRPr>
            </a:pPr>
            <a:r>
              <a:t>Warning    &lt; 2.0s       &lt; 3.0m        P2 — 高优先级</a:t>
            </a:r>
          </a:p>
          <a:p>
            <a:pPr>
              <a:spcAft>
                <a:spcPts val="359"/>
              </a:spcAft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Info           &lt; 3.0s       &lt; 5.0m        P3 — 记录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输出字段：motor_id, non_motor_id, distance_m,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ttc_sec, severity, motor_speed_kmh, position_m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世界锚点：world_anchor_lat_lon（可GPS还原）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数据流架构 — 消息总线与时序存储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Kafka 3-Topic模型 → Telegraf → InfluxDB → Grafana/Platform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12/20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3566160" cy="384048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statistics_{n}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频率: 每秒1次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cars: 车辆总数（滑动窗口均值）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road_1~5: 各道路活跃度(辆/min)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direction_flow: 方向流量统计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avg_speed_kmh: 整体平均车速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queue_count: 排队车辆数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lane_stats: 车道级统计(可选)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drone_position: 无人机位置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is_hovering: 是否悬停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3566160" cy="384048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BFD"/>
                </a:solidFill>
                <a:latin typeface="Microsoft YaHei"/>
              </a:defRPr>
            </a:pPr>
            <a:r>
              <a:t>track_complete_{n}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1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频率: 轨迹完成时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945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track_id: 轨迹ID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start_road / exit_road: 进出口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turn_behavior: 转向分类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vehicle_class: motor/non_motor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duration_sec: 轨迹持续时间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avg/max_speed_kmh: 车速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trajectory_px: 像素轨迹序列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trajectory_world_m: 世界坐标轨迹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566160" cy="384048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conflicts_{n}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1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频率: 事件触发时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1945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motor_id / non_motor_id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distance_m: 米级距离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ttc_sec: 碰撞时间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severity: critical/warning/info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motor_speed_kmh: 机动车速度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position_m: 世界坐标位置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world_anchor_lat_lon: GPS锚点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11064240" cy="100584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数据路径</a:t>
            </a:r>
          </a:p>
          <a:p>
            <a:pPr>
              <a:spcAft>
                <a:spcPts val="330"/>
              </a:spcAft>
              <a:defRPr sz="1100" b="0">
                <a:solidFill>
                  <a:srgbClr val="00D4AA"/>
                </a:solidFill>
                <a:latin typeface="Microsoft YaHei"/>
              </a:defRPr>
            </a:pPr>
            <a:r>
              <a:t>Pipeline → Kafka(3 topics/camera) → Telegraf(json flat) → InfluxDB(measurement: camera_{N}) → Grafana</a:t>
            </a:r>
          </a:p>
          <a:p>
            <a:pPr>
              <a:spcAft>
                <a:spcPts val="330"/>
              </a:spcAft>
              <a:defRPr sz="1100" b="0">
                <a:solidFill>
                  <a:srgbClr val="388BFD"/>
                </a:solidFill>
                <a:latin typeface="Microsoft YaHei"/>
              </a:defRPr>
            </a:pPr>
            <a:r>
              <a:t>Platform Consumer(aiokafka) → WebSocket(intersection:{id}) + AlertEngine + InfluxDB(track_events)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平台Web服务 — API与集成接口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FastAPI单体架构 | 43条路由 | JWT认证 | WebSocket实时推送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13/20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27432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管道管理 /pipelines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POST   / — 启动管道(子进程)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   / — 列出所有管道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   /{id}/status — 健康检查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DELETE /{id} — 停止(SIGTERM→SIGKILL)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743200" cy="27432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BFD"/>
                </a:solidFill>
                <a:latin typeface="Microsoft YaHei"/>
              </a:defRPr>
            </a:pPr>
            <a:r>
              <a:t>路口管理 /intersections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 — 列出所有路口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/summary — 系统级概览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/{id}/stats — 历史统计(InfluxDB)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/{id}/lane-stats — 车道级统计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743200" cy="27432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无人机管理 /drones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 / — 实时状态(drone_store)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 /{id}/trajectory — 飞行轨迹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 /{id}/hover-points — 悬停点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 /telemetry/{id} — 遥测数据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743200" cy="27432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Microsoft YaHei"/>
              </a:defRPr>
            </a:pPr>
            <a:r>
              <a:t>系统监控 /system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0116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/health — 健康检查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/gpu — GPU实时指标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/kafka/topics — Topic状态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GET /models — YOLO模型列表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11064240" cy="201168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Microsoft YaHei"/>
              </a:defRPr>
            </a:pPr>
            <a:r>
              <a:t>WebSocket 实时推送 (WS /ws/{channel})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29200"/>
            <a:ext cx="2468880" cy="109728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Microsoft YaHei"/>
              </a:defRPr>
            </a:pPr>
            <a:r>
              <a:t>intersection:{id}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stats + track_complete + conflict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5029200"/>
            <a:ext cx="2468880" cy="109728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Microsoft YaHei"/>
              </a:defRPr>
            </a:pPr>
            <a:r>
              <a:t>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P1/P2/P3告警推送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029200"/>
            <a:ext cx="2468880" cy="109728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8BFD"/>
                </a:solidFill>
                <a:latin typeface="Microsoft YaHei"/>
              </a:defRPr>
            </a:pPr>
            <a:r>
              <a:t>telemetry:{drone_id}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GPS/高度/云台/速度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5029200"/>
            <a:ext cx="2468880" cy="109728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GPU/管道健康状态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输出数据规格与接口标准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结构化JSON消息 | InfluxDB时序存储 | 标准化坐标体系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14/20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57200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统计消息示例 (statistics_{n})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"camera_id": "id_1",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"cars": 12,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"intersection_id": "INT_camera_1",</a:t>
            </a:r>
          </a:p>
          <a:p>
            <a:pPr>
              <a:spcAft>
                <a:spcPts val="300"/>
              </a:spcAft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"direction_flow": {</a:t>
            </a:r>
          </a:p>
          <a:p>
            <a:pPr>
              <a:spcAft>
                <a:spcPts val="300"/>
              </a:spcAft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"straight": {"count":5, "avg_speed_kmh":28.3,</a:t>
            </a:r>
          </a:p>
          <a:p>
            <a:pPr>
              <a:spcAft>
                <a:spcPts val="300"/>
              </a:spcAft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  "avg_headway_sec":2.1},</a:t>
            </a:r>
          </a:p>
          <a:p>
            <a:pPr>
              <a:spcAft>
                <a:spcPts val="300"/>
              </a:spcAft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"left_turn": {"count":3, "avg_speed_kmh":22.1},</a:t>
            </a:r>
          </a:p>
          <a:p>
            <a:pPr>
              <a:spcAft>
                <a:spcPts val="300"/>
              </a:spcAft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"right_turn": {"count":2, "avg_speed_kmh":25.0}</a:t>
            </a:r>
          </a:p>
          <a:p>
            <a:pPr>
              <a:spcAft>
                <a:spcPts val="300"/>
              </a:spcAft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},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"queue_count": 2,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"avg_speed_kmh": 26.5,</a:t>
            </a:r>
          </a:p>
          <a:p>
            <a:pPr>
              <a:spcAft>
                <a:spcPts val="300"/>
              </a:spcAft>
              <a:defRPr sz="1000" b="0">
                <a:solidFill>
                  <a:srgbClr val="388BFD"/>
                </a:solidFill>
                <a:latin typeface="Microsoft YaHei"/>
              </a:defRPr>
            </a:pPr>
            <a:r>
              <a:t>  "lane_stats": {"L1_1": {"count":3,...}},</a:t>
            </a:r>
          </a:p>
          <a:p>
            <a:pPr>
              <a:spcAft>
                <a:spcPts val="300"/>
              </a:spcAft>
              <a:defRPr sz="1000" b="0">
                <a:solidFill>
                  <a:srgbClr val="FF6B35"/>
                </a:solidFill>
                <a:latin typeface="Microsoft YaHei"/>
              </a:defRPr>
            </a:pPr>
            <a:r>
              <a:t>  "drone_position": {</a:t>
            </a:r>
          </a:p>
          <a:p>
            <a:pPr>
              <a:spcAft>
                <a:spcPts val="300"/>
              </a:spcAft>
              <a:defRPr sz="1000" b="0">
                <a:solidFill>
                  <a:srgbClr val="FF6B35"/>
                </a:solidFill>
                <a:latin typeface="Microsoft YaHei"/>
              </a:defRPr>
            </a:pPr>
            <a:r>
              <a:t>    "anchor_lat":31.23, "easting_m":15.3},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"is_hovering": false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210312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BFD"/>
                </a:solidFill>
                <a:latin typeface="Microsoft YaHei"/>
              </a:defRPr>
            </a:pPr>
            <a:r>
              <a:t>坐标体系标准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世界坐标：东北天(ENU)坐标系，单位：米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原点：世界锚点GPS位置（首10帧均值）</a:t>
            </a:r>
          </a:p>
          <a:p>
            <a:pPr>
              <a:spcAft>
                <a:spcPts val="330"/>
              </a:spcAft>
              <a:defRPr sz="1100" b="0">
                <a:solidFill>
                  <a:srgbClr val="00D4AA"/>
                </a:solidFill>
                <a:latin typeface="Microsoft YaHei"/>
              </a:defRPr>
            </a:pPr>
            <a:r>
              <a:t>easting_m (+X) = 东向偏移</a:t>
            </a:r>
          </a:p>
          <a:p>
            <a:pPr>
              <a:spcAft>
                <a:spcPts val="330"/>
              </a:spcAft>
              <a:defRPr sz="1100" b="0">
                <a:solidFill>
                  <a:srgbClr val="00D4AA"/>
                </a:solidFill>
                <a:latin typeface="Microsoft YaHei"/>
              </a:defRPr>
            </a:pPr>
            <a:r>
              <a:t>northing_m (+Y) = 北向偏移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GPS还原：lat = anchor + northing / 111320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lon = anchor + easting / (111320×cos(lat))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749039"/>
            <a:ext cx="5303520" cy="228600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InfluxDB 存储结构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Measurement: camera_{N} (时序统计)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fields: cars, road_1~5, avg_speed_kmh,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direction_flow_*, queue_count, conflict_count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Measurement: track_events (完成轨迹)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tags: intersection_id, turn_behavior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fields: track_id, duration, speed, trajectory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Measurement: conflict_events (冲突事件)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tags: severity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  fields: ttc_sec, distance_m, motor_speed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精度与可靠性指标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端到端测试验证 | 49项自动化测试用例 | 真实飞行数据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15/20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Microsoft YaHei"/>
              </a:defRPr>
            </a:pPr>
            <a:r>
              <a:t>35+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处理帧率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GPU RTX3060+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6060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00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8BFD"/>
                </a:solidFill>
                <a:latin typeface="Microsoft YaHei"/>
              </a:defRPr>
            </a:pPr>
            <a:r>
              <a:t>49/49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E2E测试通过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inter_xqh视频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463040"/>
            <a:ext cx="26060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600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Microsoft YaHei"/>
              </a:defRPr>
            </a:pPr>
            <a:r>
              <a:t>&lt;5%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057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BEV误判率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vs 像素域&gt;15%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463040"/>
            <a:ext cx="2606040" cy="1371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600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  <a:latin typeface="Microsoft YaHei"/>
              </a:defRPr>
            </a:pPr>
            <a:r>
              <a:t>±2m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057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GPS定位精度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RTK固定解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108960"/>
            <a:ext cx="11064240" cy="320040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各模块精度与可靠性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A8AA0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A8AA0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611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A8AA0"/>
                </a:solidFill>
                <a:latin typeface="Microsoft YaHei"/>
              </a:defRPr>
            </a:pPr>
            <a:r>
              <a:t>算法方法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611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A8AA0"/>
                </a:solidFill>
                <a:latin typeface="Microsoft YaHei"/>
              </a:defRPr>
            </a:pPr>
            <a:r>
              <a:t>可靠性保障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Microsoft YaHei"/>
              </a:defRPr>
            </a:pPr>
            <a:r>
              <a:t>检测模块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YOLO11 mAP@0.5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自训练UAV模型，俯视角优化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conf=0.10低阈值+ByteTrack二轮关联恢复漏检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297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BFD"/>
                </a:solidFill>
                <a:latin typeface="Microsoft YaHei"/>
              </a:defRPr>
            </a:pPr>
            <a:r>
              <a:t>跟踪模块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ByteTrack IDF1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297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双阈值关联，密集场景鲁棒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297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track_buffer=250帧容忍抖动丢失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Microsoft YaHei"/>
              </a:defRPr>
            </a:pPr>
            <a:r>
              <a:t>车速估计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±3km/h (EMA后)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15帧位移+单应性变换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减去无人机速度矢量，EMA窗口=5平滑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02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方向分类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&gt;85% 准确率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轨迹首尾向量夹角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需轨迹≥2秒，短轨迹归入unknown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标定系统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5394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GSD误差&lt;2%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遥测驱动自动H矩阵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AGL稳定±0.3m，三级查表+插值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760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冲突检测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5760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TTC精度±0.3s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760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世界坐标米级距离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5760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配对冷却5s避免重复，无标定时自动跳过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典型落地场景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从POC验证到规模化部署的应用路径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16/20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402336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路口信号配时优化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AA0"/>
                </a:solidFill>
                <a:latin typeface="Microsoft YaHei"/>
              </a:defRPr>
            </a:pPr>
            <a:r>
              <a:t>目标用户: 交警/交规院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悬停模式采集路口全要素数据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各进口道转向流量精确统计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排队长度+车头时距→配时参数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信号周期效率评估与优化建议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743200" cy="402336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交通事故快速响应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20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AA0"/>
                </a:solidFill>
                <a:latin typeface="Microsoft YaHei"/>
              </a:defRPr>
            </a:pPr>
            <a:r>
              <a:t>目标用户: 交警/应急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巡飞模式路段全覆盖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TTC模型实时检测冲突事件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P1告警&lt;30s推送到指挥中心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事故现场自动标注+轨迹回溯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2743200" cy="402336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BFD"/>
                </a:solidFill>
                <a:latin typeface="Microsoft YaHei"/>
              </a:defRPr>
            </a:pPr>
            <a:r>
              <a:t>大型活动交通保障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20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AA0"/>
                </a:solidFill>
                <a:latin typeface="Microsoft YaHei"/>
              </a:defRPr>
            </a:pPr>
            <a:r>
              <a:t>目标用户: 大型活动安保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多机协同覆盖活动周边路网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实时流量热力图→分流决策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VLM语义旁路生成态势简报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事后自动生成分析报告(PDF)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463040"/>
            <a:ext cx="2743200" cy="402336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城市交通规划评估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1920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AA0"/>
                </a:solidFill>
                <a:latin typeface="Microsoft YaHei"/>
              </a:defRPr>
            </a:pPr>
            <a:r>
              <a:t>目标用户: 规划局/设计院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多时段多路口数据采集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轨迹还原→OD矩阵估计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InfluxDB时序数据长期趋势分析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Grafana可视化支撑规划决策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69280"/>
            <a:ext cx="11064240" cy="822960"/>
          </a:xfrm>
          <a:prstGeom prst="roundRect">
            <a:avLst/>
          </a:prstGeom>
          <a:solidFill>
            <a:srgbClr val="1625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已验证飞行数据</a:t>
            </a:r>
          </a:p>
          <a:p>
            <a:pPr>
              <a:spcAft>
                <a:spcPts val="330"/>
              </a:spcAft>
              <a:defRPr sz="1100" b="0">
                <a:solidFill>
                  <a:srgbClr val="00D4AA"/>
                </a:solidFill>
                <a:latin typeface="Microsoft YaHei"/>
              </a:defRPr>
            </a:pPr>
            <a:r>
              <a:t>小清河北路×水屯路 — 20min悬停 | AGL 163.4m | RTK固定解 | 云台-90° | 453帧悬停数据 | 已用于端到端49项测试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系统集成方案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Docker Compose一键部署 | 水平扩展 | 标准化接口对接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17/20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10312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36576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部署架构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Docker Compose全栈编排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检测管道容器（GPU）× N（按路口数扩展）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Kafka + Zookeeper（消息总线）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InfluxDB 1.8（时序存储，30天保留策略）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Telegraf（Kafka→InfluxDB桥接）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Grafana（可视化仪表盘，自动provisioning）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Nginx（视频流聚合+API反代）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210312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365760" cy="508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扩展策略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水平扩展：+1路口 = +1容器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新增VIDEO_SRC/ROADS_JSON/TOPIC_NAME环境变量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自动创建Kafka topic（statistics_N+1）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独立Grafana仪表盘（provisioning模板化）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PipelineManager管理子进程生命周期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支持GPU A(YOLO) + GPU B(VLM)双卡方案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3383280" cy="256032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36576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集成对接方式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2926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REST API (43条路由)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标准JSON + JWT认证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388BFD"/>
                </a:solidFill>
                <a:latin typeface="Microsoft YaHei"/>
              </a:defRPr>
            </a:pPr>
            <a:r>
              <a:t>WebSocket (4频道)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实时数据推送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Kafka Consumer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直接消费原始消息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22C55E"/>
                </a:solidFill>
                <a:latin typeface="Microsoft YaHei"/>
              </a:defRPr>
            </a:pPr>
            <a:r>
              <a:t>InfluxDB InfluxQL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时序数据直查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840480"/>
            <a:ext cx="3657600" cy="256032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931920"/>
            <a:ext cx="365760" cy="508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配置管理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3434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Hydra 分层配置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configs/app_config.yaml 主配置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环境变量覆盖(oc.env)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CLI覆盖(pipeline.save=True)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Pydantic Settings (Platform)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环境变量统一管理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Docker compose环境注入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840480"/>
            <a:ext cx="3474720" cy="256032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3931920"/>
            <a:ext cx="36576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3886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运维监控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343400"/>
            <a:ext cx="3017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健康检查端点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/health — 存活检查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/ready — 就绪检查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各依赖状态(degraded/healthy)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进程健康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is_alive() + Queue timeout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5s存活状态后台监控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风险分析与应对策略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技术风险 + 工程风险 + 运营风险 — 全面预案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18/20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3566160" cy="237744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GPS信号丢失/漂移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F4444"/>
                </a:solidFill>
                <a:latin typeface="Microsoft YaHei"/>
              </a:defRPr>
            </a:pPr>
            <a:r>
              <a:t>风险:高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保持上次位移增量（非绝对准确）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首10帧GPS锚点初始化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RTK固定解质量监控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→ 降级为像素空间分析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463040"/>
            <a:ext cx="3566160" cy="237744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无人机抖动超限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  <a:latin typeface="Microsoft YaHei"/>
              </a:defRPr>
            </a:pPr>
            <a:r>
              <a:t>风险:中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202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三轴云台硬件防抖为主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EIS软件层ORB特征匹配补偿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track_buffer=250帧容忍丢失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→ 选风速&lt;6m/s窗口期飞行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566160" cy="237744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GPU算力瓶颈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  <a:latin typeface="Microsoft YaHei"/>
              </a:defRPr>
            </a:pPr>
            <a:r>
              <a:t>风险:中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9202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VLM旁路独立GPU（双卡方案）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旁路崩溃不影响主链路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单卡降级：VLM降频至120帧/次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→ 边缘计算+云端VLM混合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14800"/>
            <a:ext cx="3566160" cy="237744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标定参数失效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06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  <a:latin typeface="Microsoft YaHei"/>
              </a:defRPr>
            </a:pPr>
            <a:r>
              <a:t>风险:中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三级查表（精确→插值→告警）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俯仰/高度/匹配率三指标监控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自动重标定+回退航点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43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→ calib_quality标记降级数据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114800"/>
            <a:ext cx="3566160" cy="237744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模型泛化不足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206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C55E"/>
                </a:solidFill>
                <a:latin typeface="Microsoft YaHei"/>
              </a:defRPr>
            </a:pPr>
            <a:r>
              <a:t>风险:低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自训练UAV视角模型(uav_best.pt)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行人/自行车类别待微调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在线学习框架预留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943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→ 分场景模型库管理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114800"/>
            <a:ext cx="3566160" cy="237744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网络传输中断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206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C55E"/>
                </a:solidFill>
                <a:latin typeface="Microsoft YaHei"/>
              </a:defRPr>
            </a:pPr>
            <a:r>
              <a:t>风险:低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Kafka消息持久化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RTSP断线自动重连</a:t>
            </a:r>
          </a:p>
          <a:p>
            <a:pPr>
              <a:spcAft>
                <a:spcPts val="300"/>
              </a:spcAft>
              <a:defRPr sz="1000" b="0">
                <a:solidFill>
                  <a:srgbClr val="B0BCD0"/>
                </a:solidFill>
                <a:latin typeface="Microsoft YaHei"/>
              </a:defRPr>
            </a:pPr>
            <a:r>
              <a:t>• 本地缓存+补传机制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943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→ 4G/5G双链路冗余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合作推进路径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Microsoft YaHei"/>
              </a:defRPr>
            </a:pPr>
            <a:r>
              <a:t>三期交付路线 — 从POC验证到规模化部署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AA0"/>
                </a:solidFill>
                <a:latin typeface="Microsoft YaHei"/>
              </a:defRPr>
            </a:pPr>
            <a:r>
              <a:t>19/20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3566160" cy="3657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Phase 1: POC验证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AA0"/>
                </a:solidFill>
                <a:latin typeface="Microsoft YaHei"/>
              </a:defRPr>
            </a:pPr>
            <a:r>
              <a:t>W1-W4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M1: 单路口端到端联调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小清河路口标定+IPM透视变换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YOLO11检测+ByteTrack跟踪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Grafana实时大屏4面板</a:t>
            </a:r>
          </a:p>
          <a:p>
            <a:pPr>
              <a:spcAft>
                <a:spcPts val="330"/>
              </a:spcAft>
              <a:defRPr sz="1100" b="0">
                <a:solidFill>
                  <a:srgbClr val="00D4AA"/>
                </a:solidFill>
                <a:latin typeface="Microsoft YaHei"/>
              </a:defRPr>
            </a:pPr>
            <a:r>
              <a:t>• 标注工具Web UI(5分钟新路口接入)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Kafka 3-Topic数据流验证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3566160" cy="3657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Microsoft YaHei"/>
              </a:defRPr>
            </a:pPr>
            <a:r>
              <a:t>Phase 2: 功能完善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AA0"/>
                </a:solidFill>
                <a:latin typeface="Microsoft YaHei"/>
              </a:defRPr>
            </a:pPr>
            <a:r>
              <a:t>W5-W8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402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M2: 全要素感知+告警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VLM语义旁路(Qwen-VL 7B)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告警规则引擎+Webhook推送(&lt;30s)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热成像双通道融合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早高峰自动分析报告(PDF)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冲突检测模型微调(person+bicycle)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566160" cy="3657600"/>
          </a:xfrm>
          <a:prstGeom prst="roundRect">
            <a:avLst/>
          </a:prstGeom>
          <a:solidFill>
            <a:srgbClr val="111E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Phase 3: 规模部署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AA0"/>
                </a:solidFill>
                <a:latin typeface="Microsoft YaHei"/>
              </a:defRPr>
            </a:pPr>
            <a:r>
              <a:t>W9-W12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402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M3: 多机多路口协同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GIS多路口一张图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飞行轨迹回放面板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EIS画面稳定+强风场景优化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精度基准离线评估(mAP/误判率)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• 25分钟CTO演示无卡顿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62540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依赖关系与关键路径</a:t>
            </a:r>
          </a:p>
          <a:p>
            <a:pPr>
              <a:spcAft>
                <a:spcPts val="330"/>
              </a:spcAft>
              <a:defRPr sz="1100" b="0">
                <a:solidFill>
                  <a:srgbClr val="00D4AA"/>
                </a:solidFill>
                <a:latin typeface="Microsoft YaHei"/>
              </a:defRPr>
            </a:pPr>
            <a:r>
              <a:t>P1(标定) → P2(检测) → P3(方向流量) → P4(轨迹) → P5(遥测) → P6(冲突，依赖模型微调) → P7(清理集成)</a:t>
            </a:r>
          </a:p>
          <a:p>
            <a:pPr>
              <a:spcAft>
                <a:spcPts val="330"/>
              </a:spcAft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VLM旁路(W5-7) 与 EIS+联调(W4-5) 可并行    |    冲突检测(Phase 6) 依赖 YOLO模型微调(person+bicycle)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F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73152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0"/>
                </a:solidFill>
                <a:latin typeface="Microsoft YaHei"/>
              </a:defRPr>
            </a:pPr>
            <a:r>
              <a:t>期待与您共同推进无人机交通态势感知的落地应用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144000" cy="12700"/>
          </a:xfrm>
          <a:prstGeom prst="rect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双模式覆盖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巡飞路段级 + 悬停路口级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全要素感知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流量/车速/排队/转向/轨迹/冲突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即插即用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Docker一键部署，Kafka标准接口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已验证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Microsoft YaHei"/>
              </a:defRPr>
            </a:pPr>
            <a:r>
              <a:t>49项E2E测试通过，真实飞行数据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8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A0"/>
                </a:solidFill>
                <a:latin typeface="Microsoft YaHei"/>
              </a:defRPr>
            </a:pPr>
            <a:r>
              <a:t>UAV-Based Urban Traffic Situation Awareness  | 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